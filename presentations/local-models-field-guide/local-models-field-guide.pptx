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LOCAL MODELS · A 201 FIELD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9ECF1"/>
                </a:solidFill>
                <a:latin typeface="Calibri"/>
              </a:rPr>
              <a:t>Beyond the Data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8A2B2"/>
                </a:solidFill>
                <a:latin typeface="Calibri"/>
              </a:rPr>
              <a:t>When your own private API becomes an edge, and how to actually run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A7383"/>
                </a:solidFill>
                <a:latin typeface="Calibri"/>
              </a:rPr>
              <a:t>Peter Haubrich / Founder, Wayfinder Collective / 30-min talk +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01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580556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A8F"/>
                </a:solidFill>
                <a:latin typeface="Consolas"/>
              </a:rPr>
              <a:t>—  WHO'S TALKING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CF1"/>
                </a:solidFill>
                <a:latin typeface="Calibri"/>
              </a:rPr>
              <a:t>Peter Haubrich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98A2B2"/>
                </a:solidFill>
                <a:latin typeface="Calibri"/>
              </a:rPr>
              <a:t>•  Founder &amp; CEO of Wayfinder Collective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98A2B2"/>
                </a:solidFill>
                <a:latin typeface="Calibri"/>
              </a:rPr>
              <a:t>•  Builds Wayfinder OS, a 500K-line, AI-native platform for coaches and 7-figure high-ticket teams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98A2B2"/>
                </a:solidFill>
                <a:latin typeface="Calibri"/>
              </a:rPr>
              <a:t>•  Runs a multi-node local inference cluster in production, every day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98A2B2"/>
                </a:solidFill>
                <a:latin typeface="Calibri"/>
              </a:rPr>
              <a:t>•  Customer Service / Sales rep to 8 figure CEO of the same company in 3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931920" cy="329184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home_cluster          ● RUNNING</a:t>
            </a:r>
          </a:p>
          <a:p>
            <a:pPr>
              <a:spcBef>
                <a:spcPts val="1000"/>
              </a:spcBef>
            </a:pPr>
            <a:r>
              <a:rPr sz="1100" b="0">
                <a:solidFill>
                  <a:srgbClr val="98A2B2"/>
                </a:solidFill>
                <a:latin typeface="Consolas"/>
              </a:rPr>
              <a:t>mac-studio (M3 Ultra · 256GB)</a:t>
            </a:r>
          </a:p>
          <a:p>
            <a:r>
              <a:rPr sz="1400" b="1">
                <a:solidFill>
                  <a:srgbClr val="F6B21B"/>
                </a:solidFill>
                <a:latin typeface="Consolas"/>
              </a:rPr>
              <a:t>397B</a:t>
            </a:r>
          </a:p>
          <a:p>
            <a:pPr>
              <a:spcBef>
                <a:spcPts val="1000"/>
              </a:spcBef>
            </a:pPr>
            <a:r>
              <a:rPr sz="1100" b="0">
                <a:solidFill>
                  <a:srgbClr val="98A2B2"/>
                </a:solidFill>
                <a:latin typeface="Consolas"/>
              </a:rPr>
              <a:t>gpu-node (RX 7900 XTX · 24GB)</a:t>
            </a:r>
          </a:p>
          <a:p>
            <a:r>
              <a:rPr sz="1400" b="1">
                <a:solidFill>
                  <a:srgbClr val="F6B21B"/>
                </a:solidFill>
                <a:latin typeface="Consolas"/>
              </a:rPr>
              <a:t>27B Q4</a:t>
            </a:r>
          </a:p>
          <a:p>
            <a:pPr>
              <a:spcBef>
                <a:spcPts val="1000"/>
              </a:spcBef>
            </a:pPr>
            <a:r>
              <a:rPr sz="1100" b="0">
                <a:solidFill>
                  <a:srgbClr val="98A2B2"/>
                </a:solidFill>
                <a:latin typeface="Consolas"/>
              </a:rPr>
              <a:t>edge-node (RX 9060 XT · 16GB)</a:t>
            </a:r>
          </a:p>
          <a:p>
            <a:r>
              <a:rPr sz="1400" b="1">
                <a:solidFill>
                  <a:srgbClr val="F6B21B"/>
                </a:solidFill>
                <a:latin typeface="Consolas"/>
              </a:rPr>
              <a:t>WhisperX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03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161113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THE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CF1"/>
                </a:solidFill>
                <a:latin typeface="Calibri"/>
              </a:rPr>
              <a:t>Local currently solves recurring non-instant medium reasoning at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5394960" cy="201168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337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01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When it matters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Finding that line for your business, and what you gain by owning the stack and the data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200400"/>
            <a:ext cx="5394960" cy="201168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337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02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How to run it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The setup, minus the tutorial. Hardware, models, and my real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04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741670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HOW I GOT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CF1"/>
                </a:solidFill>
                <a:latin typeface="Calibri"/>
              </a:rPr>
              <a:t>The $900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657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6B21B"/>
                </a:solidFill>
                <a:latin typeface="Calibri"/>
              </a:rPr>
              <a:t>$4-8K</a:t>
            </a:r>
          </a:p>
          <a:p>
            <a:r>
              <a:rPr sz="1100" b="0">
                <a:solidFill>
                  <a:srgbClr val="98A2B2"/>
                </a:solidFill>
                <a:latin typeface="Consolas"/>
              </a:rPr>
              <a:t>per month · Opus credits on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103120"/>
            <a:ext cx="3657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6B21B"/>
                </a:solidFill>
                <a:latin typeface="Calibri"/>
              </a:rPr>
              <a:t>$900</a:t>
            </a:r>
          </a:p>
          <a:p>
            <a:r>
              <a:rPr sz="1100" b="0">
                <a:solidFill>
                  <a:srgbClr val="98A2B2"/>
                </a:solidFill>
                <a:latin typeface="Consolas"/>
              </a:rPr>
              <a:t>in a single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8A2B2"/>
                </a:solidFill>
                <a:latin typeface="Calibri"/>
              </a:rPr>
              <a:t>I was renting intelligence from someone else's data center and burning through it across two devs. The $900 day was when it stopped being sustainable. I started asking what it would cost to own the compute instead of rent it. That question built the cluster, and a private API that never leaves my metal.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05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2322227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6B21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CF1"/>
                </a:solidFill>
                <a:latin typeface="Calibri"/>
              </a:rPr>
              <a:t>When local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8A2B2"/>
                </a:solidFill>
                <a:latin typeface="Calibri"/>
              </a:rPr>
              <a:t>The default is the data center. That's fine, until it isn't.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06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2902784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A8F"/>
                </a:solidFill>
                <a:latin typeface="Consolas"/>
              </a:rPr>
              <a:t>—  START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9ECF1"/>
                </a:solidFill>
                <a:latin typeface="Calibri"/>
              </a:rPr>
              <a:t>The data center is the right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98A2B2"/>
                </a:solidFill>
                <a:latin typeface="Calibri"/>
              </a:rPr>
              <a:t>One call, no GPUs, prototype in minutes. For most projects that's correct. Don't build a home lab to dodge a $12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A2210"/>
          </a:solidFill>
          <a:ln>
            <a:solidFill>
              <a:srgbClr val="F6B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THE REAL QUESTION</a:t>
            </a:r>
          </a:p>
          <a:p>
            <a:r>
              <a:rPr sz="1500" b="0">
                <a:solidFill>
                  <a:srgbClr val="E9ECF1"/>
                </a:solidFill>
                <a:latin typeface="Calibri"/>
              </a:rPr>
              <a:t>It isn't local vs. cloud. It's: when does owning your stack, and keeping the data path private, actually start to pay off?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07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3483341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A8F"/>
                </a:solidFill>
                <a:latin typeface="Consolas"/>
              </a:rPr>
              <a:t>—  THE UNCOMFORTABLE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9ECF1"/>
                </a:solidFill>
                <a:latin typeface="Calibri"/>
              </a:rPr>
              <a:t>You don't care about local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40279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01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The small models are narrow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Below ~128GB of memory you get a model that's good at one job, not a generalist. Useful general-purpose local starts around 128GB+.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40279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02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Your tokens are subsidized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Frontier labs price plans to win the market, not earn margin. Huge quota for little cost. Why leave their data center?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A2210"/>
          </a:solidFill>
          <a:ln>
            <a:solidFill>
              <a:srgbClr val="F6B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NOTE</a:t>
            </a:r>
          </a:p>
          <a:p>
            <a:r>
              <a:rPr sz="1500" b="0">
                <a:solidFill>
                  <a:srgbClr val="E9ECF1"/>
                </a:solidFill>
                <a:latin typeface="Calibri"/>
              </a:rPr>
              <a:t>Both of those are temporary. Privacy pressure is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08 / 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WHERE THIS IS HEADED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CF1"/>
                </a:solidFill>
                <a:latin typeface="Calibri"/>
              </a:rPr>
              <a:t>The Uber playbook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3840480" cy="182880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3291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6B7A8F"/>
                </a:solidFill>
                <a:latin typeface="Consolas"/>
              </a:rPr>
              <a:t>THEN</a:t>
            </a:r>
          </a:p>
          <a:p>
            <a:pPr algn="ctr"/>
            <a:r>
              <a:rPr sz="4000" b="1">
                <a:solidFill>
                  <a:srgbClr val="6B7A8F"/>
                </a:solidFill>
                <a:latin typeface="Calibri"/>
              </a:rPr>
              <a:t>$4</a:t>
            </a:r>
          </a:p>
          <a:p>
            <a:pPr algn="ctr"/>
            <a:r>
              <a:rPr sz="1300" b="0">
                <a:solidFill>
                  <a:srgbClr val="98A2B2"/>
                </a:solidFill>
                <a:latin typeface="Calibri"/>
              </a:rPr>
              <a:t>a 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3840480" cy="182880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3291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6B21B"/>
                </a:solidFill>
                <a:latin typeface="Consolas"/>
              </a:rPr>
              <a:t>NOW</a:t>
            </a:r>
          </a:p>
          <a:p>
            <a:pPr algn="ctr"/>
            <a:r>
              <a:rPr sz="4000" b="1">
                <a:solidFill>
                  <a:srgbClr val="F6B21B"/>
                </a:solidFill>
                <a:latin typeface="Calibri"/>
              </a:rPr>
              <a:t>$60</a:t>
            </a:r>
          </a:p>
          <a:p>
            <a:pPr algn="ctr"/>
            <a:r>
              <a:rPr sz="1300" b="0">
                <a:solidFill>
                  <a:srgbClr val="98A2B2"/>
                </a:solidFill>
                <a:latin typeface="Calibri"/>
              </a:rPr>
              <a:t>to the airport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8A2B2"/>
                </a:solidFill>
                <a:latin typeface="Calibri"/>
              </a:rPr>
              <a:t>Subsidize hard to capture the market, then reprice once you depend on it. Cheap tokens are the cheap-Uber era. Post-IPO, the incentive flips from growth to margin.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A2210"/>
          </a:solidFill>
          <a:ln>
            <a:solidFill>
              <a:srgbClr val="F6B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HEDGE</a:t>
            </a:r>
          </a:p>
          <a:p>
            <a:r>
              <a:rPr sz="1500" b="0">
                <a:solidFill>
                  <a:srgbClr val="E9ECF1"/>
                </a:solidFill>
                <a:latin typeface="Calibri"/>
              </a:rPr>
              <a:t>Owning your inference, and your private API, is a hedge against the day the meter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09 / 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4644455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WHEN LOCAL STARTS TO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9ECF1"/>
                </a:solidFill>
                <a:latin typeface="Calibri"/>
              </a:rPr>
              <a:t>Five 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E9ECF1"/>
                </a:solidFill>
                <a:latin typeface="Calibri"/>
              </a:rPr>
              <a:t>01  Cost at volume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8A2B2"/>
                </a:solidFill>
                <a:latin typeface="Calibri"/>
              </a:rPr>
              <a:t>Data-center bills scale with usage. Local is a fixed cost after the hardware.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9ECF1"/>
                </a:solidFill>
                <a:latin typeface="Calibri"/>
              </a:rPr>
              <a:t>02  Data you can't send out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8A2B2"/>
                </a:solidFill>
                <a:latin typeface="Calibri"/>
              </a:rPr>
              <a:t>Client PII, health, financial, compliance. The 255K-contact problem. Privacy is the product.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9ECF1"/>
                </a:solidFill>
                <a:latin typeface="Calibri"/>
              </a:rPr>
              <a:t>03  Latency &amp; reliability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8A2B2"/>
                </a:solidFill>
                <a:latin typeface="Calibri"/>
              </a:rPr>
              <a:t>No rate limits, no vendor outages, works offline. Your private API is always up when you are.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9ECF1"/>
                </a:solidFill>
                <a:latin typeface="Calibri"/>
              </a:rPr>
              <a:t>04  Control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8A2B2"/>
                </a:solidFill>
                <a:latin typeface="Calibri"/>
              </a:rPr>
              <a:t>No silent model swaps, no deprecations. Fine-tune on your own data, on your metal.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9ECF1"/>
                </a:solidFill>
                <a:latin typeface="Calibri"/>
              </a:rPr>
              <a:t>05  Independence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8A2B2"/>
                </a:solidFill>
                <a:latin typeface="Calibri"/>
              </a:rPr>
              <a:t>You don't bet the company on one vendor's pricing, terms, or data-retention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10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5225012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A8F"/>
                </a:solidFill>
                <a:latin typeface="Consolas"/>
              </a:rPr>
              <a:t>—  SAY IT OUT 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9ECF1"/>
                </a:solidFill>
                <a:latin typeface="Calibri"/>
              </a:rPr>
              <a:t>The honest tradeoffs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9ECF1"/>
                </a:solidFill>
                <a:latin typeface="Calibri"/>
              </a:rPr>
              <a:t>Capability gap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The best frontier models still beat what you run at home on the hardest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4884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9ECF1"/>
                </a:solidFill>
                <a:latin typeface="Calibri"/>
              </a:rPr>
              <a:t>Ops burden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You now run infrastructure: updates, uptime, drivers, quantization.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383280" cy="219456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48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9ECF1"/>
                </a:solidFill>
                <a:latin typeface="Calibri"/>
              </a:rPr>
              <a:t>Upfront cost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Real money on the table before the first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A2210"/>
          </a:solidFill>
          <a:ln>
            <a:solidFill>
              <a:srgbClr val="F6B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THE FRAMING THAT KEEPS YOU HONEST</a:t>
            </a:r>
          </a:p>
          <a:p>
            <a:r>
              <a:rPr sz="1500" b="0">
                <a:solidFill>
                  <a:srgbClr val="E9ECF1"/>
                </a:solidFill>
                <a:latin typeface="Calibri"/>
              </a:rPr>
              <a:t>Local doesn't replace the data center. It takes the workloads where ownership and privacy beat rented capability.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11 / 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5805569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THE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CF1"/>
                </a:solidFill>
                <a:latin typeface="Calibri"/>
              </a:rPr>
              <a:t>Use the data center by default. Go local when the work is high-volume, privacy-bound, or latency-sensitive, and doesn't need frontier-tier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6B21B"/>
                </a:solidFill>
                <a:latin typeface="Calibri"/>
              </a:rPr>
              <a:t>Shorter: frontier for the hard 10%. Private API for the recurring, sensitive 90%.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12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6386125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PROOF · HOW I ROUTE IT AT WAYFINDER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CF1"/>
                </a:solidFill>
                <a:latin typeface="Calibri"/>
              </a:rPr>
              <a:t>It's a routing decision, not a religion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94960" cy="365760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A8F"/>
                </a:solidFill>
                <a:latin typeface="Consolas"/>
              </a:rPr>
              <a:t>FRONTIER / DATA CENTER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98A2B2"/>
                </a:solidFill>
                <a:latin typeface="Calibri"/>
              </a:rPr>
              <a:t>•  Architecture and system design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98A2B2"/>
                </a:solidFill>
                <a:latin typeface="Calibri"/>
              </a:rPr>
              <a:t>•  Hard blockers, the genuinely difficult reasoning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98A2B2"/>
                </a:solidFill>
                <a:latin typeface="Calibri"/>
              </a:rPr>
              <a:t>•  The 10% where capability is worth the bill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394960" cy="365760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6B21B"/>
                </a:solidFill>
                <a:latin typeface="Consolas"/>
              </a:rPr>
              <a:t>LOCAL / PRIVATE API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98A2B2"/>
                </a:solidFill>
                <a:latin typeface="Calibri"/>
              </a:rPr>
              <a:t>•  Bulk classification and transcript analysis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98A2B2"/>
                </a:solidFill>
                <a:latin typeface="Calibri"/>
              </a:rPr>
              <a:t>•  Anything touching client data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98A2B2"/>
                </a:solidFill>
                <a:latin typeface="Calibri"/>
              </a:rPr>
              <a:t>•  High-volume, low-complexity work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98A2B2"/>
                </a:solidFill>
                <a:latin typeface="Calibri"/>
              </a:rPr>
              <a:t>•  WhisperX on 9060 XT primary, Mac Studio CPU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13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6966682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E9ECF1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CF1"/>
                </a:solidFill>
                <a:latin typeface="Calibri"/>
              </a:rPr>
              <a:t>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8A2B2"/>
                </a:solidFill>
                <a:latin typeface="Calibri"/>
              </a:rPr>
              <a:t>The map and my real numbers, not a step-by-step install.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14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7547239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THE WHOLE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9ECF1"/>
                </a:solidFill>
                <a:latin typeface="Calibri"/>
              </a:rPr>
              <a:t>Every local setup is four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01 · HARDWARE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The metal that holds the weights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Memory decides the size of model you can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488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02 · RUNTIME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The engine that serves the model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Ease vs. throughput. Ollama through vLLM.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1605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03 · MODEL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The weights you choose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Size to your memory first, task second.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02336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605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04 · INTEGRATION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How it plugs into your product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An OpenAI-compatible private API on your metal.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15 / 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8127796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LAYER 01 ·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9ECF1"/>
                </a:solidFill>
                <a:latin typeface="Calibri"/>
              </a:rPr>
              <a:t>Memory is the whole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8A2B2"/>
                </a:solidFill>
                <a:latin typeface="Calibri"/>
              </a:rPr>
              <a:t>VRAM (or unified memory) sets the ceiling on model size. Rough tiers at Q4: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697480" cy="210312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6B21B"/>
                </a:solidFill>
                <a:latin typeface="Calibri"/>
              </a:rPr>
              <a:t>~8GB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98A2B2"/>
                </a:solidFill>
                <a:latin typeface="Consolas"/>
              </a:rPr>
              <a:t>ENTRY</a:t>
            </a:r>
          </a:p>
          <a:p>
            <a:pPr algn="ctr"/>
            <a:r>
              <a:rPr sz="1200" b="0">
                <a:solidFill>
                  <a:srgbClr val="6A7383"/>
                </a:solidFill>
                <a:latin typeface="Calibri"/>
              </a:rPr>
              <a:t>7 to 8B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77440"/>
            <a:ext cx="2697480" cy="210312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60604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6B21B"/>
                </a:solidFill>
                <a:latin typeface="Calibri"/>
              </a:rPr>
              <a:t>~24GB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98A2B2"/>
                </a:solidFill>
                <a:latin typeface="Consolas"/>
              </a:rPr>
              <a:t>WORKHORSE</a:t>
            </a:r>
          </a:p>
          <a:p>
            <a:pPr algn="ctr"/>
            <a:r>
              <a:rPr sz="1200" b="0">
                <a:solidFill>
                  <a:srgbClr val="6A7383"/>
                </a:solidFill>
                <a:latin typeface="Calibri"/>
              </a:rPr>
              <a:t>30B-class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77440"/>
            <a:ext cx="2697480" cy="210312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6B21B"/>
                </a:solidFill>
                <a:latin typeface="Calibri"/>
              </a:rPr>
              <a:t>40GB+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98A2B2"/>
                </a:solidFill>
                <a:latin typeface="Consolas"/>
              </a:rPr>
              <a:t>SERIOUS</a:t>
            </a:r>
          </a:p>
          <a:p>
            <a:pPr algn="ctr"/>
            <a:r>
              <a:rPr sz="1200" b="0">
                <a:solidFill>
                  <a:srgbClr val="6A7383"/>
                </a:solidFill>
                <a:latin typeface="Calibri"/>
              </a:rPr>
              <a:t>70B territory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377440"/>
            <a:ext cx="2697480" cy="210312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260604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6B21B"/>
                </a:solidFill>
                <a:latin typeface="Calibri"/>
              </a:rPr>
              <a:t>200B+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98A2B2"/>
                </a:solidFill>
                <a:latin typeface="Consolas"/>
              </a:rPr>
              <a:t>BIG MoE</a:t>
            </a:r>
          </a:p>
          <a:p>
            <a:pPr algn="ctr"/>
            <a:r>
              <a:rPr sz="1200" b="0">
                <a:solidFill>
                  <a:srgbClr val="6A7383"/>
                </a:solidFill>
                <a:latin typeface="Calibri"/>
              </a:rPr>
              <a:t>multi-GPU or big Mac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A2210"/>
          </a:solidFill>
          <a:ln>
            <a:solidFill>
              <a:srgbClr val="F6B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TWO PATHS IN</a:t>
            </a:r>
          </a:p>
          <a:p>
            <a:r>
              <a:rPr sz="1500" b="0">
                <a:solidFill>
                  <a:srgbClr val="E9ECF1"/>
                </a:solidFill>
                <a:latin typeface="Calibri"/>
              </a:rPr>
              <a:t>A consumer GPU (a 24GB card), or Apple Silicon with large unified memory, more headroom per dollar once models get big.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16 / 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8708353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LAYER 02 ·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9ECF1"/>
                </a:solidFill>
                <a:latin typeface="Calibri"/>
              </a:rPr>
              <a:t>Pick by ease vs. throughput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40279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EASIEST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Ollama / LM Studio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One machine, one user, running in minutes. This is where you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40279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THROUGHPUT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vLLM / SGLang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Serious concurrency, served behind an OpenAI-compatible private endpoint for real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A2210"/>
          </a:solidFill>
          <a:ln>
            <a:solidFill>
              <a:srgbClr val="F6B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THE TRICK THAT MAKES BIG MODELS FIT</a:t>
            </a:r>
          </a:p>
          <a:p>
            <a:r>
              <a:rPr sz="1500" b="0">
                <a:solidFill>
                  <a:srgbClr val="E9ECF1"/>
                </a:solidFill>
                <a:latin typeface="Calibri"/>
              </a:rPr>
              <a:t>Quantization (Q4_K_M) roughly halves memory for minimal quality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17 / 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9288910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LAYER 03 ·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9ECF1"/>
                </a:solidFill>
                <a:latin typeface="Calibri"/>
              </a:rPr>
              <a:t>The 2026 field splits in two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40279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WHERE YOUR INFERENCE LIVES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Big MoE track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GLM, DeepSeek, Kimi, Qwen 397B. Frontier-ish, needs a Mac Ultra, multi-GPU, or rented H100s.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40279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WHAT YOUR DEVS RUN</a:t>
            </a:r>
          </a:p>
          <a:p>
            <a:r>
              <a:rPr sz="1600" b="1">
                <a:solidFill>
                  <a:srgbClr val="E9ECF1"/>
                </a:solidFill>
                <a:latin typeface="Calibri"/>
              </a:rPr>
              <a:t>Consumer track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98A2B2"/>
                </a:solidFill>
                <a:latin typeface="Calibri"/>
              </a:rPr>
              <a:t>Qwen 3.6 27B, Gemma 4. Fits a single GPU, the current local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A2210"/>
          </a:solidFill>
          <a:ln>
            <a:solidFill>
              <a:srgbClr val="F6B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START HERE</a:t>
            </a:r>
          </a:p>
          <a:p>
            <a:r>
              <a:rPr sz="1500" b="0">
                <a:solidFill>
                  <a:srgbClr val="E9ECF1"/>
                </a:solidFill>
                <a:latin typeface="Calibri"/>
              </a:rPr>
              <a:t>Don't start with the biggest model on the leaderboard. Start with the best one that runs smoothly on your machine.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18 / 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9869467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LAYER 04 ·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9ECF1"/>
                </a:solidFill>
                <a:latin typeface="Calibri"/>
              </a:rPr>
              <a:t>Your app barely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881360" cy="237744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A7383"/>
                </a:solidFill>
                <a:latin typeface="Consolas"/>
              </a:rPr>
              <a:t>SWAP THE BASE URL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A7383"/>
                </a:solidFill>
                <a:latin typeface="Consolas"/>
              </a:rPr>
              <a:t># before: someone else's data center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A8F"/>
                </a:solidFill>
                <a:latin typeface="Consolas"/>
              </a:rPr>
              <a:t>base_url = "https://api.provider.com/v1"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A7383"/>
                </a:solidFill>
                <a:latin typeface="Consolas"/>
              </a:rPr>
              <a:t># after: your metal, same SDK, private API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6B21B"/>
                </a:solidFill>
                <a:latin typeface="Consolas"/>
              </a:rPr>
              <a:t>base_url = "http://your-rig:11434/v1"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A2210"/>
          </a:solidFill>
          <a:ln>
            <a:solidFill>
              <a:srgbClr val="F6B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B21B"/>
                </a:solidFill>
                <a:latin typeface="Consolas"/>
              </a:rPr>
              <a:t>PRIVATE MESH</a:t>
            </a:r>
          </a:p>
          <a:p>
            <a:r>
              <a:rPr sz="1500" b="0">
                <a:solidFill>
                  <a:srgbClr val="E9ECF1"/>
                </a:solidFill>
                <a:latin typeface="Calibri"/>
              </a:rPr>
              <a:t>Local runtimes expose an OpenAI-compatible private API. Reach your rig from anywhere with Tailscale so it behaves like a cloud endpoint, but the data never leaves your metal.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19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0450024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WHAT I ACTUALLY RUN · ONE TAILSCALE MESH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657600" cy="329184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BIG-MODEL NODE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E9ECF1"/>
                </a:solidFill>
                <a:latin typeface="Calibri"/>
              </a:rPr>
              <a:t>Mac Studio M3 Ultra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98A2B2"/>
                </a:solidFill>
                <a:latin typeface="Consolas"/>
              </a:rPr>
              <a:t>256 GB unified · 60-core GPU
Qwen 3.5 · 397B A17B · 96k ctx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6B21B"/>
                </a:solidFill>
                <a:latin typeface="Consolas"/>
              </a:rPr>
              <a:t>~35 tok/s · LiteLLM queue +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88720"/>
            <a:ext cx="3657600" cy="329184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3716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WORKHORSE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E9ECF1"/>
                </a:solidFill>
                <a:latin typeface="Calibri"/>
              </a:rPr>
              <a:t>RX 7900 XTX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98A2B2"/>
                </a:solidFill>
                <a:latin typeface="Consolas"/>
              </a:rPr>
              <a:t>24 GB VRAM
Qwen 3.6 · 27B Q4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6B21B"/>
                </a:solidFill>
                <a:latin typeface="Consolas"/>
              </a:rPr>
              <a:t>~28 tok/s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188720"/>
            <a:ext cx="3657600" cy="329184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3716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EFFICIENCY NODE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E9ECF1"/>
                </a:solidFill>
                <a:latin typeface="Calibri"/>
              </a:rPr>
              <a:t>RX 9060 XT · 16 GB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98A2B2"/>
                </a:solidFill>
                <a:latin typeface="Consolas"/>
              </a:rPr>
              <a:t>Custom Linux PC · always on
Local transcription (primary)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6B21B"/>
                </a:solidFill>
                <a:latin typeface="Consolas"/>
              </a:rPr>
              <a:t>WhisperX · private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8A2B2"/>
                </a:solidFill>
                <a:latin typeface="Calibri"/>
              </a:rPr>
              <a:t>A 400B-class model running in my house, reachable from my laptop like a private API, doing the work that used to be a bill that scaled with growth, with client data that never left the mesh.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20 / 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1030581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START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9ECF1"/>
                </a:solidFill>
                <a:latin typeface="Calibri"/>
              </a:rPr>
              <a:t>If you take one thing: local isn't all-or-nothing. It's a routing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B21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8A2B2"/>
                </a:solidFill>
                <a:latin typeface="Calibri"/>
              </a:rPr>
              <a:t>Install Ollama, pull Qwen 3.6 (or Gemma 4), point your app's base URL at your private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B21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8A2B2"/>
                </a:solidFill>
                <a:latin typeface="Calibri"/>
              </a:rPr>
              <a:t>Move one high-volume, privacy-sensitive, low-stakes workload off the data center.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B21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8A2B2"/>
                </a:solidFill>
                <a:latin typeface="Calibri"/>
              </a:rPr>
              <a:t>Measure what it costs vs. what it replaced, and what never left your metal.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21 / 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1611138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— 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E9ECF1"/>
                </a:solidFill>
                <a:latin typeface="Calibri"/>
              </a:rPr>
              <a:t>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7772400" cy="2194560"/>
          </a:xfrm>
          <a:prstGeom prst="roundRect">
            <a:avLst/>
          </a:prstGeom>
          <a:solidFill>
            <a:srgbClr val="12161F"/>
          </a:solidFill>
          <a:ln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9ECF1"/>
                </a:solidFill>
                <a:latin typeface="Calibri"/>
              </a:rPr>
              <a:t>Peter Haubrich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98A2B2"/>
                </a:solidFill>
                <a:latin typeface="Consolas"/>
              </a:rPr>
              <a:t>Wayfinder Collective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F6B21B"/>
                </a:solidFill>
                <a:latin typeface="Consolas"/>
              </a:rPr>
              <a:t>peter@wayfindercollective.io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A7383"/>
                </a:solidFill>
                <a:latin typeface="Consolas"/>
              </a:rPr>
              <a:t>linkedin.com/in/peter-haubrich-d087</a:t>
            </a:r>
          </a:p>
        </p:txBody>
      </p:sp>
      <p:pic>
        <p:nvPicPr>
          <p:cNvPr id="7" name="Picture 6" descr="qr-17836548486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20040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A7383"/>
                </a:solidFill>
                <a:latin typeface="Consolas"/>
              </a:rPr>
              <a:t>LOCAL MODELS · FIELD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6B21B"/>
                </a:solidFill>
                <a:latin typeface="Consolas"/>
              </a:rPr>
              <a:t>22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783660814564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0" cy="58410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B21B"/>
                </a:solidFill>
                <a:latin typeface="Consolas"/>
              </a:rPr>
              <a:t>AI ANALYSIS · LOCAL MODEL · PRIVATE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636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6B21B"/>
                </a:solidFill>
                <a:latin typeface="Consolas"/>
              </a:rPr>
              <a:t>02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