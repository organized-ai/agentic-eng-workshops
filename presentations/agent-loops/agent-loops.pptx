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7"/>
        </a:solidFill>
      </p:bgPr>
    </p:bg>
    <p:spTree>
      <p:nvGrpSpPr>
        <p:cNvPr id="1" name=""/>
        <p:cNvGrpSpPr/>
        <p:nvPr/>
      </p:nvGrpSpPr>
      <p:grpSpPr>
        <a:xfrm>
          <a:off x="0" y="0"/>
          <a:ext cx="0" cy="0"/>
          <a:chOff x="0" y="0"/>
          <a:chExt cx="0" cy="0"/>
        </a:xfrm>
      </p:grpSpPr>
      <p:sp>
        <p:nvSpPr>
          <p:cNvPr id="2" name="Shape 0"/>
          <p:cNvSpPr/>
          <p:nvPr/>
        </p:nvSpPr>
        <p:spPr>
          <a:xfrm>
            <a:off x="6675120" y="457200"/>
            <a:ext cx="822960" cy="822960"/>
          </a:xfrm>
          <a:prstGeom prst="ellipse">
            <a:avLst/>
          </a:prstGeom>
          <a:solidFill>
            <a:srgbClr val="2F5FDE">
              <a:alpha val="25000"/>
            </a:srgbClr>
          </a:solidFill>
          <a:ln w="12700">
            <a:solidFill>
              <a:srgbClr val="FFFFFF"/>
            </a:solidFill>
            <a:prstDash val="solid"/>
          </a:ln>
        </p:spPr>
      </p:sp>
      <p:sp>
        <p:nvSpPr>
          <p:cNvPr id="3" name="Shape 1"/>
          <p:cNvSpPr/>
          <p:nvPr/>
        </p:nvSpPr>
        <p:spPr>
          <a:xfrm>
            <a:off x="7223760" y="1417320"/>
            <a:ext cx="822960" cy="822960"/>
          </a:xfrm>
          <a:prstGeom prst="ellipse">
            <a:avLst/>
          </a:prstGeom>
          <a:solidFill>
            <a:srgbClr val="2F5FDE">
              <a:alpha val="25000"/>
            </a:srgbClr>
          </a:solidFill>
          <a:ln w="12700">
            <a:solidFill>
              <a:srgbClr val="FFFFFF"/>
            </a:solidFill>
            <a:prstDash val="solid"/>
          </a:ln>
        </p:spPr>
      </p:sp>
      <p:sp>
        <p:nvSpPr>
          <p:cNvPr id="4" name="Shape 2"/>
          <p:cNvSpPr/>
          <p:nvPr/>
        </p:nvSpPr>
        <p:spPr>
          <a:xfrm>
            <a:off x="6675120" y="2377440"/>
            <a:ext cx="822960" cy="822960"/>
          </a:xfrm>
          <a:prstGeom prst="ellipse">
            <a:avLst/>
          </a:prstGeom>
          <a:solidFill>
            <a:srgbClr val="2F5FDE">
              <a:alpha val="25000"/>
            </a:srgbClr>
          </a:solidFill>
          <a:ln w="12700">
            <a:solidFill>
              <a:srgbClr val="FFFFFF"/>
            </a:solidFill>
            <a:prstDash val="solid"/>
          </a:ln>
        </p:spPr>
      </p:sp>
      <p:sp>
        <p:nvSpPr>
          <p:cNvPr id="5" name="Text 3"/>
          <p:cNvSpPr/>
          <p:nvPr/>
        </p:nvSpPr>
        <p:spPr>
          <a:xfrm>
            <a:off x="548640" y="1417320"/>
            <a:ext cx="8046720" cy="274320"/>
          </a:xfrm>
          <a:prstGeom prst="rect">
            <a:avLst/>
          </a:prstGeom>
          <a:noFill/>
          <a:ln/>
        </p:spPr>
        <p:txBody>
          <a:bodyPr wrap="square" lIns="0" tIns="0" rIns="0" bIns="0" rtlCol="0" anchor="ctr"/>
          <a:lstStyle/>
          <a:p>
            <a:pPr indent="0" marL="0">
              <a:buNone/>
            </a:pPr>
            <a:r>
              <a:rPr lang="en-US" sz="1200" b="1" spc="250" kern="0" dirty="0">
                <a:solidFill>
                  <a:srgbClr val="8FA8F0"/>
                </a:solidFill>
                <a:latin typeface="Calibri" pitchFamily="34" charset="0"/>
                <a:ea typeface="Calibri" pitchFamily="34" charset="-122"/>
                <a:cs typeface="Calibri" pitchFamily="34" charset="-120"/>
              </a:rPr>
              <a:t>HOW AGENT LOOPS ACTUALLY WORK</a:t>
            </a:r>
            <a:endParaRPr lang="en-US" sz="1200" dirty="0"/>
          </a:p>
        </p:txBody>
      </p:sp>
      <p:sp>
        <p:nvSpPr>
          <p:cNvPr id="6" name="Text 4"/>
          <p:cNvSpPr/>
          <p:nvPr/>
        </p:nvSpPr>
        <p:spPr>
          <a:xfrm>
            <a:off x="548640" y="1783080"/>
            <a:ext cx="7863840" cy="160020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libri" pitchFamily="34" charset="0"/>
                <a:ea typeface="Calibri" pitchFamily="34" charset="-122"/>
                <a:cs typeface="Calibri" pitchFamily="34" charset="-120"/>
              </a:rPr>
              <a:t>Stop Prompting Agents.</a:t>
            </a:r>
            <a:endParaRPr lang="en-US" sz="4000" dirty="0"/>
          </a:p>
          <a:p>
            <a:pPr indent="0" marL="0">
              <a:lnSpc>
                <a:spcPct val="108000"/>
              </a:lnSpc>
              <a:buNone/>
            </a:pPr>
            <a:r>
              <a:rPr lang="en-US" sz="4000" b="1" dirty="0">
                <a:solidFill>
                  <a:srgbClr val="FFFFFF"/>
                </a:solidFill>
                <a:latin typeface="Calibri" pitchFamily="34" charset="0"/>
                <a:ea typeface="Calibri" pitchFamily="34" charset="-122"/>
                <a:cs typeface="Calibri" pitchFamily="34" charset="-120"/>
              </a:rPr>
              <a:t>Start Designing Loops.</a:t>
            </a:r>
            <a:endParaRPr lang="en-US" sz="4000" dirty="0"/>
          </a:p>
        </p:txBody>
      </p:sp>
      <p:sp>
        <p:nvSpPr>
          <p:cNvPr id="7" name="Text 5"/>
          <p:cNvSpPr/>
          <p:nvPr/>
        </p:nvSpPr>
        <p:spPr>
          <a:xfrm>
            <a:off x="548640" y="3429000"/>
            <a:ext cx="6949440" cy="640080"/>
          </a:xfrm>
          <a:prstGeom prst="rect">
            <a:avLst/>
          </a:prstGeom>
          <a:noFill/>
          <a:ln/>
        </p:spPr>
        <p:txBody>
          <a:bodyPr wrap="square" lIns="0" tIns="0" rIns="0" bIns="0" rtlCol="0" anchor="ctr"/>
          <a:lstStyle/>
          <a:p>
            <a:pPr indent="0" marL="0">
              <a:lnSpc>
                <a:spcPct val="130000"/>
              </a:lnSpc>
              <a:buNone/>
            </a:pPr>
            <a:r>
              <a:rPr lang="en-US" sz="1500" dirty="0">
                <a:solidFill>
                  <a:srgbClr val="C7D1F0"/>
                </a:solidFill>
                <a:latin typeface="Calibri Light" pitchFamily="34" charset="0"/>
                <a:ea typeface="Calibri Light" pitchFamily="34" charset="-122"/>
                <a:cs typeface="Calibri Light" pitchFamily="34" charset="-120"/>
              </a:rPr>
              <a:t>A loop is just three things: a trigger, an action, and a stop condition — repeated until the work actually checks out.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MEET YOUR SPEAKER</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3000" b="1" dirty="0">
                <a:solidFill>
                  <a:srgbClr val="1A1D26"/>
                </a:solidFill>
                <a:latin typeface="Calibri" pitchFamily="34" charset="0"/>
                <a:ea typeface="Calibri" pitchFamily="34" charset="-122"/>
                <a:cs typeface="Calibri" pitchFamily="34" charset="-120"/>
              </a:rPr>
              <a:t>Henry Fuentes</a:t>
            </a:r>
            <a:endParaRPr lang="en-US" sz="3000" dirty="0"/>
          </a:p>
        </p:txBody>
      </p:sp>
      <p:sp>
        <p:nvSpPr>
          <p:cNvPr id="4" name="Text 2"/>
          <p:cNvSpPr/>
          <p:nvPr/>
        </p:nvSpPr>
        <p:spPr>
          <a:xfrm>
            <a:off x="548640" y="1234440"/>
            <a:ext cx="8046720" cy="320040"/>
          </a:xfrm>
          <a:prstGeom prst="rect">
            <a:avLst/>
          </a:prstGeom>
          <a:noFill/>
          <a:ln/>
        </p:spPr>
        <p:txBody>
          <a:bodyPr wrap="square" lIns="0" tIns="0" rIns="0" bIns="0" rtlCol="0" anchor="ctr"/>
          <a:lstStyle/>
          <a:p>
            <a:pPr indent="0" marL="0">
              <a:buNone/>
            </a:pPr>
            <a:r>
              <a:rPr lang="en-US" sz="1300" dirty="0">
                <a:solidFill>
                  <a:srgbClr val="5B6072"/>
                </a:solidFill>
                <a:latin typeface="Calibri" pitchFamily="34" charset="0"/>
                <a:ea typeface="Calibri" pitchFamily="34" charset="-122"/>
                <a:cs typeface="Calibri" pitchFamily="34" charset="-120"/>
              </a:rPr>
              <a:t>Founder &amp; Fractional CTO, Scaled By Design — Austin, TX</a:t>
            </a:r>
            <a:endParaRPr lang="en-US" sz="1300" dirty="0"/>
          </a:p>
        </p:txBody>
      </p:sp>
      <p:pic>
        <p:nvPicPr>
          <p:cNvPr id="5" name="Image 0" descr="/home/user/workspace/agent_loops_deck/../super_agentic_loop_deck/images/sal_speaker.png">    </p:cNvPr>
          <p:cNvPicPr>
            <a:picLocks noChangeAspect="1"/>
          </p:cNvPicPr>
          <p:nvPr/>
        </p:nvPicPr>
        <p:blipFill>
          <a:blip r:embed="rId1"/>
          <a:srcRect l="0" r="0" t="0" b="0"/>
          <a:stretch/>
        </p:blipFill>
        <p:spPr>
          <a:xfrm>
            <a:off x="548640" y="1783080"/>
            <a:ext cx="2651760" cy="2834640"/>
          </a:xfrm>
          <a:prstGeom prst="rect">
            <a:avLst/>
          </a:prstGeom>
        </p:spPr>
      </p:pic>
      <p:sp>
        <p:nvSpPr>
          <p:cNvPr id="6" name="Text 3"/>
          <p:cNvSpPr/>
          <p:nvPr/>
        </p:nvSpPr>
        <p:spPr>
          <a:xfrm>
            <a:off x="3474720" y="1783080"/>
            <a:ext cx="5120640" cy="1828800"/>
          </a:xfrm>
          <a:prstGeom prst="rect">
            <a:avLst/>
          </a:prstGeom>
          <a:noFill/>
          <a:ln/>
        </p:spPr>
        <p:txBody>
          <a:bodyPr wrap="square" lIns="0" tIns="0" rIns="0" bIns="0" rtlCol="0" anchor="ctr"/>
          <a:lstStyle/>
          <a:p>
            <a:pPr indent="0" marL="0">
              <a:lnSpc>
                <a:spcPct val="128000"/>
              </a:lnSpc>
              <a:buNone/>
            </a:pPr>
            <a:r>
              <a:rPr lang="en-US" sz="1150" dirty="0">
                <a:solidFill>
                  <a:srgbClr val="1A1D26"/>
                </a:solidFill>
                <a:latin typeface="Calibri" pitchFamily="34" charset="0"/>
                <a:ea typeface="Calibri" pitchFamily="34" charset="-122"/>
                <a:cs typeface="Calibri" pitchFamily="34" charset="-120"/>
              </a:rPr>
              <a:t>I built my first computer at 9 and made my first million at 15 — and I’ve been building and shipping production AI systems ever since: agents that run in real operations, not demos. Over 20+ years I’ve built the infrastructure layer underneath them: payments, DTC ecommerce platforms, and data reconciliation pipelines across more than $1.5 billion in annual transaction volume, including scaling Sixpack Shortcuts (my YouTube channel) from zero to $24M/year.</a:t>
            </a:r>
            <a:endParaRPr lang="en-US" sz="1150" dirty="0"/>
          </a:p>
        </p:txBody>
      </p:sp>
      <p:sp>
        <p:nvSpPr>
          <p:cNvPr id="7" name="Shape 4"/>
          <p:cNvSpPr/>
          <p:nvPr/>
        </p:nvSpPr>
        <p:spPr>
          <a:xfrm>
            <a:off x="3474720" y="3703320"/>
            <a:ext cx="3703320" cy="960120"/>
          </a:xfrm>
          <a:prstGeom prst="rect">
            <a:avLst/>
          </a:prstGeom>
          <a:solidFill>
            <a:srgbClr val="E8EEFC"/>
          </a:solidFill>
          <a:ln/>
        </p:spPr>
      </p:sp>
      <p:sp>
        <p:nvSpPr>
          <p:cNvPr id="8" name="Text 5"/>
          <p:cNvSpPr/>
          <p:nvPr/>
        </p:nvSpPr>
        <p:spPr>
          <a:xfrm>
            <a:off x="3657600" y="3785616"/>
            <a:ext cx="3337560" cy="777240"/>
          </a:xfrm>
          <a:prstGeom prst="rect">
            <a:avLst/>
          </a:prstGeom>
          <a:noFill/>
          <a:ln/>
        </p:spPr>
        <p:txBody>
          <a:bodyPr wrap="square" lIns="0" tIns="0" rIns="0" bIns="0" rtlCol="0" anchor="ctr"/>
          <a:lstStyle/>
          <a:p>
            <a:pPr indent="0" marL="0">
              <a:lnSpc>
                <a:spcPct val="120000"/>
              </a:lnSpc>
              <a:buNone/>
            </a:pPr>
            <a:r>
              <a:rPr lang="en-US" sz="950" i="1" dirty="0">
                <a:solidFill>
                  <a:srgbClr val="1B2A57"/>
                </a:solidFill>
                <a:latin typeface="Calibri Light" pitchFamily="34" charset="0"/>
                <a:ea typeface="Calibri Light" pitchFamily="34" charset="-122"/>
                <a:cs typeface="Calibri Light" pitchFamily="34" charset="-120"/>
              </a:rPr>
              <a:t>I’ve been building things — and betting on myself — since I was a kid. That same instinct is why I’m obsessive about production AI done right: typed, observable, guardrailed, and built with human fallback from day one. My core belief: the model is rarely the bottleneck — the harness is.</a:t>
            </a:r>
            <a:endParaRPr lang="en-US" sz="950" dirty="0"/>
          </a:p>
        </p:txBody>
      </p:sp>
      <p:pic>
        <p:nvPicPr>
          <p:cNvPr id="9" name="Image 1" descr="/home/user/workspace/agent_loops_deck/images/qr_scaledbydesign.png">    </p:cNvPr>
          <p:cNvPicPr>
            <a:picLocks noChangeAspect="1"/>
          </p:cNvPicPr>
          <p:nvPr/>
        </p:nvPicPr>
        <p:blipFill>
          <a:blip r:embed="rId2"/>
          <a:stretch>
            <a:fillRect/>
          </a:stretch>
        </p:blipFill>
        <p:spPr>
          <a:xfrm>
            <a:off x="7360920" y="3657600"/>
            <a:ext cx="1051560" cy="1051560"/>
          </a:xfrm>
          <a:prstGeom prst="rect">
            <a:avLst/>
          </a:prstGeom>
        </p:spPr>
      </p:pic>
      <p:sp>
        <p:nvSpPr>
          <p:cNvPr id="10" name="Text 6"/>
          <p:cNvSpPr/>
          <p:nvPr/>
        </p:nvSpPr>
        <p:spPr>
          <a:xfrm>
            <a:off x="7086600" y="4736592"/>
            <a:ext cx="1600200" cy="228600"/>
          </a:xfrm>
          <a:prstGeom prst="rect">
            <a:avLst/>
          </a:prstGeom>
          <a:noFill/>
          <a:ln/>
        </p:spPr>
        <p:txBody>
          <a:bodyPr wrap="square" lIns="0" tIns="0" rIns="0" bIns="0" rtlCol="0" anchor="ctr"/>
          <a:lstStyle/>
          <a:p>
            <a:pPr algn="ctr" indent="0" marL="0">
              <a:buNone/>
            </a:pPr>
            <a:r>
              <a:rPr lang="en-US" sz="900" dirty="0">
                <a:solidFill>
                  <a:srgbClr val="5B6072"/>
                </a:solidFill>
                <a:latin typeface="Calibri" pitchFamily="34" charset="0"/>
                <a:ea typeface="Calibri" pitchFamily="34" charset="-122"/>
                <a:cs typeface="Calibri" pitchFamily="34" charset="-120"/>
              </a:rPr>
              <a:t>scaledbydesign.com</a:t>
            </a:r>
            <a:endParaRPr lang="en-US" sz="900" dirty="0"/>
          </a:p>
        </p:txBody>
      </p:sp>
      <p:sp>
        <p:nvSpPr>
          <p:cNvPr id="11" name="Text 7"/>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THE CORE CLAIM</a:t>
            </a:r>
            <a:endParaRPr lang="en-US" sz="1200" dirty="0"/>
          </a:p>
        </p:txBody>
      </p:sp>
      <p:sp>
        <p:nvSpPr>
          <p:cNvPr id="3" name="Text 1"/>
          <p:cNvSpPr/>
          <p:nvPr/>
        </p:nvSpPr>
        <p:spPr>
          <a:xfrm>
            <a:off x="548640" y="731520"/>
            <a:ext cx="8046720" cy="594360"/>
          </a:xfrm>
          <a:prstGeom prst="rect">
            <a:avLst/>
          </a:prstGeom>
          <a:noFill/>
          <a:ln/>
        </p:spPr>
        <p:txBody>
          <a:bodyPr wrap="square" lIns="0" tIns="0" rIns="0" bIns="0" rtlCol="0" anchor="ctr"/>
          <a:lstStyle/>
          <a:p>
            <a:pPr indent="0" marL="0">
              <a:buNone/>
            </a:pPr>
            <a:r>
              <a:rPr lang="en-US" sz="3000" b="1" dirty="0">
                <a:solidFill>
                  <a:srgbClr val="1A1D26"/>
                </a:solidFill>
                <a:latin typeface="Calibri" pitchFamily="34" charset="0"/>
                <a:ea typeface="Calibri" pitchFamily="34" charset="-122"/>
                <a:cs typeface="Calibri" pitchFamily="34" charset="-120"/>
              </a:rPr>
              <a:t>A loop is three things</a:t>
            </a:r>
            <a:endParaRPr lang="en-US" sz="3000" dirty="0"/>
          </a:p>
        </p:txBody>
      </p:sp>
      <p:sp>
        <p:nvSpPr>
          <p:cNvPr id="4" name="Text 2"/>
          <p:cNvSpPr/>
          <p:nvPr/>
        </p:nvSpPr>
        <p:spPr>
          <a:xfrm>
            <a:off x="548640" y="1371600"/>
            <a:ext cx="8046720" cy="594360"/>
          </a:xfrm>
          <a:prstGeom prst="rect">
            <a:avLst/>
          </a:prstGeom>
          <a:noFill/>
          <a:ln/>
        </p:spPr>
        <p:txBody>
          <a:bodyPr wrap="square" lIns="0" tIns="0" rIns="0" bIns="0" rtlCol="0" anchor="ctr"/>
          <a:lstStyle/>
          <a:p>
            <a:pPr indent="0" marL="0">
              <a:lnSpc>
                <a:spcPct val="130000"/>
              </a:lnSpc>
              <a:buNone/>
            </a:pPr>
            <a:r>
              <a:rPr lang="en-US" sz="1350" dirty="0">
                <a:solidFill>
                  <a:srgbClr val="5B6072"/>
                </a:solidFill>
                <a:latin typeface="Calibri" pitchFamily="34" charset="0"/>
                <a:ea typeface="Calibri" pitchFamily="34" charset="-122"/>
                <a:cs typeface="Calibri" pitchFamily="34" charset="-120"/>
              </a:rPr>
              <a:t>The people furthest ahead with coding agents describe a shift: they stopped prompting the agent directly, and started designing the loop that prompts it for them.</a:t>
            </a:r>
            <a:endParaRPr lang="en-US" sz="1350" dirty="0"/>
          </a:p>
        </p:txBody>
      </p:sp>
      <p:sp>
        <p:nvSpPr>
          <p:cNvPr id="5" name="Shape 3"/>
          <p:cNvSpPr/>
          <p:nvPr/>
        </p:nvSpPr>
        <p:spPr>
          <a:xfrm>
            <a:off x="548640" y="2286000"/>
            <a:ext cx="2624328" cy="2148840"/>
          </a:xfrm>
          <a:prstGeom prst="rect">
            <a:avLst/>
          </a:prstGeom>
          <a:solidFill>
            <a:srgbClr val="F7F8FB"/>
          </a:solidFill>
          <a:ln w="12700">
            <a:solidFill>
              <a:srgbClr val="D9DCE6"/>
            </a:solidFill>
            <a:prstDash val="solid"/>
          </a:ln>
        </p:spPr>
      </p:sp>
      <p:sp>
        <p:nvSpPr>
          <p:cNvPr id="6" name="Shape 4"/>
          <p:cNvSpPr/>
          <p:nvPr/>
        </p:nvSpPr>
        <p:spPr>
          <a:xfrm>
            <a:off x="804672" y="2542032"/>
            <a:ext cx="502920" cy="502920"/>
          </a:xfrm>
          <a:prstGeom prst="ellipse">
            <a:avLst/>
          </a:prstGeom>
          <a:solidFill>
            <a:srgbClr val="1B2A57"/>
          </a:solidFill>
          <a:ln/>
        </p:spPr>
      </p:sp>
      <p:sp>
        <p:nvSpPr>
          <p:cNvPr id="7" name="Text 5"/>
          <p:cNvSpPr/>
          <p:nvPr/>
        </p:nvSpPr>
        <p:spPr>
          <a:xfrm>
            <a:off x="804672" y="2542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804672" y="3200400"/>
            <a:ext cx="2112264" cy="365760"/>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Trigger</a:t>
            </a:r>
            <a:endParaRPr lang="en-US" sz="1600" dirty="0"/>
          </a:p>
        </p:txBody>
      </p:sp>
      <p:sp>
        <p:nvSpPr>
          <p:cNvPr id="9" name="Text 7"/>
          <p:cNvSpPr/>
          <p:nvPr/>
        </p:nvSpPr>
        <p:spPr>
          <a:xfrm>
            <a:off x="804672" y="3584448"/>
            <a:ext cx="2112264" cy="777240"/>
          </a:xfrm>
          <a:prstGeom prst="rect">
            <a:avLst/>
          </a:prstGeom>
          <a:noFill/>
          <a:ln/>
        </p:spPr>
        <p:txBody>
          <a:bodyPr wrap="square" lIns="0" tIns="0" rIns="0" bIns="0" rtlCol="0" anchor="ctr"/>
          <a:lstStyle/>
          <a:p>
            <a:pPr indent="0" marL="0">
              <a:lnSpc>
                <a:spcPct val="125000"/>
              </a:lnSpc>
              <a:buNone/>
            </a:pPr>
            <a:r>
              <a:rPr lang="en-US" sz="1150" dirty="0">
                <a:solidFill>
                  <a:srgbClr val="5B6072"/>
                </a:solidFill>
                <a:latin typeface="Calibri" pitchFamily="34" charset="0"/>
                <a:ea typeface="Calibri" pitchFamily="34" charset="-122"/>
                <a:cs typeface="Calibri" pitchFamily="34" charset="-120"/>
              </a:rPr>
              <a:t>What starts the loop — a schedule, an event, or a person kicking it off.</a:t>
            </a:r>
            <a:endParaRPr lang="en-US" sz="1150" dirty="0"/>
          </a:p>
        </p:txBody>
      </p:sp>
      <p:sp>
        <p:nvSpPr>
          <p:cNvPr id="10" name="Text 8"/>
          <p:cNvSpPr/>
          <p:nvPr/>
        </p:nvSpPr>
        <p:spPr>
          <a:xfrm>
            <a:off x="3182112" y="3108960"/>
            <a:ext cx="237744" cy="457200"/>
          </a:xfrm>
          <a:prstGeom prst="rect">
            <a:avLst/>
          </a:prstGeom>
          <a:noFill/>
          <a:ln/>
        </p:spPr>
        <p:txBody>
          <a:bodyPr wrap="square" lIns="0" tIns="0" rIns="0" bIns="0" rtlCol="0" anchor="ctr"/>
          <a:lstStyle/>
          <a:p>
            <a:pPr algn="ctr" indent="0" marL="0">
              <a:buNone/>
            </a:pPr>
            <a:r>
              <a:rPr lang="en-US" sz="1800" b="1" dirty="0">
                <a:solidFill>
                  <a:srgbClr val="2F5FDE"/>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429000" y="2286000"/>
            <a:ext cx="2624328" cy="2148840"/>
          </a:xfrm>
          <a:prstGeom prst="rect">
            <a:avLst/>
          </a:prstGeom>
          <a:solidFill>
            <a:srgbClr val="F7F8FB"/>
          </a:solidFill>
          <a:ln w="12700">
            <a:solidFill>
              <a:srgbClr val="D9DCE6"/>
            </a:solidFill>
            <a:prstDash val="solid"/>
          </a:ln>
        </p:spPr>
      </p:sp>
      <p:sp>
        <p:nvSpPr>
          <p:cNvPr id="12" name="Shape 10"/>
          <p:cNvSpPr/>
          <p:nvPr/>
        </p:nvSpPr>
        <p:spPr>
          <a:xfrm>
            <a:off x="3685032" y="2542032"/>
            <a:ext cx="502920" cy="502920"/>
          </a:xfrm>
          <a:prstGeom prst="ellipse">
            <a:avLst/>
          </a:prstGeom>
          <a:solidFill>
            <a:srgbClr val="1B2A57"/>
          </a:solidFill>
          <a:ln/>
        </p:spPr>
      </p:sp>
      <p:sp>
        <p:nvSpPr>
          <p:cNvPr id="13" name="Text 11"/>
          <p:cNvSpPr/>
          <p:nvPr/>
        </p:nvSpPr>
        <p:spPr>
          <a:xfrm>
            <a:off x="3685032" y="2542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685032" y="3200400"/>
            <a:ext cx="2112264" cy="365760"/>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Action</a:t>
            </a:r>
            <a:endParaRPr lang="en-US" sz="1600" dirty="0"/>
          </a:p>
        </p:txBody>
      </p:sp>
      <p:sp>
        <p:nvSpPr>
          <p:cNvPr id="15" name="Text 13"/>
          <p:cNvSpPr/>
          <p:nvPr/>
        </p:nvSpPr>
        <p:spPr>
          <a:xfrm>
            <a:off x="3685032" y="3584448"/>
            <a:ext cx="2112264" cy="777240"/>
          </a:xfrm>
          <a:prstGeom prst="rect">
            <a:avLst/>
          </a:prstGeom>
          <a:noFill/>
          <a:ln/>
        </p:spPr>
        <p:txBody>
          <a:bodyPr wrap="square" lIns="0" tIns="0" rIns="0" bIns="0" rtlCol="0" anchor="ctr"/>
          <a:lstStyle/>
          <a:p>
            <a:pPr indent="0" marL="0">
              <a:lnSpc>
                <a:spcPct val="125000"/>
              </a:lnSpc>
              <a:buNone/>
            </a:pPr>
            <a:r>
              <a:rPr lang="en-US" sz="1150" dirty="0">
                <a:solidFill>
                  <a:srgbClr val="5B6072"/>
                </a:solidFill>
                <a:latin typeface="Calibri" pitchFamily="34" charset="0"/>
                <a:ea typeface="Calibri" pitchFamily="34" charset="-122"/>
                <a:cs typeface="Calibri" pitchFamily="34" charset="-120"/>
              </a:rPr>
              <a:t>What the agent actually does — reason, then act on that reasoning.</a:t>
            </a:r>
            <a:endParaRPr lang="en-US" sz="1150" dirty="0"/>
          </a:p>
        </p:txBody>
      </p:sp>
      <p:sp>
        <p:nvSpPr>
          <p:cNvPr id="16" name="Text 14"/>
          <p:cNvSpPr/>
          <p:nvPr/>
        </p:nvSpPr>
        <p:spPr>
          <a:xfrm>
            <a:off x="6062472" y="3108960"/>
            <a:ext cx="237744" cy="457200"/>
          </a:xfrm>
          <a:prstGeom prst="rect">
            <a:avLst/>
          </a:prstGeom>
          <a:noFill/>
          <a:ln/>
        </p:spPr>
        <p:txBody>
          <a:bodyPr wrap="square" lIns="0" tIns="0" rIns="0" bIns="0" rtlCol="0" anchor="ctr"/>
          <a:lstStyle/>
          <a:p>
            <a:pPr algn="ctr" indent="0" marL="0">
              <a:buNone/>
            </a:pPr>
            <a:r>
              <a:rPr lang="en-US" sz="1800" b="1" dirty="0">
                <a:solidFill>
                  <a:srgbClr val="2F5FDE"/>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6309360" y="2286000"/>
            <a:ext cx="2624328" cy="2148840"/>
          </a:xfrm>
          <a:prstGeom prst="rect">
            <a:avLst/>
          </a:prstGeom>
          <a:solidFill>
            <a:srgbClr val="F7F8FB"/>
          </a:solidFill>
          <a:ln w="12700">
            <a:solidFill>
              <a:srgbClr val="D9DCE6"/>
            </a:solidFill>
            <a:prstDash val="solid"/>
          </a:ln>
        </p:spPr>
      </p:sp>
      <p:sp>
        <p:nvSpPr>
          <p:cNvPr id="18" name="Shape 16"/>
          <p:cNvSpPr/>
          <p:nvPr/>
        </p:nvSpPr>
        <p:spPr>
          <a:xfrm>
            <a:off x="6565392" y="2542032"/>
            <a:ext cx="502920" cy="502920"/>
          </a:xfrm>
          <a:prstGeom prst="ellipse">
            <a:avLst/>
          </a:prstGeom>
          <a:solidFill>
            <a:srgbClr val="1B2A57"/>
          </a:solidFill>
          <a:ln/>
        </p:spPr>
      </p:sp>
      <p:sp>
        <p:nvSpPr>
          <p:cNvPr id="19" name="Text 17"/>
          <p:cNvSpPr/>
          <p:nvPr/>
        </p:nvSpPr>
        <p:spPr>
          <a:xfrm>
            <a:off x="6565392" y="2542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565392" y="3200400"/>
            <a:ext cx="2112264" cy="365760"/>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Stop condition</a:t>
            </a:r>
            <a:endParaRPr lang="en-US" sz="1600" dirty="0"/>
          </a:p>
        </p:txBody>
      </p:sp>
      <p:sp>
        <p:nvSpPr>
          <p:cNvPr id="21" name="Text 19"/>
          <p:cNvSpPr/>
          <p:nvPr/>
        </p:nvSpPr>
        <p:spPr>
          <a:xfrm>
            <a:off x="6565392" y="3584448"/>
            <a:ext cx="2112264" cy="777240"/>
          </a:xfrm>
          <a:prstGeom prst="rect">
            <a:avLst/>
          </a:prstGeom>
          <a:noFill/>
          <a:ln/>
        </p:spPr>
        <p:txBody>
          <a:bodyPr wrap="square" lIns="0" tIns="0" rIns="0" bIns="0" rtlCol="0" anchor="ctr"/>
          <a:lstStyle/>
          <a:p>
            <a:pPr indent="0" marL="0">
              <a:lnSpc>
                <a:spcPct val="125000"/>
              </a:lnSpc>
              <a:buNone/>
            </a:pPr>
            <a:r>
              <a:rPr lang="en-US" sz="1150" dirty="0">
                <a:solidFill>
                  <a:srgbClr val="5B6072"/>
                </a:solidFill>
                <a:latin typeface="Calibri" pitchFamily="34" charset="0"/>
                <a:ea typeface="Calibri" pitchFamily="34" charset="-122"/>
                <a:cs typeface="Calibri" pitchFamily="34" charset="-120"/>
              </a:rPr>
              <a:t>How it knows the work is actually finished, not just attempted.</a:t>
            </a:r>
            <a:endParaRPr lang="en-US" sz="1150" dirty="0"/>
          </a:p>
        </p:txBody>
      </p:sp>
      <p:sp>
        <p:nvSpPr>
          <p:cNvPr id="22" name="Text 20"/>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ANATOMY OF A LOOP</a:t>
            </a:r>
            <a:endParaRPr lang="en-US" sz="1200" dirty="0"/>
          </a:p>
        </p:txBody>
      </p:sp>
      <p:sp>
        <p:nvSpPr>
          <p:cNvPr id="3" name="Text 1"/>
          <p:cNvSpPr/>
          <p:nvPr/>
        </p:nvSpPr>
        <p:spPr>
          <a:xfrm>
            <a:off x="548640" y="731520"/>
            <a:ext cx="8046720" cy="594360"/>
          </a:xfrm>
          <a:prstGeom prst="rect">
            <a:avLst/>
          </a:prstGeom>
          <a:noFill/>
          <a:ln/>
        </p:spPr>
        <p:txBody>
          <a:bodyPr wrap="square" lIns="0" tIns="0" rIns="0" bIns="0" rtlCol="0" anchor="ctr"/>
          <a:lstStyle/>
          <a:p>
            <a:pPr indent="0" marL="0">
              <a:buNone/>
            </a:pPr>
            <a:r>
              <a:rPr lang="en-US" sz="2600" b="1" dirty="0">
                <a:solidFill>
                  <a:srgbClr val="1A1D26"/>
                </a:solidFill>
                <a:latin typeface="Calibri" pitchFamily="34" charset="0"/>
                <a:ea typeface="Calibri" pitchFamily="34" charset="-122"/>
                <a:cs typeface="Calibri" pitchFamily="34" charset="-120"/>
              </a:rPr>
              <a:t>Reason, act, observe — until it’s actually done</a:t>
            </a:r>
            <a:endParaRPr lang="en-US" sz="2600" dirty="0"/>
          </a:p>
        </p:txBody>
      </p:sp>
      <p:sp>
        <p:nvSpPr>
          <p:cNvPr id="4" name="Shape 2"/>
          <p:cNvSpPr/>
          <p:nvPr/>
        </p:nvSpPr>
        <p:spPr>
          <a:xfrm>
            <a:off x="548640" y="1600200"/>
            <a:ext cx="1737360" cy="777240"/>
          </a:xfrm>
          <a:prstGeom prst="roundRect">
            <a:avLst>
              <a:gd name="adj" fmla="val 9412"/>
            </a:avLst>
          </a:prstGeom>
          <a:solidFill>
            <a:srgbClr val="1B2A57"/>
          </a:solidFill>
          <a:ln/>
        </p:spPr>
      </p:sp>
      <p:sp>
        <p:nvSpPr>
          <p:cNvPr id="5" name="Text 3"/>
          <p:cNvSpPr/>
          <p:nvPr/>
        </p:nvSpPr>
        <p:spPr>
          <a:xfrm>
            <a:off x="658368" y="1600200"/>
            <a:ext cx="1517904" cy="777240"/>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Calibri" pitchFamily="34" charset="0"/>
                <a:ea typeface="Calibri" pitchFamily="34" charset="-122"/>
                <a:cs typeface="Calibri" pitchFamily="34" charset="-120"/>
              </a:rPr>
              <a:t>Your goal</a:t>
            </a:r>
            <a:endParaRPr lang="en-US" sz="1300" dirty="0"/>
          </a:p>
          <a:p>
            <a:pPr algn="l" indent="0" marL="0">
              <a:lnSpc>
                <a:spcPct val="115000"/>
              </a:lnSpc>
              <a:buNone/>
            </a:pPr>
            <a:r>
              <a:rPr lang="en-US" sz="950" dirty="0">
                <a:solidFill>
                  <a:srgbClr val="FFFFFF"/>
                </a:solidFill>
                <a:latin typeface="Calibri" pitchFamily="34" charset="0"/>
                <a:ea typeface="Calibri" pitchFamily="34" charset="-122"/>
                <a:cs typeface="Calibri" pitchFamily="34" charset="-120"/>
              </a:rPr>
              <a:t>+ what "done" means</a:t>
            </a:r>
            <a:endParaRPr lang="en-US" sz="1300" dirty="0"/>
          </a:p>
        </p:txBody>
      </p:sp>
      <p:sp>
        <p:nvSpPr>
          <p:cNvPr id="6" name="Shape 4"/>
          <p:cNvSpPr/>
          <p:nvPr/>
        </p:nvSpPr>
        <p:spPr>
          <a:xfrm>
            <a:off x="2880360" y="1600200"/>
            <a:ext cx="1737360" cy="777240"/>
          </a:xfrm>
          <a:prstGeom prst="roundRect">
            <a:avLst>
              <a:gd name="adj" fmla="val 9412"/>
            </a:avLst>
          </a:prstGeom>
          <a:solidFill>
            <a:srgbClr val="FFFFFF"/>
          </a:solidFill>
          <a:ln w="19050">
            <a:solidFill>
              <a:srgbClr val="2F5FDE"/>
            </a:solidFill>
            <a:prstDash val="solid"/>
          </a:ln>
        </p:spPr>
      </p:sp>
      <p:sp>
        <p:nvSpPr>
          <p:cNvPr id="7" name="Text 5"/>
          <p:cNvSpPr/>
          <p:nvPr/>
        </p:nvSpPr>
        <p:spPr>
          <a:xfrm>
            <a:off x="2990088" y="1600200"/>
            <a:ext cx="1517904" cy="777240"/>
          </a:xfrm>
          <a:prstGeom prst="rect">
            <a:avLst/>
          </a:prstGeom>
          <a:noFill/>
          <a:ln/>
        </p:spPr>
        <p:txBody>
          <a:bodyPr wrap="square" lIns="0" tIns="0" rIns="0" bIns="0" rtlCol="0" anchor="ctr"/>
          <a:lstStyle/>
          <a:p>
            <a:pPr algn="l" indent="0" marL="0">
              <a:lnSpc>
                <a:spcPct val="115000"/>
              </a:lnSpc>
              <a:buNone/>
            </a:pPr>
            <a:r>
              <a:rPr lang="en-US" sz="1300" b="1" dirty="0">
                <a:solidFill>
                  <a:srgbClr val="1A1D26"/>
                </a:solidFill>
                <a:latin typeface="Calibri" pitchFamily="34" charset="0"/>
                <a:ea typeface="Calibri" pitchFamily="34" charset="-122"/>
                <a:cs typeface="Calibri" pitchFamily="34" charset="-120"/>
              </a:rPr>
              <a:t>Reason</a:t>
            </a:r>
            <a:endParaRPr lang="en-US" sz="1300" dirty="0"/>
          </a:p>
          <a:p>
            <a:pPr algn="l" indent="0" marL="0">
              <a:lnSpc>
                <a:spcPct val="115000"/>
              </a:lnSpc>
              <a:buNone/>
            </a:pPr>
            <a:r>
              <a:rPr lang="en-US" sz="950" dirty="0">
                <a:solidFill>
                  <a:srgbClr val="5B6072"/>
                </a:solidFill>
                <a:latin typeface="Calibri" pitchFamily="34" charset="0"/>
                <a:ea typeface="Calibri" pitchFamily="34" charset="-122"/>
                <a:cs typeface="Calibri" pitchFamily="34" charset="-120"/>
              </a:rPr>
              <a:t>think the next step</a:t>
            </a:r>
            <a:endParaRPr lang="en-US" sz="1300" dirty="0"/>
          </a:p>
        </p:txBody>
      </p:sp>
      <p:sp>
        <p:nvSpPr>
          <p:cNvPr id="8" name="Shape 6"/>
          <p:cNvSpPr/>
          <p:nvPr/>
        </p:nvSpPr>
        <p:spPr>
          <a:xfrm>
            <a:off x="6309360" y="1600200"/>
            <a:ext cx="1828800" cy="777240"/>
          </a:xfrm>
          <a:prstGeom prst="roundRect">
            <a:avLst>
              <a:gd name="adj" fmla="val 9412"/>
            </a:avLst>
          </a:prstGeom>
          <a:solidFill>
            <a:srgbClr val="E2F3E8"/>
          </a:solidFill>
          <a:ln w="19050">
            <a:solidFill>
              <a:srgbClr val="2F9E5B"/>
            </a:solidFill>
            <a:prstDash val="solid"/>
          </a:ln>
        </p:spPr>
      </p:sp>
      <p:sp>
        <p:nvSpPr>
          <p:cNvPr id="9" name="Text 7"/>
          <p:cNvSpPr/>
          <p:nvPr/>
        </p:nvSpPr>
        <p:spPr>
          <a:xfrm>
            <a:off x="6419088" y="1600200"/>
            <a:ext cx="1609344" cy="777240"/>
          </a:xfrm>
          <a:prstGeom prst="rect">
            <a:avLst/>
          </a:prstGeom>
          <a:noFill/>
          <a:ln/>
        </p:spPr>
        <p:txBody>
          <a:bodyPr wrap="square" lIns="0" tIns="0" rIns="0" bIns="0" rtlCol="0" anchor="ctr"/>
          <a:lstStyle/>
          <a:p>
            <a:pPr algn="l" indent="0" marL="0">
              <a:lnSpc>
                <a:spcPct val="115000"/>
              </a:lnSpc>
              <a:buNone/>
            </a:pPr>
            <a:r>
              <a:rPr lang="en-US" sz="1300" b="1" dirty="0">
                <a:solidFill>
                  <a:srgbClr val="1E6B3E"/>
                </a:solidFill>
                <a:latin typeface="Calibri" pitchFamily="34" charset="0"/>
                <a:ea typeface="Calibri" pitchFamily="34" charset="-122"/>
                <a:cs typeface="Calibri" pitchFamily="34" charset="-120"/>
              </a:rPr>
              <a:t>✓ Done</a:t>
            </a:r>
            <a:endParaRPr lang="en-US" sz="1300" dirty="0"/>
          </a:p>
          <a:p>
            <a:pPr algn="l" indent="0" marL="0">
              <a:lnSpc>
                <a:spcPct val="115000"/>
              </a:lnSpc>
              <a:buNone/>
            </a:pPr>
            <a:r>
              <a:rPr lang="en-US" sz="950" dirty="0">
                <a:solidFill>
                  <a:srgbClr val="3D8F63"/>
                </a:solidFill>
                <a:latin typeface="Calibri" pitchFamily="34" charset="0"/>
                <a:ea typeface="Calibri" pitchFamily="34" charset="-122"/>
                <a:cs typeface="Calibri" pitchFamily="34" charset="-120"/>
              </a:rPr>
              <a:t>stop</a:t>
            </a:r>
            <a:endParaRPr lang="en-US" sz="1300" dirty="0"/>
          </a:p>
        </p:txBody>
      </p:sp>
      <p:sp>
        <p:nvSpPr>
          <p:cNvPr id="10" name="Shape 8"/>
          <p:cNvSpPr/>
          <p:nvPr/>
        </p:nvSpPr>
        <p:spPr>
          <a:xfrm>
            <a:off x="2880360" y="3429000"/>
            <a:ext cx="1737360" cy="777240"/>
          </a:xfrm>
          <a:prstGeom prst="roundRect">
            <a:avLst>
              <a:gd name="adj" fmla="val 9412"/>
            </a:avLst>
          </a:prstGeom>
          <a:solidFill>
            <a:srgbClr val="2F5FDE"/>
          </a:solidFill>
          <a:ln/>
        </p:spPr>
      </p:sp>
      <p:sp>
        <p:nvSpPr>
          <p:cNvPr id="11" name="Text 9"/>
          <p:cNvSpPr/>
          <p:nvPr/>
        </p:nvSpPr>
        <p:spPr>
          <a:xfrm>
            <a:off x="2990088" y="3429000"/>
            <a:ext cx="1517904" cy="777240"/>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Calibri" pitchFamily="34" charset="0"/>
                <a:ea typeface="Calibri" pitchFamily="34" charset="-122"/>
                <a:cs typeface="Calibri" pitchFamily="34" charset="-120"/>
              </a:rPr>
              <a:t>Observe</a:t>
            </a:r>
            <a:endParaRPr lang="en-US" sz="1300" dirty="0"/>
          </a:p>
          <a:p>
            <a:pPr algn="l" indent="0" marL="0">
              <a:lnSpc>
                <a:spcPct val="115000"/>
              </a:lnSpc>
              <a:buNone/>
            </a:pPr>
            <a:r>
              <a:rPr lang="en-US" sz="950" dirty="0">
                <a:solidFill>
                  <a:srgbClr val="FFFFFF"/>
                </a:solidFill>
                <a:latin typeface="Calibri" pitchFamily="34" charset="0"/>
                <a:ea typeface="Calibri" pitchFamily="34" charset="-122"/>
                <a:cs typeface="Calibri" pitchFamily="34" charset="-120"/>
              </a:rPr>
              <a:t>read what just happened</a:t>
            </a:r>
            <a:endParaRPr lang="en-US" sz="1300" dirty="0"/>
          </a:p>
        </p:txBody>
      </p:sp>
      <p:sp>
        <p:nvSpPr>
          <p:cNvPr id="12" name="Shape 10"/>
          <p:cNvSpPr/>
          <p:nvPr/>
        </p:nvSpPr>
        <p:spPr>
          <a:xfrm>
            <a:off x="3611880" y="2697480"/>
            <a:ext cx="1371600" cy="640080"/>
          </a:xfrm>
          <a:prstGeom prst="diamond">
            <a:avLst/>
          </a:prstGeom>
          <a:solidFill>
            <a:srgbClr val="FBF1DC"/>
          </a:solidFill>
          <a:ln w="19050">
            <a:solidFill>
              <a:srgbClr val="C98A1B"/>
            </a:solidFill>
            <a:prstDash val="solid"/>
          </a:ln>
        </p:spPr>
      </p:sp>
      <p:sp>
        <p:nvSpPr>
          <p:cNvPr id="13" name="Text 11"/>
          <p:cNvSpPr/>
          <p:nvPr/>
        </p:nvSpPr>
        <p:spPr>
          <a:xfrm>
            <a:off x="3611880" y="2697480"/>
            <a:ext cx="1371600" cy="640080"/>
          </a:xfrm>
          <a:prstGeom prst="rect">
            <a:avLst/>
          </a:prstGeom>
          <a:noFill/>
          <a:ln/>
        </p:spPr>
        <p:txBody>
          <a:bodyPr wrap="square" lIns="0" tIns="0" rIns="0" bIns="0" rtlCol="0" anchor="ctr"/>
          <a:lstStyle/>
          <a:p>
            <a:pPr algn="ctr" indent="0" marL="0">
              <a:buNone/>
            </a:pPr>
            <a:r>
              <a:rPr lang="en-US" sz="1250" b="1" dirty="0">
                <a:solidFill>
                  <a:srgbClr val="8A5F0E"/>
                </a:solidFill>
                <a:latin typeface="Calibri" pitchFamily="34" charset="0"/>
                <a:ea typeface="Calibri" pitchFamily="34" charset="-122"/>
                <a:cs typeface="Calibri" pitchFamily="34" charset="-120"/>
              </a:rPr>
              <a:t>done?</a:t>
            </a:r>
            <a:endParaRPr lang="en-US" sz="1250" dirty="0"/>
          </a:p>
        </p:txBody>
      </p:sp>
      <p:sp>
        <p:nvSpPr>
          <p:cNvPr id="14" name="Shape 12"/>
          <p:cNvSpPr/>
          <p:nvPr/>
        </p:nvSpPr>
        <p:spPr>
          <a:xfrm>
            <a:off x="6309360" y="3429000"/>
            <a:ext cx="1737360" cy="777240"/>
          </a:xfrm>
          <a:prstGeom prst="roundRect">
            <a:avLst>
              <a:gd name="adj" fmla="val 9412"/>
            </a:avLst>
          </a:prstGeom>
          <a:solidFill>
            <a:srgbClr val="2F5FDE"/>
          </a:solidFill>
          <a:ln/>
        </p:spPr>
      </p:sp>
      <p:sp>
        <p:nvSpPr>
          <p:cNvPr id="15" name="Text 13"/>
          <p:cNvSpPr/>
          <p:nvPr/>
        </p:nvSpPr>
        <p:spPr>
          <a:xfrm>
            <a:off x="6419088" y="3429000"/>
            <a:ext cx="1517904" cy="777240"/>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Calibri" pitchFamily="34" charset="0"/>
                <a:ea typeface="Calibri" pitchFamily="34" charset="-122"/>
                <a:cs typeface="Calibri" pitchFamily="34" charset="-120"/>
              </a:rPr>
              <a:t>Act</a:t>
            </a:r>
            <a:endParaRPr lang="en-US" sz="1300" dirty="0"/>
          </a:p>
          <a:p>
            <a:pPr algn="l" indent="0" marL="0">
              <a:lnSpc>
                <a:spcPct val="115000"/>
              </a:lnSpc>
              <a:buNone/>
            </a:pPr>
            <a:r>
              <a:rPr lang="en-US" sz="950" dirty="0">
                <a:solidFill>
                  <a:srgbClr val="FFFFFF"/>
                </a:solidFill>
                <a:latin typeface="Calibri" pitchFamily="34" charset="0"/>
                <a:ea typeface="Calibri" pitchFamily="34" charset="-122"/>
                <a:cs typeface="Calibri" pitchFamily="34" charset="-120"/>
              </a:rPr>
              <a:t>use a tool</a:t>
            </a:r>
            <a:endParaRPr lang="en-US" sz="1300" dirty="0"/>
          </a:p>
        </p:txBody>
      </p:sp>
      <p:sp>
        <p:nvSpPr>
          <p:cNvPr id="16" name="Shape 14"/>
          <p:cNvSpPr/>
          <p:nvPr/>
        </p:nvSpPr>
        <p:spPr>
          <a:xfrm>
            <a:off x="2286000" y="1988820"/>
            <a:ext cx="594360" cy="0"/>
          </a:xfrm>
          <a:prstGeom prst="line">
            <a:avLst/>
          </a:prstGeom>
          <a:noFill/>
          <a:ln w="22225">
            <a:solidFill>
              <a:srgbClr val="5B6072"/>
            </a:solidFill>
            <a:prstDash val="solid"/>
            <a:tailEnd type="triangle"/>
          </a:ln>
        </p:spPr>
      </p:sp>
      <p:sp>
        <p:nvSpPr>
          <p:cNvPr id="17" name="Shape 15"/>
          <p:cNvSpPr/>
          <p:nvPr/>
        </p:nvSpPr>
        <p:spPr>
          <a:xfrm>
            <a:off x="4297680" y="2377440"/>
            <a:ext cx="0" cy="320040"/>
          </a:xfrm>
          <a:prstGeom prst="line">
            <a:avLst/>
          </a:prstGeom>
          <a:noFill/>
          <a:ln w="22225">
            <a:solidFill>
              <a:srgbClr val="C98A1B"/>
            </a:solidFill>
            <a:prstDash val="solid"/>
            <a:tailEnd type="triangle"/>
          </a:ln>
        </p:spPr>
      </p:sp>
      <p:sp>
        <p:nvSpPr>
          <p:cNvPr id="18" name="Shape 16"/>
          <p:cNvSpPr/>
          <p:nvPr/>
        </p:nvSpPr>
        <p:spPr>
          <a:xfrm flipV="1">
            <a:off x="4892040" y="2125980"/>
            <a:ext cx="1417320" cy="644652"/>
          </a:xfrm>
          <a:prstGeom prst="line">
            <a:avLst/>
          </a:prstGeom>
          <a:noFill/>
          <a:ln w="22225">
            <a:solidFill>
              <a:srgbClr val="2F9E5B"/>
            </a:solidFill>
            <a:prstDash val="solid"/>
            <a:tailEnd type="triangle"/>
          </a:ln>
        </p:spPr>
      </p:sp>
      <p:sp>
        <p:nvSpPr>
          <p:cNvPr id="19" name="Text 17"/>
          <p:cNvSpPr/>
          <p:nvPr/>
        </p:nvSpPr>
        <p:spPr>
          <a:xfrm>
            <a:off x="5303520" y="2496312"/>
            <a:ext cx="457200" cy="274320"/>
          </a:xfrm>
          <a:prstGeom prst="rect">
            <a:avLst/>
          </a:prstGeom>
          <a:noFill/>
          <a:ln/>
        </p:spPr>
        <p:txBody>
          <a:bodyPr wrap="square" lIns="0" tIns="0" rIns="0" bIns="0" rtlCol="0" anchor="ctr"/>
          <a:lstStyle/>
          <a:p>
            <a:pPr indent="0" marL="0">
              <a:buNone/>
            </a:pPr>
            <a:r>
              <a:rPr lang="en-US" sz="1000" dirty="0">
                <a:solidFill>
                  <a:srgbClr val="3D8F63"/>
                </a:solidFill>
                <a:latin typeface="Calibri" pitchFamily="34" charset="0"/>
                <a:ea typeface="Calibri" pitchFamily="34" charset="-122"/>
                <a:cs typeface="Calibri" pitchFamily="34" charset="-120"/>
              </a:rPr>
              <a:t>yes</a:t>
            </a:r>
            <a:endParaRPr lang="en-US" sz="1000" dirty="0"/>
          </a:p>
        </p:txBody>
      </p:sp>
      <p:sp>
        <p:nvSpPr>
          <p:cNvPr id="20" name="Shape 18"/>
          <p:cNvSpPr/>
          <p:nvPr/>
        </p:nvSpPr>
        <p:spPr>
          <a:xfrm>
            <a:off x="4983480" y="3017520"/>
            <a:ext cx="1325880" cy="629107"/>
          </a:xfrm>
          <a:prstGeom prst="line">
            <a:avLst/>
          </a:prstGeom>
          <a:noFill/>
          <a:ln w="22225">
            <a:solidFill>
              <a:srgbClr val="B23A48"/>
            </a:solidFill>
            <a:prstDash val="solid"/>
            <a:tailEnd type="triangle"/>
          </a:ln>
        </p:spPr>
      </p:sp>
      <p:sp>
        <p:nvSpPr>
          <p:cNvPr id="21" name="Text 19"/>
          <p:cNvSpPr/>
          <p:nvPr/>
        </p:nvSpPr>
        <p:spPr>
          <a:xfrm>
            <a:off x="5276088" y="2724912"/>
            <a:ext cx="1005840" cy="219456"/>
          </a:xfrm>
          <a:prstGeom prst="rect">
            <a:avLst/>
          </a:prstGeom>
          <a:noFill/>
          <a:ln/>
        </p:spPr>
        <p:txBody>
          <a:bodyPr wrap="square" lIns="0" tIns="0" rIns="0" bIns="0" rtlCol="0" anchor="ctr"/>
          <a:lstStyle/>
          <a:p>
            <a:pPr indent="0" marL="0">
              <a:buNone/>
            </a:pPr>
            <a:r>
              <a:rPr lang="en-US" sz="950" dirty="0">
                <a:solidFill>
                  <a:srgbClr val="9C3040"/>
                </a:solidFill>
                <a:latin typeface="Calibri" pitchFamily="34" charset="0"/>
                <a:ea typeface="Calibri" pitchFamily="34" charset="-122"/>
                <a:cs typeface="Calibri" pitchFamily="34" charset="-120"/>
              </a:rPr>
              <a:t>no → act</a:t>
            </a:r>
            <a:endParaRPr lang="en-US" sz="950" dirty="0"/>
          </a:p>
        </p:txBody>
      </p:sp>
      <p:sp>
        <p:nvSpPr>
          <p:cNvPr id="22" name="Shape 20"/>
          <p:cNvSpPr/>
          <p:nvPr/>
        </p:nvSpPr>
        <p:spPr>
          <a:xfrm flipH="1">
            <a:off x="4617720" y="3988613"/>
            <a:ext cx="1691640" cy="0"/>
          </a:xfrm>
          <a:prstGeom prst="line">
            <a:avLst/>
          </a:prstGeom>
          <a:noFill/>
          <a:ln w="22225">
            <a:solidFill>
              <a:srgbClr val="5B6072"/>
            </a:solidFill>
            <a:prstDash val="solid"/>
            <a:tailEnd type="triangle"/>
          </a:ln>
        </p:spPr>
      </p:sp>
      <p:sp>
        <p:nvSpPr>
          <p:cNvPr id="23" name="Shape 21"/>
          <p:cNvSpPr/>
          <p:nvPr/>
        </p:nvSpPr>
        <p:spPr>
          <a:xfrm flipV="1">
            <a:off x="3200400" y="2377440"/>
            <a:ext cx="0" cy="1051560"/>
          </a:xfrm>
          <a:prstGeom prst="line">
            <a:avLst/>
          </a:prstGeom>
          <a:noFill/>
          <a:ln w="22225">
            <a:solidFill>
              <a:srgbClr val="5B6072"/>
            </a:solidFill>
            <a:prstDash val="solid"/>
            <a:tailEnd type="triangle"/>
          </a:ln>
        </p:spPr>
      </p:sp>
      <p:sp>
        <p:nvSpPr>
          <p:cNvPr id="24" name="Text 22"/>
          <p:cNvSpPr/>
          <p:nvPr/>
        </p:nvSpPr>
        <p:spPr>
          <a:xfrm>
            <a:off x="548640" y="4343400"/>
            <a:ext cx="8046720" cy="365760"/>
          </a:xfrm>
          <a:prstGeom prst="rect">
            <a:avLst/>
          </a:prstGeom>
          <a:noFill/>
          <a:ln/>
        </p:spPr>
        <p:txBody>
          <a:bodyPr wrap="square" lIns="0" tIns="0" rIns="0" bIns="0" rtlCol="0" anchor="ctr"/>
          <a:lstStyle/>
          <a:p>
            <a:pPr indent="0" marL="0">
              <a:lnSpc>
                <a:spcPct val="120000"/>
              </a:lnSpc>
              <a:buNone/>
            </a:pPr>
            <a:r>
              <a:rPr lang="en-US" sz="1200" i="1" dirty="0">
                <a:solidFill>
                  <a:srgbClr val="5B6072"/>
                </a:solidFill>
                <a:latin typeface="Calibri Light" pitchFamily="34" charset="0"/>
                <a:ea typeface="Calibri Light" pitchFamily="34" charset="-122"/>
                <a:cs typeface="Calibri Light" pitchFamily="34" charset="-120"/>
              </a:rPr>
              <a:t>It reasons about the next step, checks if it’s done. If not, it acts using a tool, observes the result, and reasons again.</a:t>
            </a:r>
            <a:endParaRPr lang="en-US" sz="1200" dirty="0"/>
          </a:p>
        </p:txBody>
      </p:sp>
      <p:sp>
        <p:nvSpPr>
          <p:cNvPr id="25" name="Text 23"/>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57"/>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8FA8F0"/>
                </a:solidFill>
                <a:latin typeface="Calibri" pitchFamily="34" charset="0"/>
                <a:ea typeface="Calibri" pitchFamily="34" charset="-122"/>
                <a:cs typeface="Calibri" pitchFamily="34" charset="-120"/>
              </a:rPr>
              <a:t>WHY IT WORKS</a:t>
            </a:r>
            <a:endParaRPr lang="en-US" sz="1200" dirty="0"/>
          </a:p>
        </p:txBody>
      </p:sp>
      <p:sp>
        <p:nvSpPr>
          <p:cNvPr id="3" name="Text 1"/>
          <p:cNvSpPr/>
          <p:nvPr/>
        </p:nvSpPr>
        <p:spPr>
          <a:xfrm>
            <a:off x="548640" y="731520"/>
            <a:ext cx="804672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AI is never perfect on attempt one</a:t>
            </a:r>
            <a:endParaRPr lang="en-US" sz="2800" dirty="0"/>
          </a:p>
        </p:txBody>
      </p:sp>
      <p:sp>
        <p:nvSpPr>
          <p:cNvPr id="4" name="Text 2"/>
          <p:cNvSpPr/>
          <p:nvPr/>
        </p:nvSpPr>
        <p:spPr>
          <a:xfrm>
            <a:off x="548640" y="1353312"/>
            <a:ext cx="8046720" cy="548640"/>
          </a:xfrm>
          <a:prstGeom prst="rect">
            <a:avLst/>
          </a:prstGeom>
          <a:noFill/>
          <a:ln/>
        </p:spPr>
        <p:txBody>
          <a:bodyPr wrap="square" lIns="0" tIns="0" rIns="0" bIns="0" rtlCol="0" anchor="ctr"/>
          <a:lstStyle/>
          <a:p>
            <a:pPr indent="0" marL="0">
              <a:lnSpc>
                <a:spcPct val="130000"/>
              </a:lnSpc>
              <a:buNone/>
            </a:pPr>
            <a:r>
              <a:rPr lang="en-US" sz="1300" dirty="0">
                <a:solidFill>
                  <a:srgbClr val="C7D1F0"/>
                </a:solidFill>
                <a:latin typeface="Calibri Light" pitchFamily="34" charset="0"/>
                <a:ea typeface="Calibri Light" pitchFamily="34" charset="-122"/>
                <a:cs typeface="Calibri Light" pitchFamily="34" charset="-120"/>
              </a:rPr>
              <a:t>The gains you’d normally add yourself, one round of feedback at a time, can be handed to the loop instead. It just does the same climbing, faster and without you in the middle.</a:t>
            </a:r>
            <a:endParaRPr lang="en-US" sz="1300" dirty="0"/>
          </a:p>
        </p:txBody>
      </p:sp>
      <p:sp>
        <p:nvSpPr>
          <p:cNvPr id="5" name="Shape 3"/>
          <p:cNvSpPr/>
          <p:nvPr/>
        </p:nvSpPr>
        <p:spPr>
          <a:xfrm>
            <a:off x="822960" y="2148840"/>
            <a:ext cx="0" cy="2331720"/>
          </a:xfrm>
          <a:prstGeom prst="line">
            <a:avLst/>
          </a:prstGeom>
          <a:noFill/>
          <a:ln w="15875">
            <a:solidFill>
              <a:srgbClr val="4A5A8C"/>
            </a:solidFill>
            <a:prstDash val="solid"/>
          </a:ln>
        </p:spPr>
      </p:sp>
      <p:sp>
        <p:nvSpPr>
          <p:cNvPr id="6" name="Shape 4"/>
          <p:cNvSpPr/>
          <p:nvPr/>
        </p:nvSpPr>
        <p:spPr>
          <a:xfrm>
            <a:off x="822960" y="4480560"/>
            <a:ext cx="7498080" cy="0"/>
          </a:xfrm>
          <a:prstGeom prst="line">
            <a:avLst/>
          </a:prstGeom>
          <a:noFill/>
          <a:ln w="15875">
            <a:solidFill>
              <a:srgbClr val="4A5A8C"/>
            </a:solidFill>
            <a:prstDash val="solid"/>
          </a:ln>
        </p:spPr>
      </p:sp>
      <p:sp>
        <p:nvSpPr>
          <p:cNvPr id="7" name="Text 5"/>
          <p:cNvSpPr/>
          <p:nvPr/>
        </p:nvSpPr>
        <p:spPr>
          <a:xfrm>
            <a:off x="45720" y="2103120"/>
            <a:ext cx="731520" cy="274320"/>
          </a:xfrm>
          <a:prstGeom prst="rect">
            <a:avLst/>
          </a:prstGeom>
          <a:noFill/>
          <a:ln/>
        </p:spPr>
        <p:txBody>
          <a:bodyPr wrap="square" lIns="0" tIns="0" rIns="0" bIns="0" rtlCol="0" anchor="ctr"/>
          <a:lstStyle/>
          <a:p>
            <a:pPr algn="r" indent="0" marL="0">
              <a:buNone/>
            </a:pPr>
            <a:r>
              <a:rPr lang="en-US" sz="1050" dirty="0">
                <a:solidFill>
                  <a:srgbClr val="8FA8F0"/>
                </a:solidFill>
                <a:latin typeface="Calibri" pitchFamily="34" charset="0"/>
                <a:ea typeface="Calibri" pitchFamily="34" charset="-122"/>
                <a:cs typeface="Calibri" pitchFamily="34" charset="-120"/>
              </a:rPr>
              <a:t>Quality</a:t>
            </a:r>
            <a:endParaRPr lang="en-US" sz="1050" dirty="0"/>
          </a:p>
        </p:txBody>
      </p:sp>
      <p:sp>
        <p:nvSpPr>
          <p:cNvPr id="8" name="Text 6"/>
          <p:cNvSpPr/>
          <p:nvPr/>
        </p:nvSpPr>
        <p:spPr>
          <a:xfrm>
            <a:off x="7589520" y="4535424"/>
            <a:ext cx="731520" cy="274320"/>
          </a:xfrm>
          <a:prstGeom prst="rect">
            <a:avLst/>
          </a:prstGeom>
          <a:noFill/>
          <a:ln/>
        </p:spPr>
        <p:txBody>
          <a:bodyPr wrap="square" lIns="0" tIns="0" rIns="0" bIns="0" rtlCol="0" anchor="ctr"/>
          <a:lstStyle/>
          <a:p>
            <a:pPr indent="0" marL="0">
              <a:buNone/>
            </a:pPr>
            <a:r>
              <a:rPr lang="en-US" sz="1050" dirty="0">
                <a:solidFill>
                  <a:srgbClr val="8FA8F0"/>
                </a:solidFill>
                <a:latin typeface="Calibri" pitchFamily="34" charset="0"/>
                <a:ea typeface="Calibri" pitchFamily="34" charset="-122"/>
                <a:cs typeface="Calibri" pitchFamily="34" charset="-120"/>
              </a:rPr>
              <a:t>Attempts</a:t>
            </a:r>
            <a:endParaRPr lang="en-US" sz="1050" dirty="0"/>
          </a:p>
        </p:txBody>
      </p:sp>
      <p:sp>
        <p:nvSpPr>
          <p:cNvPr id="9" name="Shape 7"/>
          <p:cNvSpPr/>
          <p:nvPr/>
        </p:nvSpPr>
        <p:spPr>
          <a:xfrm>
            <a:off x="1422806" y="2801722"/>
            <a:ext cx="1799539" cy="279806"/>
          </a:xfrm>
          <a:prstGeom prst="line">
            <a:avLst/>
          </a:prstGeom>
          <a:noFill/>
          <a:ln w="28575">
            <a:solidFill>
              <a:srgbClr val="6B7BB0"/>
            </a:solidFill>
            <a:prstDash val="dash"/>
          </a:ln>
        </p:spPr>
      </p:sp>
      <p:sp>
        <p:nvSpPr>
          <p:cNvPr id="10" name="Shape 8"/>
          <p:cNvSpPr/>
          <p:nvPr/>
        </p:nvSpPr>
        <p:spPr>
          <a:xfrm>
            <a:off x="3222346" y="3081528"/>
            <a:ext cx="1799539" cy="373075"/>
          </a:xfrm>
          <a:prstGeom prst="line">
            <a:avLst/>
          </a:prstGeom>
          <a:noFill/>
          <a:ln w="28575">
            <a:solidFill>
              <a:srgbClr val="6B7BB0"/>
            </a:solidFill>
            <a:prstDash val="dash"/>
          </a:ln>
        </p:spPr>
      </p:sp>
      <p:sp>
        <p:nvSpPr>
          <p:cNvPr id="11" name="Shape 9"/>
          <p:cNvSpPr/>
          <p:nvPr/>
        </p:nvSpPr>
        <p:spPr>
          <a:xfrm>
            <a:off x="5021885" y="3454603"/>
            <a:ext cx="1799539" cy="326441"/>
          </a:xfrm>
          <a:prstGeom prst="line">
            <a:avLst/>
          </a:prstGeom>
          <a:noFill/>
          <a:ln w="28575">
            <a:solidFill>
              <a:srgbClr val="6B7BB0"/>
            </a:solidFill>
            <a:prstDash val="dash"/>
          </a:ln>
        </p:spPr>
      </p:sp>
      <p:sp>
        <p:nvSpPr>
          <p:cNvPr id="12" name="Shape 10"/>
          <p:cNvSpPr/>
          <p:nvPr/>
        </p:nvSpPr>
        <p:spPr>
          <a:xfrm>
            <a:off x="1377086" y="2756002"/>
            <a:ext cx="91440" cy="91440"/>
          </a:xfrm>
          <a:prstGeom prst="ellipse">
            <a:avLst/>
          </a:prstGeom>
          <a:solidFill>
            <a:srgbClr val="8FA8F0"/>
          </a:solidFill>
          <a:ln/>
        </p:spPr>
      </p:sp>
      <p:sp>
        <p:nvSpPr>
          <p:cNvPr id="13" name="Shape 11"/>
          <p:cNvSpPr/>
          <p:nvPr/>
        </p:nvSpPr>
        <p:spPr>
          <a:xfrm>
            <a:off x="3176626" y="3035808"/>
            <a:ext cx="91440" cy="91440"/>
          </a:xfrm>
          <a:prstGeom prst="ellipse">
            <a:avLst/>
          </a:prstGeom>
          <a:solidFill>
            <a:srgbClr val="8FA8F0"/>
          </a:solidFill>
          <a:ln/>
        </p:spPr>
      </p:sp>
      <p:sp>
        <p:nvSpPr>
          <p:cNvPr id="14" name="Shape 12"/>
          <p:cNvSpPr/>
          <p:nvPr/>
        </p:nvSpPr>
        <p:spPr>
          <a:xfrm>
            <a:off x="4976165" y="3408883"/>
            <a:ext cx="91440" cy="91440"/>
          </a:xfrm>
          <a:prstGeom prst="ellipse">
            <a:avLst/>
          </a:prstGeom>
          <a:solidFill>
            <a:srgbClr val="8FA8F0"/>
          </a:solidFill>
          <a:ln/>
        </p:spPr>
      </p:sp>
      <p:sp>
        <p:nvSpPr>
          <p:cNvPr id="15" name="Shape 13"/>
          <p:cNvSpPr/>
          <p:nvPr/>
        </p:nvSpPr>
        <p:spPr>
          <a:xfrm>
            <a:off x="6775704" y="3735324"/>
            <a:ext cx="91440" cy="91440"/>
          </a:xfrm>
          <a:prstGeom prst="ellipse">
            <a:avLst/>
          </a:prstGeom>
          <a:solidFill>
            <a:srgbClr val="8FA8F0"/>
          </a:solidFill>
          <a:ln/>
        </p:spPr>
      </p:sp>
      <p:sp>
        <p:nvSpPr>
          <p:cNvPr id="16" name="Shape 14"/>
          <p:cNvSpPr/>
          <p:nvPr/>
        </p:nvSpPr>
        <p:spPr>
          <a:xfrm flipV="1">
            <a:off x="1422806" y="2382012"/>
            <a:ext cx="1799539" cy="233172"/>
          </a:xfrm>
          <a:prstGeom prst="line">
            <a:avLst/>
          </a:prstGeom>
          <a:noFill/>
          <a:ln w="38100">
            <a:solidFill>
              <a:srgbClr val="2F5FDE"/>
            </a:solidFill>
            <a:prstDash val="solid"/>
          </a:ln>
        </p:spPr>
      </p:sp>
      <p:sp>
        <p:nvSpPr>
          <p:cNvPr id="17" name="Shape 15"/>
          <p:cNvSpPr/>
          <p:nvPr/>
        </p:nvSpPr>
        <p:spPr>
          <a:xfrm flipV="1">
            <a:off x="3222346" y="2265426"/>
            <a:ext cx="1799539" cy="116586"/>
          </a:xfrm>
          <a:prstGeom prst="line">
            <a:avLst/>
          </a:prstGeom>
          <a:noFill/>
          <a:ln w="38100">
            <a:solidFill>
              <a:srgbClr val="2F5FDE"/>
            </a:solidFill>
            <a:prstDash val="solid"/>
          </a:ln>
        </p:spPr>
      </p:sp>
      <p:sp>
        <p:nvSpPr>
          <p:cNvPr id="18" name="Shape 16"/>
          <p:cNvSpPr/>
          <p:nvPr/>
        </p:nvSpPr>
        <p:spPr>
          <a:xfrm flipV="1">
            <a:off x="5021885" y="2218792"/>
            <a:ext cx="1799539" cy="46634"/>
          </a:xfrm>
          <a:prstGeom prst="line">
            <a:avLst/>
          </a:prstGeom>
          <a:noFill/>
          <a:ln w="38100">
            <a:solidFill>
              <a:srgbClr val="2F5FDE"/>
            </a:solidFill>
            <a:prstDash val="solid"/>
          </a:ln>
        </p:spPr>
      </p:sp>
      <p:sp>
        <p:nvSpPr>
          <p:cNvPr id="19" name="Shape 17"/>
          <p:cNvSpPr/>
          <p:nvPr/>
        </p:nvSpPr>
        <p:spPr>
          <a:xfrm>
            <a:off x="1367942" y="2560320"/>
            <a:ext cx="109728" cy="109728"/>
          </a:xfrm>
          <a:prstGeom prst="ellipse">
            <a:avLst/>
          </a:prstGeom>
          <a:solidFill>
            <a:srgbClr val="FFFFFF"/>
          </a:solidFill>
          <a:ln w="25400">
            <a:solidFill>
              <a:srgbClr val="2F5FDE"/>
            </a:solidFill>
            <a:prstDash val="solid"/>
          </a:ln>
        </p:spPr>
      </p:sp>
      <p:sp>
        <p:nvSpPr>
          <p:cNvPr id="20" name="Shape 18"/>
          <p:cNvSpPr/>
          <p:nvPr/>
        </p:nvSpPr>
        <p:spPr>
          <a:xfrm>
            <a:off x="3167482" y="2327148"/>
            <a:ext cx="109728" cy="109728"/>
          </a:xfrm>
          <a:prstGeom prst="ellipse">
            <a:avLst/>
          </a:prstGeom>
          <a:solidFill>
            <a:srgbClr val="FFFFFF"/>
          </a:solidFill>
          <a:ln w="25400">
            <a:solidFill>
              <a:srgbClr val="2F5FDE"/>
            </a:solidFill>
            <a:prstDash val="solid"/>
          </a:ln>
        </p:spPr>
      </p:sp>
      <p:sp>
        <p:nvSpPr>
          <p:cNvPr id="21" name="Shape 19"/>
          <p:cNvSpPr/>
          <p:nvPr/>
        </p:nvSpPr>
        <p:spPr>
          <a:xfrm>
            <a:off x="4967021" y="2210562"/>
            <a:ext cx="109728" cy="109728"/>
          </a:xfrm>
          <a:prstGeom prst="ellipse">
            <a:avLst/>
          </a:prstGeom>
          <a:solidFill>
            <a:srgbClr val="FFFFFF"/>
          </a:solidFill>
          <a:ln w="25400">
            <a:solidFill>
              <a:srgbClr val="2F5FDE"/>
            </a:solidFill>
            <a:prstDash val="solid"/>
          </a:ln>
        </p:spPr>
      </p:sp>
      <p:sp>
        <p:nvSpPr>
          <p:cNvPr id="22" name="Shape 20"/>
          <p:cNvSpPr/>
          <p:nvPr/>
        </p:nvSpPr>
        <p:spPr>
          <a:xfrm>
            <a:off x="6766560" y="2163928"/>
            <a:ext cx="109728" cy="109728"/>
          </a:xfrm>
          <a:prstGeom prst="ellipse">
            <a:avLst/>
          </a:prstGeom>
          <a:solidFill>
            <a:srgbClr val="FFFFFF"/>
          </a:solidFill>
          <a:ln w="25400">
            <a:solidFill>
              <a:srgbClr val="2F5FDE"/>
            </a:solidFill>
            <a:prstDash val="solid"/>
          </a:ln>
        </p:spPr>
      </p:sp>
      <p:sp>
        <p:nvSpPr>
          <p:cNvPr id="23" name="Text 21"/>
          <p:cNvSpPr/>
          <p:nvPr/>
        </p:nvSpPr>
        <p:spPr>
          <a:xfrm>
            <a:off x="4187952" y="2706624"/>
            <a:ext cx="2560320" cy="38404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Calibri" pitchFamily="34" charset="0"/>
                <a:ea typeface="Calibri" pitchFamily="34" charset="-122"/>
                <a:cs typeface="Calibri" pitchFamily="34" charset="-120"/>
              </a:rPr>
              <a:t>Agent loop — verifies and</a:t>
            </a:r>
            <a:endParaRPr lang="en-US" sz="1050" dirty="0"/>
          </a:p>
          <a:p>
            <a:pPr algn="ctr" indent="0" marL="0">
              <a:lnSpc>
                <a:spcPct val="115000"/>
              </a:lnSpc>
              <a:buNone/>
            </a:pPr>
            <a:r>
              <a:rPr lang="en-US" sz="1050" b="1" dirty="0">
                <a:solidFill>
                  <a:srgbClr val="FFFFFF"/>
                </a:solidFill>
                <a:latin typeface="Calibri" pitchFamily="34" charset="0"/>
                <a:ea typeface="Calibri" pitchFamily="34" charset="-122"/>
                <a:cs typeface="Calibri" pitchFamily="34" charset="-120"/>
              </a:rPr>
              <a:t>re-iterates without you</a:t>
            </a:r>
            <a:endParaRPr lang="en-US" sz="1050" dirty="0"/>
          </a:p>
        </p:txBody>
      </p:sp>
      <p:sp>
        <p:nvSpPr>
          <p:cNvPr id="24" name="Text 22"/>
          <p:cNvSpPr/>
          <p:nvPr/>
        </p:nvSpPr>
        <p:spPr>
          <a:xfrm>
            <a:off x="960120" y="3913632"/>
            <a:ext cx="4572000" cy="274320"/>
          </a:xfrm>
          <a:prstGeom prst="rect">
            <a:avLst/>
          </a:prstGeom>
          <a:noFill/>
          <a:ln/>
        </p:spPr>
        <p:txBody>
          <a:bodyPr wrap="square" lIns="0" tIns="0" rIns="0" bIns="0" rtlCol="0" anchor="ctr"/>
          <a:lstStyle/>
          <a:p>
            <a:pPr algn="l" indent="0" marL="0">
              <a:lnSpc>
                <a:spcPct val="115000"/>
              </a:lnSpc>
              <a:buNone/>
            </a:pPr>
            <a:r>
              <a:rPr lang="en-US" sz="1050" dirty="0">
                <a:solidFill>
                  <a:srgbClr val="9AA6D4"/>
                </a:solidFill>
                <a:latin typeface="Calibri" pitchFamily="34" charset="0"/>
                <a:ea typeface="Calibri" pitchFamily="34" charset="-122"/>
                <a:cs typeface="Calibri" pitchFamily="34" charset="-120"/>
              </a:rPr>
              <a:t>Manual iteration — one round of feedback at a time</a:t>
            </a:r>
            <a:endParaRPr lang="en-US" sz="1050" dirty="0"/>
          </a:p>
        </p:txBody>
      </p:sp>
      <p:sp>
        <p:nvSpPr>
          <p:cNvPr id="25" name="Text 23"/>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8590B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WHAT EVERY LOOP NEEDS</a:t>
            </a:r>
            <a:endParaRPr lang="en-US" sz="1200" dirty="0"/>
          </a:p>
        </p:txBody>
      </p:sp>
      <p:sp>
        <p:nvSpPr>
          <p:cNvPr id="3" name="Text 1"/>
          <p:cNvSpPr/>
          <p:nvPr/>
        </p:nvSpPr>
        <p:spPr>
          <a:xfrm>
            <a:off x="548640" y="731520"/>
            <a:ext cx="8046720" cy="594360"/>
          </a:xfrm>
          <a:prstGeom prst="rect">
            <a:avLst/>
          </a:prstGeom>
          <a:noFill/>
          <a:ln/>
        </p:spPr>
        <p:txBody>
          <a:bodyPr wrap="square" lIns="0" tIns="0" rIns="0" bIns="0" rtlCol="0" anchor="ctr"/>
          <a:lstStyle/>
          <a:p>
            <a:pPr indent="0" marL="0">
              <a:buNone/>
            </a:pPr>
            <a:r>
              <a:rPr lang="en-US" sz="2800" b="1" dirty="0">
                <a:solidFill>
                  <a:srgbClr val="1A1D26"/>
                </a:solidFill>
                <a:latin typeface="Calibri" pitchFamily="34" charset="0"/>
                <a:ea typeface="Calibri" pitchFamily="34" charset="-122"/>
                <a:cs typeface="Calibri" pitchFamily="34" charset="-120"/>
              </a:rPr>
              <a:t>Two pillars hold up every loop</a:t>
            </a:r>
            <a:endParaRPr lang="en-US" sz="2800" dirty="0"/>
          </a:p>
        </p:txBody>
      </p:sp>
      <p:sp>
        <p:nvSpPr>
          <p:cNvPr id="4" name="Shape 2"/>
          <p:cNvSpPr/>
          <p:nvPr/>
        </p:nvSpPr>
        <p:spPr>
          <a:xfrm>
            <a:off x="548640" y="1554480"/>
            <a:ext cx="3840480" cy="2651760"/>
          </a:xfrm>
          <a:prstGeom prst="rect">
            <a:avLst/>
          </a:prstGeom>
          <a:solidFill>
            <a:srgbClr val="E8EEFC"/>
          </a:solidFill>
          <a:ln/>
        </p:spPr>
      </p:sp>
      <p:sp>
        <p:nvSpPr>
          <p:cNvPr id="5" name="Shape 3"/>
          <p:cNvSpPr/>
          <p:nvPr/>
        </p:nvSpPr>
        <p:spPr>
          <a:xfrm>
            <a:off x="548640" y="1554480"/>
            <a:ext cx="3840480" cy="73152"/>
          </a:xfrm>
          <a:prstGeom prst="rect">
            <a:avLst/>
          </a:prstGeom>
          <a:solidFill>
            <a:srgbClr val="1B2A57"/>
          </a:solidFill>
          <a:ln/>
        </p:spPr>
      </p:sp>
      <p:sp>
        <p:nvSpPr>
          <p:cNvPr id="6" name="Text 4"/>
          <p:cNvSpPr/>
          <p:nvPr/>
        </p:nvSpPr>
        <p:spPr>
          <a:xfrm>
            <a:off x="868680" y="1874520"/>
            <a:ext cx="3200400" cy="411480"/>
          </a:xfrm>
          <a:prstGeom prst="rect">
            <a:avLst/>
          </a:prstGeom>
          <a:noFill/>
          <a:ln/>
        </p:spPr>
        <p:txBody>
          <a:bodyPr wrap="square" lIns="0" tIns="0" rIns="0" bIns="0" rtlCol="0" anchor="ctr"/>
          <a:lstStyle/>
          <a:p>
            <a:pPr indent="0" marL="0">
              <a:buNone/>
            </a:pPr>
            <a:r>
              <a:rPr lang="en-US" sz="2000" b="1" dirty="0">
                <a:solidFill>
                  <a:srgbClr val="1B2A57"/>
                </a:solidFill>
                <a:latin typeface="Calibri" pitchFamily="34" charset="0"/>
                <a:ea typeface="Calibri" pitchFamily="34" charset="-122"/>
                <a:cs typeface="Calibri" pitchFamily="34" charset="-120"/>
              </a:rPr>
              <a:t>The goal</a:t>
            </a:r>
            <a:endParaRPr lang="en-US" sz="2000" dirty="0"/>
          </a:p>
        </p:txBody>
      </p:sp>
      <p:sp>
        <p:nvSpPr>
          <p:cNvPr id="7" name="Text 5"/>
          <p:cNvSpPr/>
          <p:nvPr/>
        </p:nvSpPr>
        <p:spPr>
          <a:xfrm>
            <a:off x="868680" y="2331720"/>
            <a:ext cx="3200400" cy="365760"/>
          </a:xfrm>
          <a:prstGeom prst="rect">
            <a:avLst/>
          </a:prstGeom>
          <a:noFill/>
          <a:ln/>
        </p:spPr>
        <p:txBody>
          <a:bodyPr wrap="square" lIns="0" tIns="0" rIns="0" bIns="0" rtlCol="0" anchor="ctr"/>
          <a:lstStyle/>
          <a:p>
            <a:pPr indent="0" marL="0">
              <a:buNone/>
            </a:pPr>
            <a:r>
              <a:rPr lang="en-US" sz="1300" b="1" i="1" dirty="0">
                <a:solidFill>
                  <a:srgbClr val="1A1D26"/>
                </a:solidFill>
                <a:latin typeface="Calibri" pitchFamily="34" charset="0"/>
                <a:ea typeface="Calibri" pitchFamily="34" charset="-122"/>
                <a:cs typeface="Calibri" pitchFamily="34" charset="-120"/>
              </a:rPr>
              <a:t>What does "done" actually mean?</a:t>
            </a:r>
            <a:endParaRPr lang="en-US" sz="1300" dirty="0"/>
          </a:p>
        </p:txBody>
      </p:sp>
      <p:sp>
        <p:nvSpPr>
          <p:cNvPr id="8" name="Text 6"/>
          <p:cNvSpPr/>
          <p:nvPr/>
        </p:nvSpPr>
        <p:spPr>
          <a:xfrm>
            <a:off x="868680" y="2788920"/>
            <a:ext cx="3200400" cy="1234440"/>
          </a:xfrm>
          <a:prstGeom prst="rect">
            <a:avLst/>
          </a:prstGeom>
          <a:noFill/>
          <a:ln/>
        </p:spPr>
        <p:txBody>
          <a:bodyPr wrap="square" lIns="0" tIns="0" rIns="0" bIns="0" rtlCol="0" anchor="ctr"/>
          <a:lstStyle/>
          <a:p>
            <a:pPr indent="0" marL="0">
              <a:lnSpc>
                <a:spcPct val="130000"/>
              </a:lnSpc>
              <a:buNone/>
            </a:pPr>
            <a:r>
              <a:rPr lang="en-US" sz="1250" dirty="0">
                <a:solidFill>
                  <a:srgbClr val="5B6072"/>
                </a:solidFill>
                <a:latin typeface="Calibri" pitchFamily="34" charset="0"/>
                <a:ea typeface="Calibri" pitchFamily="34" charset="-122"/>
                <a:cs typeface="Calibri" pitchFamily="34" charset="-120"/>
              </a:rPr>
              <a:t>State the end result as objectively as possible — a metric, not a feeling. "Iterate until X equals Y" beats "keep going until it looks good."</a:t>
            </a:r>
            <a:endParaRPr lang="en-US" sz="1250" dirty="0"/>
          </a:p>
        </p:txBody>
      </p:sp>
      <p:sp>
        <p:nvSpPr>
          <p:cNvPr id="9" name="Shape 7"/>
          <p:cNvSpPr/>
          <p:nvPr/>
        </p:nvSpPr>
        <p:spPr>
          <a:xfrm>
            <a:off x="4754880" y="1554480"/>
            <a:ext cx="3840480" cy="2651760"/>
          </a:xfrm>
          <a:prstGeom prst="rect">
            <a:avLst/>
          </a:prstGeom>
          <a:solidFill>
            <a:srgbClr val="E2F3E8"/>
          </a:solidFill>
          <a:ln/>
        </p:spPr>
      </p:sp>
      <p:sp>
        <p:nvSpPr>
          <p:cNvPr id="10" name="Shape 8"/>
          <p:cNvSpPr/>
          <p:nvPr/>
        </p:nvSpPr>
        <p:spPr>
          <a:xfrm>
            <a:off x="4754880" y="1554480"/>
            <a:ext cx="3840480" cy="73152"/>
          </a:xfrm>
          <a:prstGeom prst="rect">
            <a:avLst/>
          </a:prstGeom>
          <a:solidFill>
            <a:srgbClr val="1E6B3E"/>
          </a:solidFill>
          <a:ln/>
        </p:spPr>
      </p:sp>
      <p:sp>
        <p:nvSpPr>
          <p:cNvPr id="11" name="Text 9"/>
          <p:cNvSpPr/>
          <p:nvPr/>
        </p:nvSpPr>
        <p:spPr>
          <a:xfrm>
            <a:off x="5074920" y="1874520"/>
            <a:ext cx="3200400" cy="411480"/>
          </a:xfrm>
          <a:prstGeom prst="rect">
            <a:avLst/>
          </a:prstGeom>
          <a:noFill/>
          <a:ln/>
        </p:spPr>
        <p:txBody>
          <a:bodyPr wrap="square" lIns="0" tIns="0" rIns="0" bIns="0" rtlCol="0" anchor="ctr"/>
          <a:lstStyle/>
          <a:p>
            <a:pPr indent="0" marL="0">
              <a:buNone/>
            </a:pPr>
            <a:r>
              <a:rPr lang="en-US" sz="2000" b="1" dirty="0">
                <a:solidFill>
                  <a:srgbClr val="1E6B3E"/>
                </a:solidFill>
                <a:latin typeface="Calibri" pitchFamily="34" charset="0"/>
                <a:ea typeface="Calibri" pitchFamily="34" charset="-122"/>
                <a:cs typeface="Calibri" pitchFamily="34" charset="-120"/>
              </a:rPr>
              <a:t>The verification</a:t>
            </a:r>
            <a:endParaRPr lang="en-US" sz="2000" dirty="0"/>
          </a:p>
        </p:txBody>
      </p:sp>
      <p:sp>
        <p:nvSpPr>
          <p:cNvPr id="12" name="Text 10"/>
          <p:cNvSpPr/>
          <p:nvPr/>
        </p:nvSpPr>
        <p:spPr>
          <a:xfrm>
            <a:off x="5074920" y="2331720"/>
            <a:ext cx="3200400" cy="365760"/>
          </a:xfrm>
          <a:prstGeom prst="rect">
            <a:avLst/>
          </a:prstGeom>
          <a:noFill/>
          <a:ln/>
        </p:spPr>
        <p:txBody>
          <a:bodyPr wrap="square" lIns="0" tIns="0" rIns="0" bIns="0" rtlCol="0" anchor="ctr"/>
          <a:lstStyle/>
          <a:p>
            <a:pPr indent="0" marL="0">
              <a:buNone/>
            </a:pPr>
            <a:r>
              <a:rPr lang="en-US" sz="1300" b="1" i="1" dirty="0">
                <a:solidFill>
                  <a:srgbClr val="1A1D26"/>
                </a:solidFill>
                <a:latin typeface="Calibri" pitchFamily="34" charset="0"/>
                <a:ea typeface="Calibri" pitchFamily="34" charset="-122"/>
                <a:cs typeface="Calibri" pitchFamily="34" charset="-120"/>
              </a:rPr>
              <a:t>How does it check that?</a:t>
            </a:r>
            <a:endParaRPr lang="en-US" sz="1300" dirty="0"/>
          </a:p>
        </p:txBody>
      </p:sp>
      <p:sp>
        <p:nvSpPr>
          <p:cNvPr id="13" name="Text 11"/>
          <p:cNvSpPr/>
          <p:nvPr/>
        </p:nvSpPr>
        <p:spPr>
          <a:xfrm>
            <a:off x="5074920" y="2788920"/>
            <a:ext cx="3200400" cy="1234440"/>
          </a:xfrm>
          <a:prstGeom prst="rect">
            <a:avLst/>
          </a:prstGeom>
          <a:noFill/>
          <a:ln/>
        </p:spPr>
        <p:txBody>
          <a:bodyPr wrap="square" lIns="0" tIns="0" rIns="0" bIns="0" rtlCol="0" anchor="ctr"/>
          <a:lstStyle/>
          <a:p>
            <a:pPr indent="0" marL="0">
              <a:lnSpc>
                <a:spcPct val="130000"/>
              </a:lnSpc>
              <a:buNone/>
            </a:pPr>
            <a:r>
              <a:rPr lang="en-US" sz="1250" dirty="0">
                <a:solidFill>
                  <a:srgbClr val="5B6072"/>
                </a:solidFill>
                <a:latin typeface="Calibri" pitchFamily="34" charset="0"/>
                <a:ea typeface="Calibri" pitchFamily="34" charset="-122"/>
                <a:cs typeface="Calibri" pitchFamily="34" charset="-120"/>
              </a:rPr>
              <a:t>Define exactly how the loop tests its own work — a screenshot comparison, a passing test, a rubric score. No check, no real stop condition.</a:t>
            </a:r>
            <a:endParaRPr lang="en-US" sz="1250" dirty="0"/>
          </a:p>
        </p:txBody>
      </p:sp>
      <p:sp>
        <p:nvSpPr>
          <p:cNvPr id="14" name="Text 12"/>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WHERE LOOPS ACTUALLY FIT</a:t>
            </a:r>
            <a:endParaRPr lang="en-US" sz="1200" dirty="0"/>
          </a:p>
        </p:txBody>
      </p:sp>
      <p:sp>
        <p:nvSpPr>
          <p:cNvPr id="3" name="Text 1"/>
          <p:cNvSpPr/>
          <p:nvPr/>
        </p:nvSpPr>
        <p:spPr>
          <a:xfrm>
            <a:off x="548640" y="731520"/>
            <a:ext cx="8046720" cy="502920"/>
          </a:xfrm>
          <a:prstGeom prst="rect">
            <a:avLst/>
          </a:prstGeom>
          <a:noFill/>
          <a:ln/>
        </p:spPr>
        <p:txBody>
          <a:bodyPr wrap="square" lIns="0" tIns="0" rIns="0" bIns="0" rtlCol="0" anchor="ctr"/>
          <a:lstStyle/>
          <a:p>
            <a:pPr indent="0" marL="0">
              <a:buNone/>
            </a:pPr>
            <a:r>
              <a:rPr lang="en-US" sz="2600" b="1" dirty="0">
                <a:solidFill>
                  <a:srgbClr val="1A1D26"/>
                </a:solidFill>
                <a:latin typeface="Calibri" pitchFamily="34" charset="0"/>
                <a:ea typeface="Calibri" pitchFamily="34" charset="-122"/>
                <a:cs typeface="Calibri" pitchFamily="34" charset="-120"/>
              </a:rPr>
              <a:t>Most tasks don’t need a loop</a:t>
            </a:r>
            <a:endParaRPr lang="en-US" sz="2600" dirty="0"/>
          </a:p>
        </p:txBody>
      </p:sp>
      <p:sp>
        <p:nvSpPr>
          <p:cNvPr id="4" name="Text 2"/>
          <p:cNvSpPr/>
          <p:nvPr/>
        </p:nvSpPr>
        <p:spPr>
          <a:xfrm>
            <a:off x="548640" y="1234440"/>
            <a:ext cx="8046720" cy="457200"/>
          </a:xfrm>
          <a:prstGeom prst="rect">
            <a:avLst/>
          </a:prstGeom>
          <a:noFill/>
          <a:ln/>
        </p:spPr>
        <p:txBody>
          <a:bodyPr wrap="square" lIns="0" tIns="0" rIns="0" bIns="0" rtlCol="0" anchor="ctr"/>
          <a:lstStyle/>
          <a:p>
            <a:pPr indent="0" marL="0">
              <a:lnSpc>
                <a:spcPct val="125000"/>
              </a:lnSpc>
              <a:buNone/>
            </a:pPr>
            <a:r>
              <a:rPr lang="en-US" sz="1250" dirty="0">
                <a:solidFill>
                  <a:srgbClr val="5B6072"/>
                </a:solidFill>
                <a:latin typeface="Calibri" pitchFamily="34" charset="0"/>
                <a:ea typeface="Calibri" pitchFamily="34" charset="-122"/>
                <a:cs typeface="Calibri" pitchFamily="34" charset="-120"/>
              </a:rPr>
              <a:t>A loop is worth the setup only when a couple of things are true. Run your task down this ladder before you build anything.</a:t>
            </a:r>
            <a:endParaRPr lang="en-US" sz="1250" dirty="0"/>
          </a:p>
        </p:txBody>
      </p:sp>
      <p:sp>
        <p:nvSpPr>
          <p:cNvPr id="5" name="Shape 3"/>
          <p:cNvSpPr/>
          <p:nvPr/>
        </p:nvSpPr>
        <p:spPr>
          <a:xfrm>
            <a:off x="457200" y="1645920"/>
            <a:ext cx="8229600" cy="2880360"/>
          </a:xfrm>
          <a:prstGeom prst="rect">
            <a:avLst/>
          </a:prstGeom>
          <a:solidFill>
            <a:srgbClr val="F7F8FB"/>
          </a:solidFill>
          <a:ln w="12700">
            <a:solidFill>
              <a:srgbClr val="D9DCE6"/>
            </a:solidFill>
            <a:prstDash val="solid"/>
          </a:ln>
        </p:spPr>
      </p:sp>
      <p:sp>
        <p:nvSpPr>
          <p:cNvPr id="6" name="Shape 4"/>
          <p:cNvSpPr/>
          <p:nvPr/>
        </p:nvSpPr>
        <p:spPr>
          <a:xfrm>
            <a:off x="2880360" y="1792224"/>
            <a:ext cx="2560320" cy="384048"/>
          </a:xfrm>
          <a:prstGeom prst="roundRect">
            <a:avLst>
              <a:gd name="adj" fmla="val 19048"/>
            </a:avLst>
          </a:prstGeom>
          <a:solidFill>
            <a:srgbClr val="1B2A57"/>
          </a:solidFill>
          <a:ln/>
        </p:spPr>
      </p:sp>
      <p:sp>
        <p:nvSpPr>
          <p:cNvPr id="7" name="Text 5"/>
          <p:cNvSpPr/>
          <p:nvPr/>
        </p:nvSpPr>
        <p:spPr>
          <a:xfrm>
            <a:off x="2880360" y="1792224"/>
            <a:ext cx="25603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Your task</a:t>
            </a:r>
            <a:endParaRPr lang="en-US" sz="1300" dirty="0"/>
          </a:p>
        </p:txBody>
      </p:sp>
      <p:sp>
        <p:nvSpPr>
          <p:cNvPr id="8" name="Shape 6"/>
          <p:cNvSpPr/>
          <p:nvPr/>
        </p:nvSpPr>
        <p:spPr>
          <a:xfrm>
            <a:off x="4160520" y="2176272"/>
            <a:ext cx="0" cy="128016"/>
          </a:xfrm>
          <a:prstGeom prst="line">
            <a:avLst/>
          </a:prstGeom>
          <a:noFill/>
          <a:ln w="19050">
            <a:solidFill>
              <a:srgbClr val="5B6072"/>
            </a:solidFill>
            <a:prstDash val="solid"/>
            <a:tailEnd type="triangle"/>
          </a:ln>
        </p:spPr>
      </p:sp>
      <p:sp>
        <p:nvSpPr>
          <p:cNvPr id="9" name="Shape 7"/>
          <p:cNvSpPr/>
          <p:nvPr/>
        </p:nvSpPr>
        <p:spPr>
          <a:xfrm>
            <a:off x="2606040" y="2304288"/>
            <a:ext cx="3108960" cy="566928"/>
          </a:xfrm>
          <a:prstGeom prst="diamond">
            <a:avLst/>
          </a:prstGeom>
          <a:solidFill>
            <a:srgbClr val="E8EEFC"/>
          </a:solidFill>
          <a:ln w="19050">
            <a:solidFill>
              <a:srgbClr val="2F5FDE"/>
            </a:solidFill>
            <a:prstDash val="solid"/>
          </a:ln>
        </p:spPr>
      </p:sp>
      <p:sp>
        <p:nvSpPr>
          <p:cNvPr id="10" name="Text 8"/>
          <p:cNvSpPr/>
          <p:nvPr/>
        </p:nvSpPr>
        <p:spPr>
          <a:xfrm>
            <a:off x="2697480" y="2304288"/>
            <a:ext cx="2926080" cy="566928"/>
          </a:xfrm>
          <a:prstGeom prst="rect">
            <a:avLst/>
          </a:prstGeom>
          <a:noFill/>
          <a:ln/>
        </p:spPr>
        <p:txBody>
          <a:bodyPr wrap="square" lIns="0" tIns="0" rIns="0" bIns="0" rtlCol="0" anchor="ctr"/>
          <a:lstStyle/>
          <a:p>
            <a:pPr algn="ctr" indent="0" marL="0">
              <a:lnSpc>
                <a:spcPct val="110000"/>
              </a:lnSpc>
              <a:buNone/>
            </a:pPr>
            <a:r>
              <a:rPr lang="en-US" sz="1100" b="1" dirty="0">
                <a:solidFill>
                  <a:srgbClr val="1B2A57"/>
                </a:solidFill>
                <a:latin typeface="Calibri" pitchFamily="34" charset="0"/>
                <a:ea typeface="Calibri" pitchFamily="34" charset="-122"/>
                <a:cs typeface="Calibri" pitchFamily="34" charset="-120"/>
              </a:rPr>
              <a:t>Does it repeat, or take</a:t>
            </a:r>
            <a:endParaRPr lang="en-US" sz="1100" dirty="0"/>
          </a:p>
          <a:p>
            <a:pPr algn="ctr" indent="0" marL="0">
              <a:lnSpc>
                <a:spcPct val="110000"/>
              </a:lnSpc>
              <a:buNone/>
            </a:pPr>
            <a:r>
              <a:rPr lang="en-US" sz="1100" b="1" dirty="0">
                <a:solidFill>
                  <a:srgbClr val="1B2A57"/>
                </a:solidFill>
                <a:latin typeface="Calibri" pitchFamily="34" charset="0"/>
                <a:ea typeface="Calibri" pitchFamily="34" charset="-122"/>
                <a:cs typeface="Calibri" pitchFamily="34" charset="-120"/>
              </a:rPr>
              <a:t>many unknown steps?</a:t>
            </a:r>
            <a:endParaRPr lang="en-US" sz="1100" dirty="0"/>
          </a:p>
        </p:txBody>
      </p:sp>
      <p:sp>
        <p:nvSpPr>
          <p:cNvPr id="11" name="Shape 9"/>
          <p:cNvSpPr/>
          <p:nvPr/>
        </p:nvSpPr>
        <p:spPr>
          <a:xfrm>
            <a:off x="5715000" y="2587752"/>
            <a:ext cx="1188720" cy="0"/>
          </a:xfrm>
          <a:prstGeom prst="line">
            <a:avLst/>
          </a:prstGeom>
          <a:noFill/>
          <a:ln w="19050">
            <a:solidFill>
              <a:srgbClr val="5B6072"/>
            </a:solidFill>
            <a:prstDash val="solid"/>
            <a:tailEnd type="triangle"/>
          </a:ln>
        </p:spPr>
      </p:sp>
      <p:sp>
        <p:nvSpPr>
          <p:cNvPr id="12" name="Text 10"/>
          <p:cNvSpPr/>
          <p:nvPr/>
        </p:nvSpPr>
        <p:spPr>
          <a:xfrm>
            <a:off x="5852160" y="2295144"/>
            <a:ext cx="365760" cy="228600"/>
          </a:xfrm>
          <a:prstGeom prst="rect">
            <a:avLst/>
          </a:prstGeom>
          <a:noFill/>
          <a:ln/>
        </p:spPr>
        <p:txBody>
          <a:bodyPr wrap="square" lIns="0" tIns="0" rIns="0" bIns="0" rtlCol="0" anchor="ctr"/>
          <a:lstStyle/>
          <a:p>
            <a:pPr indent="0" marL="0">
              <a:buNone/>
            </a:pPr>
            <a:r>
              <a:rPr lang="en-US" sz="950" dirty="0">
                <a:solidFill>
                  <a:srgbClr val="5B6072"/>
                </a:solidFill>
                <a:latin typeface="Calibri" pitchFamily="34" charset="0"/>
                <a:ea typeface="Calibri" pitchFamily="34" charset="-122"/>
                <a:cs typeface="Calibri" pitchFamily="34" charset="-120"/>
              </a:rPr>
              <a:t>no</a:t>
            </a:r>
            <a:endParaRPr lang="en-US" sz="950" dirty="0"/>
          </a:p>
        </p:txBody>
      </p:sp>
      <p:sp>
        <p:nvSpPr>
          <p:cNvPr id="13" name="Shape 11"/>
          <p:cNvSpPr/>
          <p:nvPr/>
        </p:nvSpPr>
        <p:spPr>
          <a:xfrm>
            <a:off x="6903720" y="2267712"/>
            <a:ext cx="1600200" cy="640080"/>
          </a:xfrm>
          <a:prstGeom prst="rect">
            <a:avLst/>
          </a:prstGeom>
          <a:solidFill>
            <a:srgbClr val="EDEEF2"/>
          </a:solidFill>
          <a:ln/>
        </p:spPr>
      </p:sp>
      <p:sp>
        <p:nvSpPr>
          <p:cNvPr id="14" name="Text 12"/>
          <p:cNvSpPr/>
          <p:nvPr/>
        </p:nvSpPr>
        <p:spPr>
          <a:xfrm>
            <a:off x="7013448" y="2267712"/>
            <a:ext cx="1380744" cy="640080"/>
          </a:xfrm>
          <a:prstGeom prst="rect">
            <a:avLst/>
          </a:prstGeom>
          <a:noFill/>
          <a:ln/>
        </p:spPr>
        <p:txBody>
          <a:bodyPr wrap="square" lIns="0" tIns="0" rIns="0" bIns="0" rtlCol="0" anchor="ctr"/>
          <a:lstStyle/>
          <a:p>
            <a:pPr algn="l" indent="0" marL="0">
              <a:lnSpc>
                <a:spcPct val="110000"/>
              </a:lnSpc>
              <a:buNone/>
            </a:pPr>
            <a:r>
              <a:rPr lang="en-US" sz="1050" b="1" dirty="0">
                <a:solidFill>
                  <a:srgbClr val="1A1D26"/>
                </a:solidFill>
                <a:latin typeface="Calibri" pitchFamily="34" charset="0"/>
                <a:ea typeface="Calibri" pitchFamily="34" charset="-122"/>
                <a:cs typeface="Calibri" pitchFamily="34" charset="-120"/>
              </a:rPr>
              <a:t>Just prompt it</a:t>
            </a:r>
            <a:endParaRPr lang="en-US" sz="1050" dirty="0"/>
          </a:p>
          <a:p>
            <a:pPr algn="l" indent="0" marL="0">
              <a:lnSpc>
                <a:spcPct val="110000"/>
              </a:lnSpc>
              <a:buNone/>
            </a:pPr>
            <a:r>
              <a:rPr lang="en-US" sz="850" dirty="0">
                <a:solidFill>
                  <a:srgbClr val="5B6072"/>
                </a:solidFill>
                <a:latin typeface="Calibri" pitchFamily="34" charset="0"/>
                <a:ea typeface="Calibri" pitchFamily="34" charset="-122"/>
                <a:cs typeface="Calibri" pitchFamily="34" charset="-120"/>
              </a:rPr>
              <a:t>one shot is faster</a:t>
            </a:r>
            <a:endParaRPr lang="en-US" sz="1050" dirty="0"/>
          </a:p>
        </p:txBody>
      </p:sp>
      <p:sp>
        <p:nvSpPr>
          <p:cNvPr id="15" name="Shape 13"/>
          <p:cNvSpPr/>
          <p:nvPr/>
        </p:nvSpPr>
        <p:spPr>
          <a:xfrm>
            <a:off x="4160520" y="2871216"/>
            <a:ext cx="0" cy="128016"/>
          </a:xfrm>
          <a:prstGeom prst="line">
            <a:avLst/>
          </a:prstGeom>
          <a:noFill/>
          <a:ln w="19050">
            <a:solidFill>
              <a:srgbClr val="2F5FDE"/>
            </a:solidFill>
            <a:prstDash val="solid"/>
            <a:tailEnd type="triangle"/>
          </a:ln>
        </p:spPr>
      </p:sp>
      <p:sp>
        <p:nvSpPr>
          <p:cNvPr id="16" name="Text 14"/>
          <p:cNvSpPr/>
          <p:nvPr/>
        </p:nvSpPr>
        <p:spPr>
          <a:xfrm>
            <a:off x="4251960" y="2843784"/>
            <a:ext cx="365760" cy="182880"/>
          </a:xfrm>
          <a:prstGeom prst="rect">
            <a:avLst/>
          </a:prstGeom>
          <a:noFill/>
          <a:ln/>
        </p:spPr>
        <p:txBody>
          <a:bodyPr wrap="square" lIns="0" tIns="0" rIns="0" bIns="0" rtlCol="0" anchor="ctr"/>
          <a:lstStyle/>
          <a:p>
            <a:pPr indent="0" marL="0">
              <a:buNone/>
            </a:pPr>
            <a:r>
              <a:rPr lang="en-US" sz="950" dirty="0">
                <a:solidFill>
                  <a:srgbClr val="2F5FDE"/>
                </a:solidFill>
                <a:latin typeface="Calibri" pitchFamily="34" charset="0"/>
                <a:ea typeface="Calibri" pitchFamily="34" charset="-122"/>
                <a:cs typeface="Calibri" pitchFamily="34" charset="-120"/>
              </a:rPr>
              <a:t>yes</a:t>
            </a:r>
            <a:endParaRPr lang="en-US" sz="950" dirty="0"/>
          </a:p>
        </p:txBody>
      </p:sp>
      <p:sp>
        <p:nvSpPr>
          <p:cNvPr id="17" name="Shape 15"/>
          <p:cNvSpPr/>
          <p:nvPr/>
        </p:nvSpPr>
        <p:spPr>
          <a:xfrm>
            <a:off x="2606040" y="2999232"/>
            <a:ext cx="3108960" cy="841248"/>
          </a:xfrm>
          <a:prstGeom prst="diamond">
            <a:avLst/>
          </a:prstGeom>
          <a:solidFill>
            <a:srgbClr val="E8EEFC"/>
          </a:solidFill>
          <a:ln w="19050">
            <a:solidFill>
              <a:srgbClr val="2F5FDE"/>
            </a:solidFill>
            <a:prstDash val="solid"/>
          </a:ln>
        </p:spPr>
      </p:sp>
      <p:sp>
        <p:nvSpPr>
          <p:cNvPr id="18" name="Text 16"/>
          <p:cNvSpPr/>
          <p:nvPr/>
        </p:nvSpPr>
        <p:spPr>
          <a:xfrm>
            <a:off x="3063240" y="3072384"/>
            <a:ext cx="2194560" cy="694944"/>
          </a:xfrm>
          <a:prstGeom prst="rect">
            <a:avLst/>
          </a:prstGeom>
          <a:noFill/>
          <a:ln/>
        </p:spPr>
        <p:txBody>
          <a:bodyPr wrap="square" lIns="0" tIns="0" rIns="0" bIns="0" rtlCol="0" anchor="ctr"/>
          <a:lstStyle/>
          <a:p>
            <a:pPr algn="ctr" indent="0" marL="0">
              <a:lnSpc>
                <a:spcPct val="105000"/>
              </a:lnSpc>
              <a:buNone/>
            </a:pPr>
            <a:r>
              <a:rPr lang="en-US" sz="1050" b="1" dirty="0">
                <a:solidFill>
                  <a:srgbClr val="1B2A57"/>
                </a:solidFill>
                <a:latin typeface="Calibri" pitchFamily="34" charset="0"/>
                <a:ea typeface="Calibri" pitchFamily="34" charset="-122"/>
                <a:cs typeface="Calibri" pitchFamily="34" charset="-120"/>
              </a:rPr>
              <a:t>Can the AI check "done"</a:t>
            </a:r>
            <a:endParaRPr lang="en-US" sz="1050" dirty="0"/>
          </a:p>
          <a:p>
            <a:pPr algn="ctr" indent="0" marL="0">
              <a:lnSpc>
                <a:spcPct val="105000"/>
              </a:lnSpc>
              <a:buNone/>
            </a:pPr>
            <a:r>
              <a:rPr lang="en-US" sz="1050" b="1" dirty="0">
                <a:solidFill>
                  <a:srgbClr val="1B2A57"/>
                </a:solidFill>
                <a:latin typeface="Calibri" pitchFamily="34" charset="0"/>
                <a:ea typeface="Calibri" pitchFamily="34" charset="-122"/>
                <a:cs typeface="Calibri" pitchFamily="34" charset="-120"/>
              </a:rPr>
              <a:t>by itself?</a:t>
            </a:r>
            <a:endParaRPr lang="en-US" sz="1050" dirty="0"/>
          </a:p>
          <a:p>
            <a:pPr algn="ctr" indent="0" marL="0">
              <a:lnSpc>
                <a:spcPct val="105000"/>
              </a:lnSpc>
              <a:buNone/>
            </a:pPr>
            <a:r>
              <a:rPr lang="en-US" sz="750" i="1" dirty="0">
                <a:solidFill>
                  <a:srgbClr val="1B2A57"/>
                </a:solidFill>
                <a:latin typeface="Calibri" pitchFamily="34" charset="0"/>
                <a:ea typeface="Calibri" pitchFamily="34" charset="-122"/>
                <a:cs typeface="Calibri" pitchFamily="34" charset="-120"/>
              </a:rPr>
              <a:t>e.g. run the tests, count the words</a:t>
            </a:r>
            <a:endParaRPr lang="en-US" sz="1050" dirty="0"/>
          </a:p>
        </p:txBody>
      </p:sp>
      <p:sp>
        <p:nvSpPr>
          <p:cNvPr id="19" name="Shape 17"/>
          <p:cNvSpPr/>
          <p:nvPr/>
        </p:nvSpPr>
        <p:spPr>
          <a:xfrm>
            <a:off x="5715000" y="3419856"/>
            <a:ext cx="1188720" cy="0"/>
          </a:xfrm>
          <a:prstGeom prst="line">
            <a:avLst/>
          </a:prstGeom>
          <a:noFill/>
          <a:ln w="19050">
            <a:solidFill>
              <a:srgbClr val="B23A48"/>
            </a:solidFill>
            <a:prstDash val="solid"/>
            <a:tailEnd type="triangle"/>
          </a:ln>
        </p:spPr>
      </p:sp>
      <p:sp>
        <p:nvSpPr>
          <p:cNvPr id="20" name="Text 18"/>
          <p:cNvSpPr/>
          <p:nvPr/>
        </p:nvSpPr>
        <p:spPr>
          <a:xfrm>
            <a:off x="5852160" y="3127248"/>
            <a:ext cx="365760" cy="228600"/>
          </a:xfrm>
          <a:prstGeom prst="rect">
            <a:avLst/>
          </a:prstGeom>
          <a:noFill/>
          <a:ln/>
        </p:spPr>
        <p:txBody>
          <a:bodyPr wrap="square" lIns="0" tIns="0" rIns="0" bIns="0" rtlCol="0" anchor="ctr"/>
          <a:lstStyle/>
          <a:p>
            <a:pPr indent="0" marL="0">
              <a:buNone/>
            </a:pPr>
            <a:r>
              <a:rPr lang="en-US" sz="950" dirty="0">
                <a:solidFill>
                  <a:srgbClr val="B23A48"/>
                </a:solidFill>
                <a:latin typeface="Calibri" pitchFamily="34" charset="0"/>
                <a:ea typeface="Calibri" pitchFamily="34" charset="-122"/>
                <a:cs typeface="Calibri" pitchFamily="34" charset="-120"/>
              </a:rPr>
              <a:t>no</a:t>
            </a:r>
            <a:endParaRPr lang="en-US" sz="950" dirty="0"/>
          </a:p>
        </p:txBody>
      </p:sp>
      <p:sp>
        <p:nvSpPr>
          <p:cNvPr id="21" name="Shape 19"/>
          <p:cNvSpPr/>
          <p:nvPr/>
        </p:nvSpPr>
        <p:spPr>
          <a:xfrm>
            <a:off x="6903720" y="3099816"/>
            <a:ext cx="1600200" cy="640080"/>
          </a:xfrm>
          <a:prstGeom prst="rect">
            <a:avLst/>
          </a:prstGeom>
          <a:solidFill>
            <a:srgbClr val="F7E4E7"/>
          </a:solidFill>
          <a:ln/>
        </p:spPr>
      </p:sp>
      <p:sp>
        <p:nvSpPr>
          <p:cNvPr id="22" name="Text 20"/>
          <p:cNvSpPr/>
          <p:nvPr/>
        </p:nvSpPr>
        <p:spPr>
          <a:xfrm>
            <a:off x="7013448" y="3099816"/>
            <a:ext cx="1380744" cy="640080"/>
          </a:xfrm>
          <a:prstGeom prst="rect">
            <a:avLst/>
          </a:prstGeom>
          <a:noFill/>
          <a:ln/>
        </p:spPr>
        <p:txBody>
          <a:bodyPr wrap="square" lIns="0" tIns="0" rIns="0" bIns="0" rtlCol="0" anchor="ctr"/>
          <a:lstStyle/>
          <a:p>
            <a:pPr algn="l" indent="0" marL="0">
              <a:lnSpc>
                <a:spcPct val="105000"/>
              </a:lnSpc>
              <a:buNone/>
            </a:pPr>
            <a:r>
              <a:rPr lang="en-US" sz="1000" b="1" dirty="0">
                <a:solidFill>
                  <a:srgbClr val="9C3040"/>
                </a:solidFill>
                <a:latin typeface="Calibri" pitchFamily="34" charset="0"/>
                <a:ea typeface="Calibri" pitchFamily="34" charset="-122"/>
                <a:cs typeface="Calibri" pitchFamily="34" charset="-120"/>
              </a:rPr>
              <a:t>Do it yourself</a:t>
            </a:r>
            <a:endParaRPr lang="en-US" sz="1000" dirty="0"/>
          </a:p>
          <a:p>
            <a:pPr algn="l" indent="0" marL="0">
              <a:lnSpc>
                <a:spcPct val="105000"/>
              </a:lnSpc>
              <a:buNone/>
            </a:pPr>
            <a:r>
              <a:rPr lang="en-US" sz="850" dirty="0">
                <a:solidFill>
                  <a:srgbClr val="9C3040"/>
                </a:solidFill>
                <a:latin typeface="Calibri" pitchFamily="34" charset="0"/>
                <a:ea typeface="Calibri" pitchFamily="34" charset="-122"/>
                <a:cs typeface="Calibri" pitchFamily="34" charset="-120"/>
              </a:rPr>
              <a:t>it can’t tell when</a:t>
            </a:r>
            <a:endParaRPr lang="en-US" sz="1000" dirty="0"/>
          </a:p>
          <a:p>
            <a:pPr algn="l" indent="0" marL="0">
              <a:lnSpc>
                <a:spcPct val="105000"/>
              </a:lnSpc>
              <a:buNone/>
            </a:pPr>
            <a:r>
              <a:rPr lang="en-US" sz="850" dirty="0">
                <a:solidFill>
                  <a:srgbClr val="9C3040"/>
                </a:solidFill>
                <a:latin typeface="Calibri" pitchFamily="34" charset="0"/>
                <a:ea typeface="Calibri" pitchFamily="34" charset="-122"/>
                <a:cs typeface="Calibri" pitchFamily="34" charset="-120"/>
              </a:rPr>
              <a:t>it’s done yet</a:t>
            </a:r>
            <a:endParaRPr lang="en-US" sz="1000" dirty="0"/>
          </a:p>
        </p:txBody>
      </p:sp>
      <p:sp>
        <p:nvSpPr>
          <p:cNvPr id="23" name="Shape 21"/>
          <p:cNvSpPr/>
          <p:nvPr/>
        </p:nvSpPr>
        <p:spPr>
          <a:xfrm>
            <a:off x="4160520" y="3840480"/>
            <a:ext cx="0" cy="128016"/>
          </a:xfrm>
          <a:prstGeom prst="line">
            <a:avLst/>
          </a:prstGeom>
          <a:noFill/>
          <a:ln w="19050">
            <a:solidFill>
              <a:srgbClr val="2F9E5B"/>
            </a:solidFill>
            <a:prstDash val="solid"/>
            <a:tailEnd type="triangle"/>
          </a:ln>
        </p:spPr>
      </p:sp>
      <p:sp>
        <p:nvSpPr>
          <p:cNvPr id="24" name="Text 22"/>
          <p:cNvSpPr/>
          <p:nvPr/>
        </p:nvSpPr>
        <p:spPr>
          <a:xfrm>
            <a:off x="4251960" y="3794760"/>
            <a:ext cx="365760" cy="182880"/>
          </a:xfrm>
          <a:prstGeom prst="rect">
            <a:avLst/>
          </a:prstGeom>
          <a:noFill/>
          <a:ln/>
        </p:spPr>
        <p:txBody>
          <a:bodyPr wrap="square" lIns="0" tIns="0" rIns="0" bIns="0" rtlCol="0" anchor="ctr"/>
          <a:lstStyle/>
          <a:p>
            <a:pPr indent="0" marL="0">
              <a:buNone/>
            </a:pPr>
            <a:r>
              <a:rPr lang="en-US" sz="950" dirty="0">
                <a:solidFill>
                  <a:srgbClr val="2F9E5B"/>
                </a:solidFill>
                <a:latin typeface="Calibri" pitchFamily="34" charset="0"/>
                <a:ea typeface="Calibri" pitchFamily="34" charset="-122"/>
                <a:cs typeface="Calibri" pitchFamily="34" charset="-120"/>
              </a:rPr>
              <a:t>yes</a:t>
            </a:r>
            <a:endParaRPr lang="en-US" sz="950" dirty="0"/>
          </a:p>
        </p:txBody>
      </p:sp>
      <p:sp>
        <p:nvSpPr>
          <p:cNvPr id="25" name="Shape 23"/>
          <p:cNvSpPr/>
          <p:nvPr/>
        </p:nvSpPr>
        <p:spPr>
          <a:xfrm>
            <a:off x="2788920" y="3968496"/>
            <a:ext cx="2743200" cy="365760"/>
          </a:xfrm>
          <a:prstGeom prst="roundRect">
            <a:avLst>
              <a:gd name="adj" fmla="val 20000"/>
            </a:avLst>
          </a:prstGeom>
          <a:solidFill>
            <a:srgbClr val="E2F3E8"/>
          </a:solidFill>
          <a:ln w="19050">
            <a:solidFill>
              <a:srgbClr val="2F9E5B"/>
            </a:solidFill>
            <a:prstDash val="solid"/>
          </a:ln>
        </p:spPr>
      </p:sp>
      <p:sp>
        <p:nvSpPr>
          <p:cNvPr id="26" name="Text 24"/>
          <p:cNvSpPr/>
          <p:nvPr/>
        </p:nvSpPr>
        <p:spPr>
          <a:xfrm>
            <a:off x="2788920" y="3968496"/>
            <a:ext cx="2743200" cy="365760"/>
          </a:xfrm>
          <a:prstGeom prst="rect">
            <a:avLst/>
          </a:prstGeom>
          <a:noFill/>
          <a:ln/>
        </p:spPr>
        <p:txBody>
          <a:bodyPr wrap="square" lIns="0" tIns="0" rIns="0" bIns="0" rtlCol="0" anchor="ctr"/>
          <a:lstStyle/>
          <a:p>
            <a:pPr algn="ctr" indent="0" marL="0">
              <a:buNone/>
            </a:pPr>
            <a:r>
              <a:rPr lang="en-US" sz="1300" b="1" dirty="0">
                <a:solidFill>
                  <a:srgbClr val="1E6B3E"/>
                </a:solidFill>
                <a:latin typeface="Calibri" pitchFamily="34" charset="0"/>
                <a:ea typeface="Calibri" pitchFamily="34" charset="-122"/>
                <a:cs typeface="Calibri" pitchFamily="34" charset="-120"/>
              </a:rPr>
              <a:t>✓ Build a loop</a:t>
            </a:r>
            <a:endParaRPr lang="en-US" sz="1300" dirty="0"/>
          </a:p>
        </p:txBody>
      </p:sp>
      <p:sp>
        <p:nvSpPr>
          <p:cNvPr id="27" name="Text 25"/>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57"/>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8FA8F0"/>
                </a:solidFill>
                <a:latin typeface="Calibri" pitchFamily="34" charset="0"/>
                <a:ea typeface="Calibri" pitchFamily="34" charset="-122"/>
                <a:cs typeface="Calibri" pitchFamily="34" charset="-120"/>
              </a:rPr>
              <a:t>THREE WAYS TO BUILD ONE</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Pick the shape that matches the task</a:t>
            </a:r>
            <a:endParaRPr lang="en-US" sz="2800" dirty="0"/>
          </a:p>
        </p:txBody>
      </p:sp>
      <p:sp>
        <p:nvSpPr>
          <p:cNvPr id="4" name="Shape 2"/>
          <p:cNvSpPr/>
          <p:nvPr/>
        </p:nvSpPr>
        <p:spPr>
          <a:xfrm>
            <a:off x="548640" y="1600200"/>
            <a:ext cx="2624328" cy="2651760"/>
          </a:xfrm>
          <a:prstGeom prst="rect">
            <a:avLst/>
          </a:prstGeom>
          <a:solidFill>
            <a:srgbClr val="243668"/>
          </a:solidFill>
          <a:ln/>
        </p:spPr>
      </p:sp>
      <p:sp>
        <p:nvSpPr>
          <p:cNvPr id="5" name="Shape 3"/>
          <p:cNvSpPr/>
          <p:nvPr/>
        </p:nvSpPr>
        <p:spPr>
          <a:xfrm>
            <a:off x="548640" y="1600200"/>
            <a:ext cx="2624328" cy="54864"/>
          </a:xfrm>
          <a:prstGeom prst="rect">
            <a:avLst/>
          </a:prstGeom>
          <a:solidFill>
            <a:srgbClr val="2F5FDE"/>
          </a:solidFill>
          <a:ln/>
        </p:spPr>
      </p:sp>
      <p:sp>
        <p:nvSpPr>
          <p:cNvPr id="6" name="Text 4"/>
          <p:cNvSpPr/>
          <p:nvPr/>
        </p:nvSpPr>
        <p:spPr>
          <a:xfrm>
            <a:off x="804672" y="1874520"/>
            <a:ext cx="914400" cy="365760"/>
          </a:xfrm>
          <a:prstGeom prst="rect">
            <a:avLst/>
          </a:prstGeom>
          <a:noFill/>
          <a:ln/>
        </p:spPr>
        <p:txBody>
          <a:bodyPr wrap="square" lIns="0" tIns="0" rIns="0" bIns="0" rtlCol="0" anchor="ctr"/>
          <a:lstStyle/>
          <a:p>
            <a:pPr indent="0" marL="0">
              <a:buNone/>
            </a:pPr>
            <a:r>
              <a:rPr lang="en-US" sz="2000" b="1" dirty="0">
                <a:solidFill>
                  <a:srgbClr val="5F76C7"/>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804672" y="2377440"/>
            <a:ext cx="2112264"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Solo loop</a:t>
            </a:r>
            <a:endParaRPr lang="en-US" sz="1600" dirty="0"/>
          </a:p>
        </p:txBody>
      </p:sp>
      <p:sp>
        <p:nvSpPr>
          <p:cNvPr id="8" name="Text 6"/>
          <p:cNvSpPr/>
          <p:nvPr/>
        </p:nvSpPr>
        <p:spPr>
          <a:xfrm>
            <a:off x="804672" y="2834640"/>
            <a:ext cx="2112264" cy="1280160"/>
          </a:xfrm>
          <a:prstGeom prst="rect">
            <a:avLst/>
          </a:prstGeom>
          <a:noFill/>
          <a:ln/>
        </p:spPr>
        <p:txBody>
          <a:bodyPr wrap="square" lIns="0" tIns="0" rIns="0" bIns="0" rtlCol="0" anchor="ctr"/>
          <a:lstStyle/>
          <a:p>
            <a:pPr indent="0" marL="0">
              <a:lnSpc>
                <a:spcPct val="130000"/>
              </a:lnSpc>
              <a:buNone/>
            </a:pPr>
            <a:r>
              <a:rPr lang="en-US" sz="1150" dirty="0">
                <a:solidFill>
                  <a:srgbClr val="C7D1F0"/>
                </a:solidFill>
                <a:latin typeface="Calibri" pitchFamily="34" charset="0"/>
                <a:ea typeface="Calibri" pitchFamily="34" charset="-122"/>
                <a:cs typeface="Calibri" pitchFamily="34" charset="-120"/>
              </a:rPr>
              <a:t>One agent reasons, acts, observes, and repeats on its own. The default shape for most day-to-day work.</a:t>
            </a:r>
            <a:endParaRPr lang="en-US" sz="1150" dirty="0"/>
          </a:p>
        </p:txBody>
      </p:sp>
      <p:sp>
        <p:nvSpPr>
          <p:cNvPr id="9" name="Shape 7"/>
          <p:cNvSpPr/>
          <p:nvPr/>
        </p:nvSpPr>
        <p:spPr>
          <a:xfrm>
            <a:off x="3429000" y="1600200"/>
            <a:ext cx="2624328" cy="2651760"/>
          </a:xfrm>
          <a:prstGeom prst="rect">
            <a:avLst/>
          </a:prstGeom>
          <a:solidFill>
            <a:srgbClr val="243668"/>
          </a:solidFill>
          <a:ln/>
        </p:spPr>
      </p:sp>
      <p:sp>
        <p:nvSpPr>
          <p:cNvPr id="10" name="Shape 8"/>
          <p:cNvSpPr/>
          <p:nvPr/>
        </p:nvSpPr>
        <p:spPr>
          <a:xfrm>
            <a:off x="3429000" y="1600200"/>
            <a:ext cx="2624328" cy="54864"/>
          </a:xfrm>
          <a:prstGeom prst="rect">
            <a:avLst/>
          </a:prstGeom>
          <a:solidFill>
            <a:srgbClr val="2F5FDE"/>
          </a:solidFill>
          <a:ln/>
        </p:spPr>
      </p:sp>
      <p:sp>
        <p:nvSpPr>
          <p:cNvPr id="11" name="Text 9"/>
          <p:cNvSpPr/>
          <p:nvPr/>
        </p:nvSpPr>
        <p:spPr>
          <a:xfrm>
            <a:off x="3685032" y="1874520"/>
            <a:ext cx="914400" cy="365760"/>
          </a:xfrm>
          <a:prstGeom prst="rect">
            <a:avLst/>
          </a:prstGeom>
          <a:noFill/>
          <a:ln/>
        </p:spPr>
        <p:txBody>
          <a:bodyPr wrap="square" lIns="0" tIns="0" rIns="0" bIns="0" rtlCol="0" anchor="ctr"/>
          <a:lstStyle/>
          <a:p>
            <a:pPr indent="0" marL="0">
              <a:buNone/>
            </a:pPr>
            <a:r>
              <a:rPr lang="en-US" sz="2000" b="1" dirty="0">
                <a:solidFill>
                  <a:srgbClr val="5F76C7"/>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3685032" y="2377440"/>
            <a:ext cx="2112264"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Maker → checker</a:t>
            </a:r>
            <a:endParaRPr lang="en-US" sz="1600" dirty="0"/>
          </a:p>
        </p:txBody>
      </p:sp>
      <p:sp>
        <p:nvSpPr>
          <p:cNvPr id="13" name="Text 11"/>
          <p:cNvSpPr/>
          <p:nvPr/>
        </p:nvSpPr>
        <p:spPr>
          <a:xfrm>
            <a:off x="3685032" y="2834640"/>
            <a:ext cx="2112264" cy="1280160"/>
          </a:xfrm>
          <a:prstGeom prst="rect">
            <a:avLst/>
          </a:prstGeom>
          <a:noFill/>
          <a:ln/>
        </p:spPr>
        <p:txBody>
          <a:bodyPr wrap="square" lIns="0" tIns="0" rIns="0" bIns="0" rtlCol="0" anchor="ctr"/>
          <a:lstStyle/>
          <a:p>
            <a:pPr indent="0" marL="0">
              <a:lnSpc>
                <a:spcPct val="130000"/>
              </a:lnSpc>
              <a:buNone/>
            </a:pPr>
            <a:r>
              <a:rPr lang="en-US" sz="1150" dirty="0">
                <a:solidFill>
                  <a:srgbClr val="C7D1F0"/>
                </a:solidFill>
                <a:latin typeface="Calibri" pitchFamily="34" charset="0"/>
                <a:ea typeface="Calibri" pitchFamily="34" charset="-122"/>
                <a:cs typeface="Calibri" pitchFamily="34" charset="-120"/>
              </a:rPr>
              <a:t>One agent produces the work. A second, dedicated agent grades it and hands back feedback.</a:t>
            </a:r>
            <a:endParaRPr lang="en-US" sz="1150" dirty="0"/>
          </a:p>
        </p:txBody>
      </p:sp>
      <p:sp>
        <p:nvSpPr>
          <p:cNvPr id="14" name="Shape 12"/>
          <p:cNvSpPr/>
          <p:nvPr/>
        </p:nvSpPr>
        <p:spPr>
          <a:xfrm>
            <a:off x="6309360" y="1600200"/>
            <a:ext cx="2624328" cy="2651760"/>
          </a:xfrm>
          <a:prstGeom prst="rect">
            <a:avLst/>
          </a:prstGeom>
          <a:solidFill>
            <a:srgbClr val="243668"/>
          </a:solidFill>
          <a:ln/>
        </p:spPr>
      </p:sp>
      <p:sp>
        <p:nvSpPr>
          <p:cNvPr id="15" name="Shape 13"/>
          <p:cNvSpPr/>
          <p:nvPr/>
        </p:nvSpPr>
        <p:spPr>
          <a:xfrm>
            <a:off x="6309360" y="1600200"/>
            <a:ext cx="2624328" cy="54864"/>
          </a:xfrm>
          <a:prstGeom prst="rect">
            <a:avLst/>
          </a:prstGeom>
          <a:solidFill>
            <a:srgbClr val="2F5FDE"/>
          </a:solidFill>
          <a:ln/>
        </p:spPr>
      </p:sp>
      <p:sp>
        <p:nvSpPr>
          <p:cNvPr id="16" name="Text 14"/>
          <p:cNvSpPr/>
          <p:nvPr/>
        </p:nvSpPr>
        <p:spPr>
          <a:xfrm>
            <a:off x="6565392" y="1874520"/>
            <a:ext cx="914400" cy="365760"/>
          </a:xfrm>
          <a:prstGeom prst="rect">
            <a:avLst/>
          </a:prstGeom>
          <a:noFill/>
          <a:ln/>
        </p:spPr>
        <p:txBody>
          <a:bodyPr wrap="square" lIns="0" tIns="0" rIns="0" bIns="0" rtlCol="0" anchor="ctr"/>
          <a:lstStyle/>
          <a:p>
            <a:pPr indent="0" marL="0">
              <a:buNone/>
            </a:pPr>
            <a:r>
              <a:rPr lang="en-US" sz="2000" b="1" dirty="0">
                <a:solidFill>
                  <a:srgbClr val="5F76C7"/>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6565392" y="2377440"/>
            <a:ext cx="2112264"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Manager + helpers</a:t>
            </a:r>
            <a:endParaRPr lang="en-US" sz="1600" dirty="0"/>
          </a:p>
        </p:txBody>
      </p:sp>
      <p:sp>
        <p:nvSpPr>
          <p:cNvPr id="18" name="Text 16"/>
          <p:cNvSpPr/>
          <p:nvPr/>
        </p:nvSpPr>
        <p:spPr>
          <a:xfrm>
            <a:off x="6565392" y="2834640"/>
            <a:ext cx="2112264" cy="1280160"/>
          </a:xfrm>
          <a:prstGeom prst="rect">
            <a:avLst/>
          </a:prstGeom>
          <a:noFill/>
          <a:ln/>
        </p:spPr>
        <p:txBody>
          <a:bodyPr wrap="square" lIns="0" tIns="0" rIns="0" bIns="0" rtlCol="0" anchor="ctr"/>
          <a:lstStyle/>
          <a:p>
            <a:pPr indent="0" marL="0">
              <a:lnSpc>
                <a:spcPct val="130000"/>
              </a:lnSpc>
              <a:buNone/>
            </a:pPr>
            <a:r>
              <a:rPr lang="en-US" sz="1150" dirty="0">
                <a:solidFill>
                  <a:srgbClr val="C7D1F0"/>
                </a:solidFill>
                <a:latin typeface="Calibri" pitchFamily="34" charset="0"/>
                <a:ea typeface="Calibri" pitchFamily="34" charset="-122"/>
                <a:cs typeface="Calibri" pitchFamily="34" charset="-120"/>
              </a:rPr>
              <a:t>One orchestrator coordinates several sub-agents, each handling its own piece of the goal.</a:t>
            </a:r>
            <a:endParaRPr lang="en-US" sz="1150" dirty="0"/>
          </a:p>
        </p:txBody>
      </p:sp>
      <p:sp>
        <p:nvSpPr>
          <p:cNvPr id="19" name="Text 17"/>
          <p:cNvSpPr/>
          <p:nvPr/>
        </p:nvSpPr>
        <p:spPr>
          <a:xfrm>
            <a:off x="548640" y="4480560"/>
            <a:ext cx="8046720" cy="320040"/>
          </a:xfrm>
          <a:prstGeom prst="rect">
            <a:avLst/>
          </a:prstGeom>
          <a:noFill/>
          <a:ln/>
        </p:spPr>
        <p:txBody>
          <a:bodyPr wrap="square" lIns="0" tIns="0" rIns="0" bIns="0" rtlCol="0" anchor="ctr"/>
          <a:lstStyle/>
          <a:p>
            <a:pPr indent="0" marL="0">
              <a:buNone/>
            </a:pPr>
            <a:r>
              <a:rPr lang="en-US" sz="1250" i="1" dirty="0">
                <a:solidFill>
                  <a:srgbClr val="9AA6D4"/>
                </a:solidFill>
                <a:latin typeface="Calibri Light" pitchFamily="34" charset="0"/>
                <a:ea typeface="Calibri Light" pitchFamily="34" charset="-122"/>
                <a:cs typeface="Calibri Light" pitchFamily="34" charset="-120"/>
              </a:rPr>
              <a:t>All three need the same thing underneath: a clear goal, and a real way to check it.</a:t>
            </a:r>
            <a:endParaRPr lang="en-US" sz="1250" dirty="0"/>
          </a:p>
        </p:txBody>
      </p:sp>
      <p:sp>
        <p:nvSpPr>
          <p:cNvPr id="20" name="Text 18"/>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8590B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FIVE LOOP PATTERNS</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800" b="1" dirty="0">
                <a:solidFill>
                  <a:srgbClr val="1A1D26"/>
                </a:solidFill>
                <a:latin typeface="Calibri" pitchFamily="34" charset="0"/>
                <a:ea typeface="Calibri" pitchFamily="34" charset="-122"/>
                <a:cs typeface="Calibri" pitchFamily="34" charset="-120"/>
              </a:rPr>
              <a:t>Every loop fits one of five patterns</a:t>
            </a:r>
            <a:endParaRPr lang="en-US" sz="2800" dirty="0"/>
          </a:p>
        </p:txBody>
      </p:sp>
      <p:sp>
        <p:nvSpPr>
          <p:cNvPr id="4" name="Text 2"/>
          <p:cNvSpPr/>
          <p:nvPr/>
        </p:nvSpPr>
        <p:spPr>
          <a:xfrm>
            <a:off x="548640" y="1207008"/>
            <a:ext cx="8046720" cy="365760"/>
          </a:xfrm>
          <a:prstGeom prst="rect">
            <a:avLst/>
          </a:prstGeom>
          <a:noFill/>
          <a:ln/>
        </p:spPr>
        <p:txBody>
          <a:bodyPr wrap="square" lIns="0" tIns="0" rIns="0" bIns="0" rtlCol="0" anchor="ctr"/>
          <a:lstStyle/>
          <a:p>
            <a:pPr indent="0" marL="0">
              <a:lnSpc>
                <a:spcPct val="130000"/>
              </a:lnSpc>
              <a:buNone/>
            </a:pPr>
            <a:r>
              <a:rPr lang="en-US" sz="1250" dirty="0">
                <a:solidFill>
                  <a:srgbClr val="5B6072"/>
                </a:solidFill>
                <a:latin typeface="Calibri" pitchFamily="34" charset="0"/>
                <a:ea typeface="Calibri" pitchFamily="34" charset="-122"/>
                <a:cs typeface="Calibri" pitchFamily="34" charset="-120"/>
              </a:rPr>
              <a:t>From simplest to most self-improving — each one trades setup effort for a different kind of payoff.</a:t>
            </a:r>
            <a:endParaRPr lang="en-US" sz="1250" dirty="0"/>
          </a:p>
        </p:txBody>
      </p:sp>
      <p:sp>
        <p:nvSpPr>
          <p:cNvPr id="5" name="Shape 3"/>
          <p:cNvSpPr/>
          <p:nvPr/>
        </p:nvSpPr>
        <p:spPr>
          <a:xfrm>
            <a:off x="548640" y="1783080"/>
            <a:ext cx="1572768" cy="2743200"/>
          </a:xfrm>
          <a:prstGeom prst="rect">
            <a:avLst/>
          </a:prstGeom>
          <a:solidFill>
            <a:srgbClr val="F7F8FB"/>
          </a:solidFill>
          <a:ln w="12700">
            <a:solidFill>
              <a:srgbClr val="D9DCE6"/>
            </a:solidFill>
            <a:prstDash val="solid"/>
          </a:ln>
        </p:spPr>
      </p:sp>
      <p:sp>
        <p:nvSpPr>
          <p:cNvPr id="6" name="Shape 4"/>
          <p:cNvSpPr/>
          <p:nvPr/>
        </p:nvSpPr>
        <p:spPr>
          <a:xfrm>
            <a:off x="548640" y="1783080"/>
            <a:ext cx="1572768" cy="64008"/>
          </a:xfrm>
          <a:prstGeom prst="rect">
            <a:avLst/>
          </a:prstGeom>
          <a:solidFill>
            <a:srgbClr val="1B2A57"/>
          </a:solidFill>
          <a:ln/>
        </p:spPr>
      </p:sp>
      <p:sp>
        <p:nvSpPr>
          <p:cNvPr id="7" name="Text 5"/>
          <p:cNvSpPr/>
          <p:nvPr/>
        </p:nvSpPr>
        <p:spPr>
          <a:xfrm>
            <a:off x="685800" y="1947672"/>
            <a:ext cx="1298448" cy="457200"/>
          </a:xfrm>
          <a:prstGeom prst="rect">
            <a:avLst/>
          </a:prstGeom>
          <a:noFill/>
          <a:ln/>
        </p:spPr>
        <p:txBody>
          <a:bodyPr wrap="square" lIns="0" tIns="0" rIns="0" bIns="0" rtlCol="0" anchor="ctr"/>
          <a:lstStyle/>
          <a:p>
            <a:pPr indent="0" marL="0">
              <a:buNone/>
            </a:pPr>
            <a:r>
              <a:rPr lang="en-US" sz="2600" b="1" dirty="0">
                <a:solidFill>
                  <a:srgbClr val="1B2A57"/>
                </a:solidFill>
                <a:latin typeface="Calibri" pitchFamily="34" charset="0"/>
                <a:ea typeface="Calibri" pitchFamily="34" charset="-122"/>
                <a:cs typeface="Calibri" pitchFamily="34" charset="-120"/>
              </a:rPr>
              <a:t>1</a:t>
            </a:r>
            <a:endParaRPr lang="en-US" sz="2600" dirty="0"/>
          </a:p>
        </p:txBody>
      </p:sp>
      <p:sp>
        <p:nvSpPr>
          <p:cNvPr id="8" name="Text 6"/>
          <p:cNvSpPr/>
          <p:nvPr/>
        </p:nvSpPr>
        <p:spPr>
          <a:xfrm>
            <a:off x="685800" y="2404872"/>
            <a:ext cx="1298448" cy="685800"/>
          </a:xfrm>
          <a:prstGeom prst="rect">
            <a:avLst/>
          </a:prstGeom>
          <a:noFill/>
          <a:ln/>
        </p:spPr>
        <p:txBody>
          <a:bodyPr wrap="square" lIns="0" tIns="0" rIns="0" bIns="0" rtlCol="0" anchor="t"/>
          <a:lstStyle/>
          <a:p>
            <a:pPr indent="0" marL="0">
              <a:lnSpc>
                <a:spcPct val="110000"/>
              </a:lnSpc>
              <a:buNone/>
            </a:pPr>
            <a:r>
              <a:rPr lang="en-US" sz="1350" b="1" dirty="0">
                <a:solidFill>
                  <a:srgbClr val="1A1D26"/>
                </a:solidFill>
                <a:latin typeface="Calibri" pitchFamily="34" charset="0"/>
                <a:ea typeface="Calibri" pitchFamily="34" charset="-122"/>
                <a:cs typeface="Calibri" pitchFamily="34" charset="-120"/>
              </a:rPr>
              <a:t>Stateless</a:t>
            </a:r>
            <a:endParaRPr lang="en-US" sz="1350" dirty="0"/>
          </a:p>
        </p:txBody>
      </p:sp>
      <p:sp>
        <p:nvSpPr>
          <p:cNvPr id="9" name="Text 7"/>
          <p:cNvSpPr/>
          <p:nvPr/>
        </p:nvSpPr>
        <p:spPr>
          <a:xfrm>
            <a:off x="685800" y="3200400"/>
            <a:ext cx="1298448" cy="384048"/>
          </a:xfrm>
          <a:prstGeom prst="rect">
            <a:avLst/>
          </a:prstGeom>
          <a:noFill/>
          <a:ln/>
        </p:spPr>
        <p:txBody>
          <a:bodyPr wrap="square" lIns="0" tIns="0" rIns="0" bIns="0" rtlCol="0" anchor="ctr"/>
          <a:lstStyle/>
          <a:p>
            <a:pPr indent="0" marL="0">
              <a:lnSpc>
                <a:spcPct val="115000"/>
              </a:lnSpc>
              <a:buNone/>
            </a:pPr>
            <a:r>
              <a:rPr lang="en-US" sz="750" b="1" spc="100" kern="0" dirty="0">
                <a:solidFill>
                  <a:srgbClr val="1B2A57"/>
                </a:solidFill>
                <a:latin typeface="Calibri" pitchFamily="34" charset="0"/>
                <a:ea typeface="Calibri" pitchFamily="34" charset="-122"/>
                <a:cs typeface="Calibri" pitchFamily="34" charset="-120"/>
              </a:rPr>
              <a:t>NO MEMORY</a:t>
            </a:r>
            <a:endParaRPr lang="en-US" sz="750" dirty="0"/>
          </a:p>
        </p:txBody>
      </p:sp>
      <p:sp>
        <p:nvSpPr>
          <p:cNvPr id="10" name="Text 8"/>
          <p:cNvSpPr/>
          <p:nvPr/>
        </p:nvSpPr>
        <p:spPr>
          <a:xfrm>
            <a:off x="685800" y="3621024"/>
            <a:ext cx="1298448" cy="768096"/>
          </a:xfrm>
          <a:prstGeom prst="rect">
            <a:avLst/>
          </a:prstGeom>
          <a:noFill/>
          <a:ln/>
        </p:spPr>
        <p:txBody>
          <a:bodyPr wrap="square" lIns="0" tIns="0" rIns="0" bIns="0" rtlCol="0" anchor="ctr"/>
          <a:lstStyle/>
          <a:p>
            <a:pPr indent="0" marL="0">
              <a:lnSpc>
                <a:spcPct val="125000"/>
              </a:lnSpc>
              <a:buNone/>
            </a:pPr>
            <a:r>
              <a:rPr lang="en-US" sz="1000" dirty="0">
                <a:solidFill>
                  <a:srgbClr val="5B6072"/>
                </a:solidFill>
                <a:latin typeface="Calibri Light" pitchFamily="34" charset="0"/>
                <a:ea typeface="Calibri Light" pitchFamily="34" charset="-122"/>
                <a:cs typeface="Calibri Light" pitchFamily="34" charset="-120"/>
              </a:rPr>
              <a:t>Runs the task, checks itself, stops. No self-improvement between runs.</a:t>
            </a:r>
            <a:endParaRPr lang="en-US" sz="1000" dirty="0"/>
          </a:p>
        </p:txBody>
      </p:sp>
      <p:sp>
        <p:nvSpPr>
          <p:cNvPr id="11" name="Shape 9"/>
          <p:cNvSpPr/>
          <p:nvPr/>
        </p:nvSpPr>
        <p:spPr>
          <a:xfrm>
            <a:off x="2176272" y="1783080"/>
            <a:ext cx="1572768" cy="2743200"/>
          </a:xfrm>
          <a:prstGeom prst="rect">
            <a:avLst/>
          </a:prstGeom>
          <a:solidFill>
            <a:srgbClr val="F7F8FB"/>
          </a:solidFill>
          <a:ln w="12700">
            <a:solidFill>
              <a:srgbClr val="D9DCE6"/>
            </a:solidFill>
            <a:prstDash val="solid"/>
          </a:ln>
        </p:spPr>
      </p:sp>
      <p:sp>
        <p:nvSpPr>
          <p:cNvPr id="12" name="Shape 10"/>
          <p:cNvSpPr/>
          <p:nvPr/>
        </p:nvSpPr>
        <p:spPr>
          <a:xfrm>
            <a:off x="2176272" y="1783080"/>
            <a:ext cx="1572768" cy="64008"/>
          </a:xfrm>
          <a:prstGeom prst="rect">
            <a:avLst/>
          </a:prstGeom>
          <a:solidFill>
            <a:srgbClr val="2F5FDE"/>
          </a:solidFill>
          <a:ln/>
        </p:spPr>
      </p:sp>
      <p:sp>
        <p:nvSpPr>
          <p:cNvPr id="13" name="Text 11"/>
          <p:cNvSpPr/>
          <p:nvPr/>
        </p:nvSpPr>
        <p:spPr>
          <a:xfrm>
            <a:off x="2313432" y="1947672"/>
            <a:ext cx="1298448" cy="457200"/>
          </a:xfrm>
          <a:prstGeom prst="rect">
            <a:avLst/>
          </a:prstGeom>
          <a:noFill/>
          <a:ln/>
        </p:spPr>
        <p:txBody>
          <a:bodyPr wrap="square" lIns="0" tIns="0" rIns="0" bIns="0" rtlCol="0" anchor="ctr"/>
          <a:lstStyle/>
          <a:p>
            <a:pPr indent="0" marL="0">
              <a:buNone/>
            </a:pPr>
            <a:r>
              <a:rPr lang="en-US" sz="2600" b="1" dirty="0">
                <a:solidFill>
                  <a:srgbClr val="2F5FDE"/>
                </a:solidFill>
                <a:latin typeface="Calibri" pitchFamily="34" charset="0"/>
                <a:ea typeface="Calibri" pitchFamily="34" charset="-122"/>
                <a:cs typeface="Calibri" pitchFamily="34" charset="-120"/>
              </a:rPr>
              <a:t>2</a:t>
            </a:r>
            <a:endParaRPr lang="en-US" sz="2600" dirty="0"/>
          </a:p>
        </p:txBody>
      </p:sp>
      <p:sp>
        <p:nvSpPr>
          <p:cNvPr id="14" name="Text 12"/>
          <p:cNvSpPr/>
          <p:nvPr/>
        </p:nvSpPr>
        <p:spPr>
          <a:xfrm>
            <a:off x="2313432" y="2404872"/>
            <a:ext cx="1298448" cy="685800"/>
          </a:xfrm>
          <a:prstGeom prst="rect">
            <a:avLst/>
          </a:prstGeom>
          <a:noFill/>
          <a:ln/>
        </p:spPr>
        <p:txBody>
          <a:bodyPr wrap="square" lIns="0" tIns="0" rIns="0" bIns="0" rtlCol="0" anchor="t"/>
          <a:lstStyle/>
          <a:p>
            <a:pPr indent="0" marL="0">
              <a:lnSpc>
                <a:spcPct val="110000"/>
              </a:lnSpc>
              <a:buNone/>
            </a:pPr>
            <a:r>
              <a:rPr lang="en-US" sz="1350" b="1" dirty="0">
                <a:solidFill>
                  <a:srgbClr val="1A1D26"/>
                </a:solidFill>
                <a:latin typeface="Calibri" pitchFamily="34" charset="0"/>
                <a:ea typeface="Calibri" pitchFamily="34" charset="-122"/>
                <a:cs typeface="Calibri" pitchFamily="34" charset="-120"/>
              </a:rPr>
              <a:t>Learning</a:t>
            </a:r>
            <a:endParaRPr lang="en-US" sz="1350" dirty="0"/>
          </a:p>
        </p:txBody>
      </p:sp>
      <p:sp>
        <p:nvSpPr>
          <p:cNvPr id="15" name="Text 13"/>
          <p:cNvSpPr/>
          <p:nvPr/>
        </p:nvSpPr>
        <p:spPr>
          <a:xfrm>
            <a:off x="2313432" y="3200400"/>
            <a:ext cx="1298448" cy="384048"/>
          </a:xfrm>
          <a:prstGeom prst="rect">
            <a:avLst/>
          </a:prstGeom>
          <a:noFill/>
          <a:ln/>
        </p:spPr>
        <p:txBody>
          <a:bodyPr wrap="square" lIns="0" tIns="0" rIns="0" bIns="0" rtlCol="0" anchor="ctr"/>
          <a:lstStyle/>
          <a:p>
            <a:pPr indent="0" marL="0">
              <a:lnSpc>
                <a:spcPct val="115000"/>
              </a:lnSpc>
              <a:buNone/>
            </a:pPr>
            <a:r>
              <a:rPr lang="en-US" sz="750" b="1" spc="100" kern="0" dirty="0">
                <a:solidFill>
                  <a:srgbClr val="2F5FDE"/>
                </a:solidFill>
                <a:latin typeface="Calibri" pitchFamily="34" charset="0"/>
                <a:ea typeface="Calibri" pitchFamily="34" charset="-122"/>
                <a:cs typeface="Calibri" pitchFamily="34" charset="-120"/>
              </a:rPr>
              <a:t>IMPROVES A SKILL</a:t>
            </a:r>
            <a:endParaRPr lang="en-US" sz="750" dirty="0"/>
          </a:p>
        </p:txBody>
      </p:sp>
      <p:sp>
        <p:nvSpPr>
          <p:cNvPr id="16" name="Text 14"/>
          <p:cNvSpPr/>
          <p:nvPr/>
        </p:nvSpPr>
        <p:spPr>
          <a:xfrm>
            <a:off x="2313432" y="3621024"/>
            <a:ext cx="1298448" cy="768096"/>
          </a:xfrm>
          <a:prstGeom prst="rect">
            <a:avLst/>
          </a:prstGeom>
          <a:noFill/>
          <a:ln/>
        </p:spPr>
        <p:txBody>
          <a:bodyPr wrap="square" lIns="0" tIns="0" rIns="0" bIns="0" rtlCol="0" anchor="ctr"/>
          <a:lstStyle/>
          <a:p>
            <a:pPr indent="0" marL="0">
              <a:lnSpc>
                <a:spcPct val="125000"/>
              </a:lnSpc>
              <a:buNone/>
            </a:pPr>
            <a:r>
              <a:rPr lang="en-US" sz="1000" dirty="0">
                <a:solidFill>
                  <a:srgbClr val="5B6072"/>
                </a:solidFill>
                <a:latin typeface="Calibri Light" pitchFamily="34" charset="0"/>
                <a:ea typeface="Calibri Light" pitchFamily="34" charset="-122"/>
                <a:cs typeface="Calibri Light" pitchFamily="34" charset="-120"/>
              </a:rPr>
              <a:t>Improves something you reuse — keeps a journal of what worked and what didn’t.</a:t>
            </a:r>
            <a:endParaRPr lang="en-US" sz="1000" dirty="0"/>
          </a:p>
        </p:txBody>
      </p:sp>
      <p:sp>
        <p:nvSpPr>
          <p:cNvPr id="17" name="Shape 15"/>
          <p:cNvSpPr/>
          <p:nvPr/>
        </p:nvSpPr>
        <p:spPr>
          <a:xfrm>
            <a:off x="3803904" y="1783080"/>
            <a:ext cx="1572768" cy="2743200"/>
          </a:xfrm>
          <a:prstGeom prst="rect">
            <a:avLst/>
          </a:prstGeom>
          <a:solidFill>
            <a:srgbClr val="F7F8FB"/>
          </a:solidFill>
          <a:ln w="12700">
            <a:solidFill>
              <a:srgbClr val="D9DCE6"/>
            </a:solidFill>
            <a:prstDash val="solid"/>
          </a:ln>
        </p:spPr>
      </p:sp>
      <p:sp>
        <p:nvSpPr>
          <p:cNvPr id="18" name="Shape 16"/>
          <p:cNvSpPr/>
          <p:nvPr/>
        </p:nvSpPr>
        <p:spPr>
          <a:xfrm>
            <a:off x="3803904" y="1783080"/>
            <a:ext cx="1572768" cy="64008"/>
          </a:xfrm>
          <a:prstGeom prst="rect">
            <a:avLst/>
          </a:prstGeom>
          <a:solidFill>
            <a:srgbClr val="2F9E5B"/>
          </a:solidFill>
          <a:ln/>
        </p:spPr>
      </p:sp>
      <p:sp>
        <p:nvSpPr>
          <p:cNvPr id="19" name="Text 17"/>
          <p:cNvSpPr/>
          <p:nvPr/>
        </p:nvSpPr>
        <p:spPr>
          <a:xfrm>
            <a:off x="3941064" y="1947672"/>
            <a:ext cx="1298448" cy="457200"/>
          </a:xfrm>
          <a:prstGeom prst="rect">
            <a:avLst/>
          </a:prstGeom>
          <a:noFill/>
          <a:ln/>
        </p:spPr>
        <p:txBody>
          <a:bodyPr wrap="square" lIns="0" tIns="0" rIns="0" bIns="0" rtlCol="0" anchor="ctr"/>
          <a:lstStyle/>
          <a:p>
            <a:pPr indent="0" marL="0">
              <a:buNone/>
            </a:pPr>
            <a:r>
              <a:rPr lang="en-US" sz="2600" b="1" dirty="0">
                <a:solidFill>
                  <a:srgbClr val="2F9E5B"/>
                </a:solidFill>
                <a:latin typeface="Calibri" pitchFamily="34" charset="0"/>
                <a:ea typeface="Calibri" pitchFamily="34" charset="-122"/>
                <a:cs typeface="Calibri" pitchFamily="34" charset="-120"/>
              </a:rPr>
              <a:t>3</a:t>
            </a:r>
            <a:endParaRPr lang="en-US" sz="2600" dirty="0"/>
          </a:p>
        </p:txBody>
      </p:sp>
      <p:sp>
        <p:nvSpPr>
          <p:cNvPr id="20" name="Text 18"/>
          <p:cNvSpPr/>
          <p:nvPr/>
        </p:nvSpPr>
        <p:spPr>
          <a:xfrm>
            <a:off x="3941064" y="2404872"/>
            <a:ext cx="1298448" cy="685800"/>
          </a:xfrm>
          <a:prstGeom prst="rect">
            <a:avLst/>
          </a:prstGeom>
          <a:noFill/>
          <a:ln/>
        </p:spPr>
        <p:txBody>
          <a:bodyPr wrap="square" lIns="0" tIns="0" rIns="0" bIns="0" rtlCol="0" anchor="t"/>
          <a:lstStyle/>
          <a:p>
            <a:pPr indent="0" marL="0">
              <a:lnSpc>
                <a:spcPct val="110000"/>
              </a:lnSpc>
              <a:buNone/>
            </a:pPr>
            <a:r>
              <a:rPr lang="en-US" sz="1350" b="1" dirty="0">
                <a:solidFill>
                  <a:srgbClr val="1A1D26"/>
                </a:solidFill>
                <a:latin typeface="Calibri" pitchFamily="34" charset="0"/>
                <a:ea typeface="Calibri" pitchFamily="34" charset="-122"/>
                <a:cs typeface="Calibri" pitchFamily="34" charset="-120"/>
              </a:rPr>
              <a:t>Multi-agent</a:t>
            </a:r>
            <a:endParaRPr lang="en-US" sz="1350" dirty="0"/>
          </a:p>
        </p:txBody>
      </p:sp>
      <p:sp>
        <p:nvSpPr>
          <p:cNvPr id="21" name="Text 19"/>
          <p:cNvSpPr/>
          <p:nvPr/>
        </p:nvSpPr>
        <p:spPr>
          <a:xfrm>
            <a:off x="3941064" y="3200400"/>
            <a:ext cx="1298448" cy="384048"/>
          </a:xfrm>
          <a:prstGeom prst="rect">
            <a:avLst/>
          </a:prstGeom>
          <a:noFill/>
          <a:ln/>
        </p:spPr>
        <p:txBody>
          <a:bodyPr wrap="square" lIns="0" tIns="0" rIns="0" bIns="0" rtlCol="0" anchor="ctr"/>
          <a:lstStyle/>
          <a:p>
            <a:pPr indent="0" marL="0">
              <a:lnSpc>
                <a:spcPct val="115000"/>
              </a:lnSpc>
              <a:buNone/>
            </a:pPr>
            <a:r>
              <a:rPr lang="en-US" sz="750" b="1" spc="100" kern="0" dirty="0">
                <a:solidFill>
                  <a:srgbClr val="2F9E5B"/>
                </a:solidFill>
                <a:latin typeface="Calibri" pitchFamily="34" charset="0"/>
                <a:ea typeface="Calibri" pitchFamily="34" charset="-122"/>
                <a:cs typeface="Calibri" pitchFamily="34" charset="-120"/>
              </a:rPr>
              <a:t>SPLITS PERSPECTIVES</a:t>
            </a:r>
            <a:endParaRPr lang="en-US" sz="750" dirty="0"/>
          </a:p>
        </p:txBody>
      </p:sp>
      <p:sp>
        <p:nvSpPr>
          <p:cNvPr id="22" name="Text 20"/>
          <p:cNvSpPr/>
          <p:nvPr/>
        </p:nvSpPr>
        <p:spPr>
          <a:xfrm>
            <a:off x="3941064" y="3621024"/>
            <a:ext cx="1298448" cy="768096"/>
          </a:xfrm>
          <a:prstGeom prst="rect">
            <a:avLst/>
          </a:prstGeom>
          <a:noFill/>
          <a:ln/>
        </p:spPr>
        <p:txBody>
          <a:bodyPr wrap="square" lIns="0" tIns="0" rIns="0" bIns="0" rtlCol="0" anchor="ctr"/>
          <a:lstStyle/>
          <a:p>
            <a:pPr indent="0" marL="0">
              <a:lnSpc>
                <a:spcPct val="125000"/>
              </a:lnSpc>
              <a:buNone/>
            </a:pPr>
            <a:r>
              <a:rPr lang="en-US" sz="1000" dirty="0">
                <a:solidFill>
                  <a:srgbClr val="5B6072"/>
                </a:solidFill>
                <a:latin typeface="Calibri Light" pitchFamily="34" charset="0"/>
                <a:ea typeface="Calibri Light" pitchFamily="34" charset="-122"/>
                <a:cs typeface="Calibri Light" pitchFamily="34" charset="-120"/>
              </a:rPr>
              <a:t>Several agents review the same work from different angles — factual, safety, style.</a:t>
            </a:r>
            <a:endParaRPr lang="en-US" sz="1000" dirty="0"/>
          </a:p>
        </p:txBody>
      </p:sp>
      <p:sp>
        <p:nvSpPr>
          <p:cNvPr id="23" name="Shape 21"/>
          <p:cNvSpPr/>
          <p:nvPr/>
        </p:nvSpPr>
        <p:spPr>
          <a:xfrm>
            <a:off x="5431536" y="1783080"/>
            <a:ext cx="1572768" cy="2743200"/>
          </a:xfrm>
          <a:prstGeom prst="rect">
            <a:avLst/>
          </a:prstGeom>
          <a:solidFill>
            <a:srgbClr val="F7F8FB"/>
          </a:solidFill>
          <a:ln w="12700">
            <a:solidFill>
              <a:srgbClr val="D9DCE6"/>
            </a:solidFill>
            <a:prstDash val="solid"/>
          </a:ln>
        </p:spPr>
      </p:sp>
      <p:sp>
        <p:nvSpPr>
          <p:cNvPr id="24" name="Shape 22"/>
          <p:cNvSpPr/>
          <p:nvPr/>
        </p:nvSpPr>
        <p:spPr>
          <a:xfrm>
            <a:off x="5431536" y="1783080"/>
            <a:ext cx="1572768" cy="64008"/>
          </a:xfrm>
          <a:prstGeom prst="rect">
            <a:avLst/>
          </a:prstGeom>
          <a:solidFill>
            <a:srgbClr val="C98A1B"/>
          </a:solidFill>
          <a:ln/>
        </p:spPr>
      </p:sp>
      <p:sp>
        <p:nvSpPr>
          <p:cNvPr id="25" name="Text 23"/>
          <p:cNvSpPr/>
          <p:nvPr/>
        </p:nvSpPr>
        <p:spPr>
          <a:xfrm>
            <a:off x="5568696" y="1947672"/>
            <a:ext cx="1298448" cy="457200"/>
          </a:xfrm>
          <a:prstGeom prst="rect">
            <a:avLst/>
          </a:prstGeom>
          <a:noFill/>
          <a:ln/>
        </p:spPr>
        <p:txBody>
          <a:bodyPr wrap="square" lIns="0" tIns="0" rIns="0" bIns="0" rtlCol="0" anchor="ctr"/>
          <a:lstStyle/>
          <a:p>
            <a:pPr indent="0" marL="0">
              <a:buNone/>
            </a:pPr>
            <a:r>
              <a:rPr lang="en-US" sz="2600" b="1" dirty="0">
                <a:solidFill>
                  <a:srgbClr val="C98A1B"/>
                </a:solidFill>
                <a:latin typeface="Calibri" pitchFamily="34" charset="0"/>
                <a:ea typeface="Calibri" pitchFamily="34" charset="-122"/>
                <a:cs typeface="Calibri" pitchFamily="34" charset="-120"/>
              </a:rPr>
              <a:t>4</a:t>
            </a:r>
            <a:endParaRPr lang="en-US" sz="2600" dirty="0"/>
          </a:p>
        </p:txBody>
      </p:sp>
      <p:sp>
        <p:nvSpPr>
          <p:cNvPr id="26" name="Text 24"/>
          <p:cNvSpPr/>
          <p:nvPr/>
        </p:nvSpPr>
        <p:spPr>
          <a:xfrm>
            <a:off x="5568696" y="2404872"/>
            <a:ext cx="1298448" cy="685800"/>
          </a:xfrm>
          <a:prstGeom prst="rect">
            <a:avLst/>
          </a:prstGeom>
          <a:noFill/>
          <a:ln/>
        </p:spPr>
        <p:txBody>
          <a:bodyPr wrap="square" lIns="0" tIns="0" rIns="0" bIns="0" rtlCol="0" anchor="t"/>
          <a:lstStyle/>
          <a:p>
            <a:pPr indent="0" marL="0">
              <a:lnSpc>
                <a:spcPct val="110000"/>
              </a:lnSpc>
              <a:buNone/>
            </a:pPr>
            <a:r>
              <a:rPr lang="en-US" sz="1350" b="1" dirty="0">
                <a:solidFill>
                  <a:srgbClr val="1A1D26"/>
                </a:solidFill>
                <a:latin typeface="Calibri" pitchFamily="34" charset="0"/>
                <a:ea typeface="Calibri" pitchFamily="34" charset="-122"/>
                <a:cs typeface="Calibri" pitchFamily="34" charset="-120"/>
              </a:rPr>
              <a:t>Verification</a:t>
            </a:r>
            <a:endParaRPr lang="en-US" sz="1350" dirty="0"/>
          </a:p>
        </p:txBody>
      </p:sp>
      <p:sp>
        <p:nvSpPr>
          <p:cNvPr id="27" name="Text 25"/>
          <p:cNvSpPr/>
          <p:nvPr/>
        </p:nvSpPr>
        <p:spPr>
          <a:xfrm>
            <a:off x="5568696" y="3200400"/>
            <a:ext cx="1298448" cy="384048"/>
          </a:xfrm>
          <a:prstGeom prst="rect">
            <a:avLst/>
          </a:prstGeom>
          <a:noFill/>
          <a:ln/>
        </p:spPr>
        <p:txBody>
          <a:bodyPr wrap="square" lIns="0" tIns="0" rIns="0" bIns="0" rtlCol="0" anchor="ctr"/>
          <a:lstStyle/>
          <a:p>
            <a:pPr indent="0" marL="0">
              <a:lnSpc>
                <a:spcPct val="115000"/>
              </a:lnSpc>
              <a:buNone/>
            </a:pPr>
            <a:r>
              <a:rPr lang="en-US" sz="750" b="1" spc="100" kern="0" dirty="0">
                <a:solidFill>
                  <a:srgbClr val="C98A1B"/>
                </a:solidFill>
                <a:latin typeface="Calibri" pitchFamily="34" charset="0"/>
                <a:ea typeface="Calibri" pitchFamily="34" charset="-122"/>
                <a:cs typeface="Calibri" pitchFamily="34" charset="-120"/>
              </a:rPr>
              <a:t>SCORE-DRIVEN</a:t>
            </a:r>
            <a:endParaRPr lang="en-US" sz="750" dirty="0"/>
          </a:p>
        </p:txBody>
      </p:sp>
      <p:sp>
        <p:nvSpPr>
          <p:cNvPr id="28" name="Text 26"/>
          <p:cNvSpPr/>
          <p:nvPr/>
        </p:nvSpPr>
        <p:spPr>
          <a:xfrm>
            <a:off x="5568696" y="3621024"/>
            <a:ext cx="1298448" cy="768096"/>
          </a:xfrm>
          <a:prstGeom prst="rect">
            <a:avLst/>
          </a:prstGeom>
          <a:noFill/>
          <a:ln/>
        </p:spPr>
        <p:txBody>
          <a:bodyPr wrap="square" lIns="0" tIns="0" rIns="0" bIns="0" rtlCol="0" anchor="ctr"/>
          <a:lstStyle/>
          <a:p>
            <a:pPr indent="0" marL="0">
              <a:lnSpc>
                <a:spcPct val="125000"/>
              </a:lnSpc>
              <a:buNone/>
            </a:pPr>
            <a:r>
              <a:rPr lang="en-US" sz="1000" dirty="0">
                <a:solidFill>
                  <a:srgbClr val="5B6072"/>
                </a:solidFill>
                <a:latin typeface="Calibri Light" pitchFamily="34" charset="0"/>
                <a:ea typeface="Calibri Light" pitchFamily="34" charset="-122"/>
                <a:cs typeface="Calibri Light" pitchFamily="34" charset="-120"/>
              </a:rPr>
              <a:t>One agent implements, another scores it — the goal is pushing the score up.</a:t>
            </a:r>
            <a:endParaRPr lang="en-US" sz="1000" dirty="0"/>
          </a:p>
        </p:txBody>
      </p:sp>
      <p:sp>
        <p:nvSpPr>
          <p:cNvPr id="29" name="Shape 27"/>
          <p:cNvSpPr/>
          <p:nvPr/>
        </p:nvSpPr>
        <p:spPr>
          <a:xfrm>
            <a:off x="7059168" y="1783080"/>
            <a:ext cx="1572768" cy="2743200"/>
          </a:xfrm>
          <a:prstGeom prst="rect">
            <a:avLst/>
          </a:prstGeom>
          <a:solidFill>
            <a:srgbClr val="F7F8FB"/>
          </a:solidFill>
          <a:ln w="12700">
            <a:solidFill>
              <a:srgbClr val="D9DCE6"/>
            </a:solidFill>
            <a:prstDash val="solid"/>
          </a:ln>
        </p:spPr>
      </p:sp>
      <p:sp>
        <p:nvSpPr>
          <p:cNvPr id="30" name="Shape 28"/>
          <p:cNvSpPr/>
          <p:nvPr/>
        </p:nvSpPr>
        <p:spPr>
          <a:xfrm>
            <a:off x="7059168" y="1783080"/>
            <a:ext cx="1572768" cy="64008"/>
          </a:xfrm>
          <a:prstGeom prst="rect">
            <a:avLst/>
          </a:prstGeom>
          <a:solidFill>
            <a:srgbClr val="B23A48"/>
          </a:solidFill>
          <a:ln/>
        </p:spPr>
      </p:sp>
      <p:sp>
        <p:nvSpPr>
          <p:cNvPr id="31" name="Text 29"/>
          <p:cNvSpPr/>
          <p:nvPr/>
        </p:nvSpPr>
        <p:spPr>
          <a:xfrm>
            <a:off x="7196328" y="1947672"/>
            <a:ext cx="1298448" cy="457200"/>
          </a:xfrm>
          <a:prstGeom prst="rect">
            <a:avLst/>
          </a:prstGeom>
          <a:noFill/>
          <a:ln/>
        </p:spPr>
        <p:txBody>
          <a:bodyPr wrap="square" lIns="0" tIns="0" rIns="0" bIns="0" rtlCol="0" anchor="ctr"/>
          <a:lstStyle/>
          <a:p>
            <a:pPr indent="0" marL="0">
              <a:buNone/>
            </a:pPr>
            <a:r>
              <a:rPr lang="en-US" sz="2600" b="1" dirty="0">
                <a:solidFill>
                  <a:srgbClr val="B23A48"/>
                </a:solidFill>
                <a:latin typeface="Calibri" pitchFamily="34" charset="0"/>
                <a:ea typeface="Calibri" pitchFamily="34" charset="-122"/>
                <a:cs typeface="Calibri" pitchFamily="34" charset="-120"/>
              </a:rPr>
              <a:t>5</a:t>
            </a:r>
            <a:endParaRPr lang="en-US" sz="2600" dirty="0"/>
          </a:p>
        </p:txBody>
      </p:sp>
      <p:sp>
        <p:nvSpPr>
          <p:cNvPr id="32" name="Text 30"/>
          <p:cNvSpPr/>
          <p:nvPr/>
        </p:nvSpPr>
        <p:spPr>
          <a:xfrm>
            <a:off x="7196328" y="2404872"/>
            <a:ext cx="1298448" cy="685800"/>
          </a:xfrm>
          <a:prstGeom prst="rect">
            <a:avLst/>
          </a:prstGeom>
          <a:noFill/>
          <a:ln/>
        </p:spPr>
        <p:txBody>
          <a:bodyPr wrap="square" lIns="0" tIns="0" rIns="0" bIns="0" rtlCol="0" anchor="t"/>
          <a:lstStyle/>
          <a:p>
            <a:pPr indent="0" marL="0">
              <a:lnSpc>
                <a:spcPct val="110000"/>
              </a:lnSpc>
              <a:buNone/>
            </a:pPr>
            <a:r>
              <a:rPr lang="en-US" sz="1350" b="1" dirty="0">
                <a:solidFill>
                  <a:srgbClr val="1A1D26"/>
                </a:solidFill>
                <a:latin typeface="Calibri" pitchFamily="34" charset="0"/>
                <a:ea typeface="Calibri" pitchFamily="34" charset="-122"/>
                <a:cs typeface="Calibri" pitchFamily="34" charset="-120"/>
              </a:rPr>
              <a:t>Workflow-improving</a:t>
            </a:r>
            <a:endParaRPr lang="en-US" sz="1350" dirty="0"/>
          </a:p>
        </p:txBody>
      </p:sp>
      <p:sp>
        <p:nvSpPr>
          <p:cNvPr id="33" name="Text 31"/>
          <p:cNvSpPr/>
          <p:nvPr/>
        </p:nvSpPr>
        <p:spPr>
          <a:xfrm>
            <a:off x="7196328" y="3200400"/>
            <a:ext cx="1298448" cy="384048"/>
          </a:xfrm>
          <a:prstGeom prst="rect">
            <a:avLst/>
          </a:prstGeom>
          <a:noFill/>
          <a:ln/>
        </p:spPr>
        <p:txBody>
          <a:bodyPr wrap="square" lIns="0" tIns="0" rIns="0" bIns="0" rtlCol="0" anchor="ctr"/>
          <a:lstStyle/>
          <a:p>
            <a:pPr indent="0" marL="0">
              <a:lnSpc>
                <a:spcPct val="115000"/>
              </a:lnSpc>
              <a:buNone/>
            </a:pPr>
            <a:r>
              <a:rPr lang="en-US" sz="750" b="1" spc="100" kern="0" dirty="0">
                <a:solidFill>
                  <a:srgbClr val="B23A48"/>
                </a:solidFill>
                <a:latin typeface="Calibri" pitchFamily="34" charset="0"/>
                <a:ea typeface="Calibri" pitchFamily="34" charset="-122"/>
                <a:cs typeface="Calibri" pitchFamily="34" charset="-120"/>
              </a:rPr>
              <a:t>IMPROVES THE LOOP ITSELF</a:t>
            </a:r>
            <a:endParaRPr lang="en-US" sz="750" dirty="0"/>
          </a:p>
        </p:txBody>
      </p:sp>
      <p:sp>
        <p:nvSpPr>
          <p:cNvPr id="34" name="Text 32"/>
          <p:cNvSpPr/>
          <p:nvPr/>
        </p:nvSpPr>
        <p:spPr>
          <a:xfrm>
            <a:off x="7196328" y="3621024"/>
            <a:ext cx="1298448" cy="768096"/>
          </a:xfrm>
          <a:prstGeom prst="rect">
            <a:avLst/>
          </a:prstGeom>
          <a:noFill/>
          <a:ln/>
        </p:spPr>
        <p:txBody>
          <a:bodyPr wrap="square" lIns="0" tIns="0" rIns="0" bIns="0" rtlCol="0" anchor="ctr"/>
          <a:lstStyle/>
          <a:p>
            <a:pPr indent="0" marL="0">
              <a:lnSpc>
                <a:spcPct val="125000"/>
              </a:lnSpc>
              <a:buNone/>
            </a:pPr>
            <a:r>
              <a:rPr lang="en-US" sz="1000" dirty="0">
                <a:solidFill>
                  <a:srgbClr val="5B6072"/>
                </a:solidFill>
                <a:latin typeface="Calibri Light" pitchFamily="34" charset="0"/>
                <a:ea typeface="Calibri Light" pitchFamily="34" charset="-122"/>
                <a:cs typeface="Calibri Light" pitchFamily="34" charset="-120"/>
              </a:rPr>
              <a:t>Adds a third agent whose only job is making the process better, not just the output.</a:t>
            </a:r>
            <a:endParaRPr lang="en-US" sz="1000" dirty="0"/>
          </a:p>
        </p:txBody>
      </p:sp>
      <p:sp>
        <p:nvSpPr>
          <p:cNvPr id="35" name="Text 33"/>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57"/>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8FA8F0"/>
                </a:solidFill>
                <a:latin typeface="Calibri" pitchFamily="34" charset="0"/>
                <a:ea typeface="Calibri" pitchFamily="34" charset="-122"/>
                <a:cs typeface="Calibri" pitchFamily="34" charset="-120"/>
              </a:rPr>
              <a:t>CHOOSING A LOOP</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Match the loop to what you actually need</a:t>
            </a:r>
            <a:endParaRPr lang="en-US" sz="2600" dirty="0"/>
          </a:p>
        </p:txBody>
      </p:sp>
      <p:sp>
        <p:nvSpPr>
          <p:cNvPr id="4" name="Text 2"/>
          <p:cNvSpPr/>
          <p:nvPr/>
        </p:nvSpPr>
        <p:spPr>
          <a:xfrm>
            <a:off x="548640" y="1517904"/>
            <a:ext cx="3931920" cy="402336"/>
          </a:xfrm>
          <a:prstGeom prst="rect">
            <a:avLst/>
          </a:prstGeom>
          <a:noFill/>
          <a:ln/>
        </p:spPr>
        <p:txBody>
          <a:bodyPr wrap="square" lIns="0" tIns="0" rIns="0" bIns="0" rtlCol="0" anchor="ctr"/>
          <a:lstStyle/>
          <a:p>
            <a:pPr indent="0" marL="0">
              <a:lnSpc>
                <a:spcPct val="115000"/>
              </a:lnSpc>
              <a:buNone/>
            </a:pPr>
            <a:r>
              <a:rPr lang="en-US" sz="1300" dirty="0">
                <a:solidFill>
                  <a:srgbClr val="C7D1F0"/>
                </a:solidFill>
                <a:latin typeface="Calibri" pitchFamily="34" charset="0"/>
                <a:ea typeface="Calibri" pitchFamily="34" charset="-122"/>
                <a:cs typeface="Calibri" pitchFamily="34" charset="-120"/>
              </a:rPr>
              <a:t>A checkable, one-off feature?</a:t>
            </a:r>
            <a:endParaRPr lang="en-US" sz="1300" dirty="0"/>
          </a:p>
        </p:txBody>
      </p:sp>
      <p:sp>
        <p:nvSpPr>
          <p:cNvPr id="5" name="Text 3"/>
          <p:cNvSpPr/>
          <p:nvPr/>
        </p:nvSpPr>
        <p:spPr>
          <a:xfrm>
            <a:off x="4663440" y="1517904"/>
            <a:ext cx="3931920" cy="402336"/>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Stateless loop — tests as the stop condition.</a:t>
            </a:r>
            <a:endParaRPr lang="en-US" sz="1300" dirty="0"/>
          </a:p>
        </p:txBody>
      </p:sp>
      <p:sp>
        <p:nvSpPr>
          <p:cNvPr id="6" name="Shape 4"/>
          <p:cNvSpPr/>
          <p:nvPr/>
        </p:nvSpPr>
        <p:spPr>
          <a:xfrm>
            <a:off x="548640" y="1975104"/>
            <a:ext cx="8046720" cy="0"/>
          </a:xfrm>
          <a:prstGeom prst="line">
            <a:avLst/>
          </a:prstGeom>
          <a:noFill/>
          <a:ln w="9525">
            <a:solidFill>
              <a:srgbClr val="2E3E6B"/>
            </a:solidFill>
            <a:prstDash val="solid"/>
          </a:ln>
        </p:spPr>
      </p:sp>
      <p:sp>
        <p:nvSpPr>
          <p:cNvPr id="7" name="Text 5"/>
          <p:cNvSpPr/>
          <p:nvPr/>
        </p:nvSpPr>
        <p:spPr>
          <a:xfrm>
            <a:off x="548640" y="2029968"/>
            <a:ext cx="3931920" cy="402336"/>
          </a:xfrm>
          <a:prstGeom prst="rect">
            <a:avLst/>
          </a:prstGeom>
          <a:noFill/>
          <a:ln/>
        </p:spPr>
        <p:txBody>
          <a:bodyPr wrap="square" lIns="0" tIns="0" rIns="0" bIns="0" rtlCol="0" anchor="ctr"/>
          <a:lstStyle/>
          <a:p>
            <a:pPr indent="0" marL="0">
              <a:lnSpc>
                <a:spcPct val="115000"/>
              </a:lnSpc>
              <a:buNone/>
            </a:pPr>
            <a:r>
              <a:rPr lang="en-US" sz="1300" dirty="0">
                <a:solidFill>
                  <a:srgbClr val="C7D1F0"/>
                </a:solidFill>
                <a:latin typeface="Calibri" pitchFamily="34" charset="0"/>
                <a:ea typeface="Calibri" pitchFamily="34" charset="-122"/>
                <a:cs typeface="Calibri" pitchFamily="34" charset="-120"/>
              </a:rPr>
              <a:t>A skill or workflow you’ll reuse a lot?</a:t>
            </a:r>
            <a:endParaRPr lang="en-US" sz="1300" dirty="0"/>
          </a:p>
        </p:txBody>
      </p:sp>
      <p:sp>
        <p:nvSpPr>
          <p:cNvPr id="8" name="Text 6"/>
          <p:cNvSpPr/>
          <p:nvPr/>
        </p:nvSpPr>
        <p:spPr>
          <a:xfrm>
            <a:off x="4663440" y="2029968"/>
            <a:ext cx="3931920" cy="402336"/>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Learning loop — improve.md tracks what worked.</a:t>
            </a:r>
            <a:endParaRPr lang="en-US" sz="1300" dirty="0"/>
          </a:p>
        </p:txBody>
      </p:sp>
      <p:sp>
        <p:nvSpPr>
          <p:cNvPr id="9" name="Shape 7"/>
          <p:cNvSpPr/>
          <p:nvPr/>
        </p:nvSpPr>
        <p:spPr>
          <a:xfrm>
            <a:off x="548640" y="2487168"/>
            <a:ext cx="8046720" cy="0"/>
          </a:xfrm>
          <a:prstGeom prst="line">
            <a:avLst/>
          </a:prstGeom>
          <a:noFill/>
          <a:ln w="9525">
            <a:solidFill>
              <a:srgbClr val="2E3E6B"/>
            </a:solidFill>
            <a:prstDash val="solid"/>
          </a:ln>
        </p:spPr>
      </p:sp>
      <p:sp>
        <p:nvSpPr>
          <p:cNvPr id="10" name="Text 8"/>
          <p:cNvSpPr/>
          <p:nvPr/>
        </p:nvSpPr>
        <p:spPr>
          <a:xfrm>
            <a:off x="548640" y="2542032"/>
            <a:ext cx="3931920" cy="402336"/>
          </a:xfrm>
          <a:prstGeom prst="rect">
            <a:avLst/>
          </a:prstGeom>
          <a:noFill/>
          <a:ln/>
        </p:spPr>
        <p:txBody>
          <a:bodyPr wrap="square" lIns="0" tIns="0" rIns="0" bIns="0" rtlCol="0" anchor="ctr"/>
          <a:lstStyle/>
          <a:p>
            <a:pPr indent="0" marL="0">
              <a:lnSpc>
                <a:spcPct val="115000"/>
              </a:lnSpc>
              <a:buNone/>
            </a:pPr>
            <a:r>
              <a:rPr lang="en-US" sz="1300" dirty="0">
                <a:solidFill>
                  <a:srgbClr val="C7D1F0"/>
                </a:solidFill>
                <a:latin typeface="Calibri" pitchFamily="34" charset="0"/>
                <a:ea typeface="Calibri" pitchFamily="34" charset="-122"/>
                <a:cs typeface="Calibri" pitchFamily="34" charset="-120"/>
              </a:rPr>
              <a:t>A review with more than one lens?</a:t>
            </a:r>
            <a:endParaRPr lang="en-US" sz="1300" dirty="0"/>
          </a:p>
        </p:txBody>
      </p:sp>
      <p:sp>
        <p:nvSpPr>
          <p:cNvPr id="11" name="Text 9"/>
          <p:cNvSpPr/>
          <p:nvPr/>
        </p:nvSpPr>
        <p:spPr>
          <a:xfrm>
            <a:off x="4663440" y="2542032"/>
            <a:ext cx="3931920" cy="402336"/>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Multi-agent loop — factual, safety, style in parallel.</a:t>
            </a:r>
            <a:endParaRPr lang="en-US" sz="1300" dirty="0"/>
          </a:p>
        </p:txBody>
      </p:sp>
      <p:sp>
        <p:nvSpPr>
          <p:cNvPr id="12" name="Shape 10"/>
          <p:cNvSpPr/>
          <p:nvPr/>
        </p:nvSpPr>
        <p:spPr>
          <a:xfrm>
            <a:off x="548640" y="2999232"/>
            <a:ext cx="8046720" cy="0"/>
          </a:xfrm>
          <a:prstGeom prst="line">
            <a:avLst/>
          </a:prstGeom>
          <a:noFill/>
          <a:ln w="9525">
            <a:solidFill>
              <a:srgbClr val="2E3E6B"/>
            </a:solidFill>
            <a:prstDash val="solid"/>
          </a:ln>
        </p:spPr>
      </p:sp>
      <p:sp>
        <p:nvSpPr>
          <p:cNvPr id="13" name="Text 11"/>
          <p:cNvSpPr/>
          <p:nvPr/>
        </p:nvSpPr>
        <p:spPr>
          <a:xfrm>
            <a:off x="548640" y="3054096"/>
            <a:ext cx="3931920" cy="402336"/>
          </a:xfrm>
          <a:prstGeom prst="rect">
            <a:avLst/>
          </a:prstGeom>
          <a:noFill/>
          <a:ln/>
        </p:spPr>
        <p:txBody>
          <a:bodyPr wrap="square" lIns="0" tIns="0" rIns="0" bIns="0" rtlCol="0" anchor="ctr"/>
          <a:lstStyle/>
          <a:p>
            <a:pPr indent="0" marL="0">
              <a:lnSpc>
                <a:spcPct val="115000"/>
              </a:lnSpc>
              <a:buNone/>
            </a:pPr>
            <a:r>
              <a:rPr lang="en-US" sz="1300" dirty="0">
                <a:solidFill>
                  <a:srgbClr val="C7D1F0"/>
                </a:solidFill>
                <a:latin typeface="Calibri" pitchFamily="34" charset="0"/>
                <a:ea typeface="Calibri" pitchFamily="34" charset="-122"/>
                <a:cs typeface="Calibri" pitchFamily="34" charset="-120"/>
              </a:rPr>
              <a:t>Output quality matters more than speed?</a:t>
            </a:r>
            <a:endParaRPr lang="en-US" sz="1300" dirty="0"/>
          </a:p>
        </p:txBody>
      </p:sp>
      <p:sp>
        <p:nvSpPr>
          <p:cNvPr id="14" name="Text 12"/>
          <p:cNvSpPr/>
          <p:nvPr/>
        </p:nvSpPr>
        <p:spPr>
          <a:xfrm>
            <a:off x="4663440" y="3054096"/>
            <a:ext cx="3931920" cy="402336"/>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Verification loop — implementer chases a score.</a:t>
            </a:r>
            <a:endParaRPr lang="en-US" sz="1300" dirty="0"/>
          </a:p>
        </p:txBody>
      </p:sp>
      <p:sp>
        <p:nvSpPr>
          <p:cNvPr id="15" name="Shape 13"/>
          <p:cNvSpPr/>
          <p:nvPr/>
        </p:nvSpPr>
        <p:spPr>
          <a:xfrm>
            <a:off x="548640" y="3511296"/>
            <a:ext cx="8046720" cy="0"/>
          </a:xfrm>
          <a:prstGeom prst="line">
            <a:avLst/>
          </a:prstGeom>
          <a:noFill/>
          <a:ln w="9525">
            <a:solidFill>
              <a:srgbClr val="2E3E6B"/>
            </a:solidFill>
            <a:prstDash val="solid"/>
          </a:ln>
        </p:spPr>
      </p:sp>
      <p:sp>
        <p:nvSpPr>
          <p:cNvPr id="16" name="Text 14"/>
          <p:cNvSpPr/>
          <p:nvPr/>
        </p:nvSpPr>
        <p:spPr>
          <a:xfrm>
            <a:off x="548640" y="3566160"/>
            <a:ext cx="3931920" cy="548640"/>
          </a:xfrm>
          <a:prstGeom prst="rect">
            <a:avLst/>
          </a:prstGeom>
          <a:noFill/>
          <a:ln/>
        </p:spPr>
        <p:txBody>
          <a:bodyPr wrap="square" lIns="0" tIns="0" rIns="0" bIns="0" rtlCol="0" anchor="ctr"/>
          <a:lstStyle/>
          <a:p>
            <a:pPr indent="0" marL="0">
              <a:lnSpc>
                <a:spcPct val="115000"/>
              </a:lnSpc>
              <a:buNone/>
            </a:pPr>
            <a:r>
              <a:rPr lang="en-US" sz="1300" dirty="0">
                <a:solidFill>
                  <a:srgbClr val="C7D1F0"/>
                </a:solidFill>
                <a:latin typeface="Calibri" pitchFamily="34" charset="0"/>
                <a:ea typeface="Calibri" pitchFamily="34" charset="-122"/>
                <a:cs typeface="Calibri" pitchFamily="34" charset="-120"/>
              </a:rPr>
              <a:t>The process itself needs to get better?</a:t>
            </a:r>
            <a:endParaRPr lang="en-US" sz="1300" dirty="0"/>
          </a:p>
        </p:txBody>
      </p:sp>
      <p:sp>
        <p:nvSpPr>
          <p:cNvPr id="17" name="Text 15"/>
          <p:cNvSpPr/>
          <p:nvPr/>
        </p:nvSpPr>
        <p:spPr>
          <a:xfrm>
            <a:off x="4663440" y="3566160"/>
            <a:ext cx="3931920" cy="54864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Workflow-improving loop — a third agent audits the loop.</a:t>
            </a:r>
            <a:endParaRPr lang="en-US" sz="1300" dirty="0"/>
          </a:p>
        </p:txBody>
      </p:sp>
      <p:sp>
        <p:nvSpPr>
          <p:cNvPr id="18" name="Shape 16"/>
          <p:cNvSpPr/>
          <p:nvPr/>
        </p:nvSpPr>
        <p:spPr>
          <a:xfrm>
            <a:off x="548640" y="4306824"/>
            <a:ext cx="8046720" cy="502920"/>
          </a:xfrm>
          <a:prstGeom prst="rect">
            <a:avLst/>
          </a:prstGeom>
          <a:solidFill>
            <a:srgbClr val="11213F"/>
          </a:solidFill>
          <a:ln/>
        </p:spPr>
      </p:sp>
      <p:sp>
        <p:nvSpPr>
          <p:cNvPr id="19" name="Text 17"/>
          <p:cNvSpPr/>
          <p:nvPr/>
        </p:nvSpPr>
        <p:spPr>
          <a:xfrm>
            <a:off x="685800" y="4306824"/>
            <a:ext cx="7772400" cy="502920"/>
          </a:xfrm>
          <a:prstGeom prst="rect">
            <a:avLst/>
          </a:prstGeom>
          <a:noFill/>
          <a:ln/>
        </p:spPr>
        <p:txBody>
          <a:bodyPr wrap="square" lIns="0" tIns="0" rIns="0" bIns="0" rtlCol="0" anchor="ctr"/>
          <a:lstStyle/>
          <a:p>
            <a:pPr indent="0" marL="0">
              <a:lnSpc>
                <a:spcPct val="120000"/>
              </a:lnSpc>
              <a:buNone/>
            </a:pPr>
            <a:r>
              <a:rPr lang="en-US" sz="1050" b="1" i="1" dirty="0">
                <a:solidFill>
                  <a:srgbClr val="FDAB43"/>
                </a:solidFill>
                <a:latin typeface="Calibri Light" pitchFamily="34" charset="0"/>
                <a:ea typeface="Calibri Light" pitchFamily="34" charset="-122"/>
                <a:cs typeface="Calibri Light" pitchFamily="34" charset="-120"/>
              </a:rPr>
              <a:t xml:space="preserve">Watch your tokens: </a:t>
            </a:r>
            <a:pPr indent="0" marL="0">
              <a:lnSpc>
                <a:spcPct val="120000"/>
              </a:lnSpc>
              <a:buNone/>
            </a:pPr>
            <a:r>
              <a:rPr lang="en-US" sz="1050" i="1" dirty="0">
                <a:solidFill>
                  <a:srgbClr val="C7D1F0"/>
                </a:solidFill>
                <a:latin typeface="Calibri Light" pitchFamily="34" charset="0"/>
                <a:ea typeface="Calibri Light" pitchFamily="34" charset="-122"/>
                <a:cs typeface="Calibri Light" pitchFamily="34" charset="-120"/>
              </a:rPr>
              <a:t>a real stateless-loop run took ~39 minutes and burned over 200k tokens — the wrong loop for the job drains your usage fast.</a:t>
            </a:r>
            <a:endParaRPr lang="en-US" sz="1050" dirty="0"/>
          </a:p>
        </p:txBody>
      </p:sp>
      <p:sp>
        <p:nvSpPr>
          <p:cNvPr id="20" name="Text 18"/>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8590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REAL-WORLD EXAMPLE — STATELESS LOOP</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600" b="1" dirty="0">
                <a:solidFill>
                  <a:srgbClr val="1A1D26"/>
                </a:solidFill>
                <a:latin typeface="Calibri" pitchFamily="34" charset="0"/>
                <a:ea typeface="Calibri" pitchFamily="34" charset="-122"/>
                <a:cs typeface="Calibri" pitchFamily="34" charset="-120"/>
              </a:rPr>
              <a:t>Ship a feature with tests as the stop rule</a:t>
            </a:r>
            <a:endParaRPr lang="en-US" sz="2600" dirty="0"/>
          </a:p>
        </p:txBody>
      </p:sp>
      <p:sp>
        <p:nvSpPr>
          <p:cNvPr id="4" name="Shape 2"/>
          <p:cNvSpPr/>
          <p:nvPr/>
        </p:nvSpPr>
        <p:spPr>
          <a:xfrm>
            <a:off x="548640" y="1600200"/>
            <a:ext cx="2377440" cy="2743200"/>
          </a:xfrm>
          <a:prstGeom prst="rect">
            <a:avLst/>
          </a:prstGeom>
          <a:solidFill>
            <a:srgbClr val="E8EEFC"/>
          </a:solidFill>
          <a:ln/>
        </p:spPr>
      </p:sp>
      <p:sp>
        <p:nvSpPr>
          <p:cNvPr id="5" name="Shape 3"/>
          <p:cNvSpPr/>
          <p:nvPr/>
        </p:nvSpPr>
        <p:spPr>
          <a:xfrm>
            <a:off x="548640" y="1600200"/>
            <a:ext cx="2377440" cy="73152"/>
          </a:xfrm>
          <a:prstGeom prst="rect">
            <a:avLst/>
          </a:prstGeom>
          <a:solidFill>
            <a:srgbClr val="1B2A57"/>
          </a:solidFill>
          <a:ln/>
        </p:spPr>
      </p:sp>
      <p:sp>
        <p:nvSpPr>
          <p:cNvPr id="6" name="Text 4"/>
          <p:cNvSpPr/>
          <p:nvPr/>
        </p:nvSpPr>
        <p:spPr>
          <a:xfrm>
            <a:off x="777240" y="2057400"/>
            <a:ext cx="1920240" cy="914400"/>
          </a:xfrm>
          <a:prstGeom prst="rect">
            <a:avLst/>
          </a:prstGeom>
          <a:noFill/>
          <a:ln/>
        </p:spPr>
        <p:txBody>
          <a:bodyPr wrap="square" lIns="0" tIns="0" rIns="0" bIns="0" rtlCol="0" anchor="ctr"/>
          <a:lstStyle/>
          <a:p>
            <a:pPr indent="0" marL="0">
              <a:buNone/>
            </a:pPr>
            <a:r>
              <a:rPr lang="en-US" sz="4800" b="1" dirty="0">
                <a:solidFill>
                  <a:srgbClr val="1B2A57"/>
                </a:solidFill>
                <a:latin typeface="Calibri" pitchFamily="34" charset="0"/>
                <a:ea typeface="Calibri" pitchFamily="34" charset="-122"/>
                <a:cs typeface="Calibri" pitchFamily="34" charset="-120"/>
              </a:rPr>
              <a:t>200k+</a:t>
            </a:r>
            <a:endParaRPr lang="en-US" sz="4800" dirty="0"/>
          </a:p>
        </p:txBody>
      </p:sp>
      <p:sp>
        <p:nvSpPr>
          <p:cNvPr id="7" name="Text 5"/>
          <p:cNvSpPr/>
          <p:nvPr/>
        </p:nvSpPr>
        <p:spPr>
          <a:xfrm>
            <a:off x="777240" y="2807208"/>
            <a:ext cx="1920240" cy="36576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tokens in ~39 minutes</a:t>
            </a:r>
            <a:endParaRPr lang="en-US" sz="1200" dirty="0"/>
          </a:p>
        </p:txBody>
      </p:sp>
      <p:sp>
        <p:nvSpPr>
          <p:cNvPr id="8" name="Text 6"/>
          <p:cNvSpPr/>
          <p:nvPr/>
        </p:nvSpPr>
        <p:spPr>
          <a:xfrm>
            <a:off x="777240" y="3291840"/>
            <a:ext cx="1920240" cy="960120"/>
          </a:xfrm>
          <a:prstGeom prst="rect">
            <a:avLst/>
          </a:prstGeom>
          <a:noFill/>
          <a:ln/>
        </p:spPr>
        <p:txBody>
          <a:bodyPr wrap="square" lIns="0" tIns="0" rIns="0" bIns="0" rtlCol="0" anchor="ctr"/>
          <a:lstStyle/>
          <a:p>
            <a:pPr indent="0" marL="0">
              <a:lnSpc>
                <a:spcPct val="130000"/>
              </a:lnSpc>
              <a:buNone/>
            </a:pPr>
            <a:r>
              <a:rPr lang="en-US" sz="1100" i="1" dirty="0">
                <a:solidFill>
                  <a:srgbClr val="5B6072"/>
                </a:solidFill>
                <a:latin typeface="Calibri Light" pitchFamily="34" charset="0"/>
                <a:ea typeface="Calibri Light" pitchFamily="34" charset="-122"/>
                <a:cs typeface="Calibri Light" pitchFamily="34" charset="-120"/>
              </a:rPr>
              <a:t>Write tests first, then let the loop run until every test passes — no vague “done” judgment call.</a:t>
            </a:r>
            <a:endParaRPr lang="en-US" sz="1100" dirty="0"/>
          </a:p>
        </p:txBody>
      </p:sp>
      <p:sp>
        <p:nvSpPr>
          <p:cNvPr id="9" name="Text 7"/>
          <p:cNvSpPr/>
          <p:nvPr/>
        </p:nvSpPr>
        <p:spPr>
          <a:xfrm>
            <a:off x="3291840" y="1691640"/>
            <a:ext cx="5303520" cy="237744"/>
          </a:xfrm>
          <a:prstGeom prst="rect">
            <a:avLst/>
          </a:prstGeom>
          <a:noFill/>
          <a:ln/>
        </p:spPr>
        <p:txBody>
          <a:bodyPr wrap="square" lIns="0" tIns="0" rIns="0" bIns="0" rtlCol="0" anchor="ctr"/>
          <a:lstStyle/>
          <a:p>
            <a:pPr indent="0" marL="0">
              <a:buNone/>
            </a:pPr>
            <a:r>
              <a:rPr lang="en-US" sz="1050" b="1" spc="100" kern="0" dirty="0">
                <a:solidFill>
                  <a:srgbClr val="2F5FDE"/>
                </a:solidFill>
                <a:latin typeface="Calibri" pitchFamily="34" charset="0"/>
                <a:ea typeface="Calibri" pitchFamily="34" charset="-122"/>
                <a:cs typeface="Calibri" pitchFamily="34" charset="-120"/>
              </a:rPr>
              <a:t>GOAL</a:t>
            </a:r>
            <a:endParaRPr lang="en-US" sz="1050" dirty="0"/>
          </a:p>
        </p:txBody>
      </p:sp>
      <p:sp>
        <p:nvSpPr>
          <p:cNvPr id="10" name="Text 8"/>
          <p:cNvSpPr/>
          <p:nvPr/>
        </p:nvSpPr>
        <p:spPr>
          <a:xfrm>
            <a:off x="3291840" y="1947672"/>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Get every test in the suite to pass — the goal command sets this directly from the prompt.</a:t>
            </a:r>
            <a:endParaRPr lang="en-US" sz="1200" dirty="0"/>
          </a:p>
        </p:txBody>
      </p:sp>
      <p:sp>
        <p:nvSpPr>
          <p:cNvPr id="11" name="Shape 9"/>
          <p:cNvSpPr/>
          <p:nvPr/>
        </p:nvSpPr>
        <p:spPr>
          <a:xfrm>
            <a:off x="3291840" y="2377440"/>
            <a:ext cx="5303520" cy="0"/>
          </a:xfrm>
          <a:prstGeom prst="line">
            <a:avLst/>
          </a:prstGeom>
          <a:noFill/>
          <a:ln w="9525">
            <a:solidFill>
              <a:srgbClr val="D9DCE6"/>
            </a:solidFill>
            <a:prstDash val="solid"/>
          </a:ln>
        </p:spPr>
      </p:sp>
      <p:sp>
        <p:nvSpPr>
          <p:cNvPr id="12" name="Text 10"/>
          <p:cNvSpPr/>
          <p:nvPr/>
        </p:nvSpPr>
        <p:spPr>
          <a:xfrm>
            <a:off x="3291840" y="2468880"/>
            <a:ext cx="5303520" cy="237744"/>
          </a:xfrm>
          <a:prstGeom prst="rect">
            <a:avLst/>
          </a:prstGeom>
          <a:noFill/>
          <a:ln/>
        </p:spPr>
        <p:txBody>
          <a:bodyPr wrap="square" lIns="0" tIns="0" rIns="0" bIns="0" rtlCol="0" anchor="ctr"/>
          <a:lstStyle/>
          <a:p>
            <a:pPr indent="0" marL="0">
              <a:buNone/>
            </a:pPr>
            <a:r>
              <a:rPr lang="en-US" sz="1050" b="1" spc="100" kern="0" dirty="0">
                <a:solidFill>
                  <a:srgbClr val="2F5FDE"/>
                </a:solidFill>
                <a:latin typeface="Calibri" pitchFamily="34" charset="0"/>
                <a:ea typeface="Calibri" pitchFamily="34" charset="-122"/>
                <a:cs typeface="Calibri" pitchFamily="34" charset="-120"/>
              </a:rPr>
              <a:t>STOP CONDITION</a:t>
            </a:r>
            <a:endParaRPr lang="en-US" sz="1050" dirty="0"/>
          </a:p>
        </p:txBody>
      </p:sp>
      <p:sp>
        <p:nvSpPr>
          <p:cNvPr id="13" name="Text 11"/>
          <p:cNvSpPr/>
          <p:nvPr/>
        </p:nvSpPr>
        <p:spPr>
          <a:xfrm>
            <a:off x="3291840" y="2724912"/>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A smaller model (Haiku) double-checks the work against the requirements before it stops.</a:t>
            </a:r>
            <a:endParaRPr lang="en-US" sz="1200" dirty="0"/>
          </a:p>
        </p:txBody>
      </p:sp>
      <p:sp>
        <p:nvSpPr>
          <p:cNvPr id="14" name="Shape 12"/>
          <p:cNvSpPr/>
          <p:nvPr/>
        </p:nvSpPr>
        <p:spPr>
          <a:xfrm>
            <a:off x="3291840" y="3154680"/>
            <a:ext cx="5303520" cy="0"/>
          </a:xfrm>
          <a:prstGeom prst="line">
            <a:avLst/>
          </a:prstGeom>
          <a:noFill/>
          <a:ln w="9525">
            <a:solidFill>
              <a:srgbClr val="D9DCE6"/>
            </a:solidFill>
            <a:prstDash val="solid"/>
          </a:ln>
        </p:spPr>
      </p:sp>
      <p:sp>
        <p:nvSpPr>
          <p:cNvPr id="15" name="Text 13"/>
          <p:cNvSpPr/>
          <p:nvPr/>
        </p:nvSpPr>
        <p:spPr>
          <a:xfrm>
            <a:off x="3291840" y="3246120"/>
            <a:ext cx="5303520" cy="237744"/>
          </a:xfrm>
          <a:prstGeom prst="rect">
            <a:avLst/>
          </a:prstGeom>
          <a:noFill/>
          <a:ln/>
        </p:spPr>
        <p:txBody>
          <a:bodyPr wrap="square" lIns="0" tIns="0" rIns="0" bIns="0" rtlCol="0" anchor="ctr"/>
          <a:lstStyle/>
          <a:p>
            <a:pPr indent="0" marL="0">
              <a:buNone/>
            </a:pPr>
            <a:r>
              <a:rPr lang="en-US" sz="1050" b="1" spc="100" kern="0" dirty="0">
                <a:solidFill>
                  <a:srgbClr val="2F5FDE"/>
                </a:solidFill>
                <a:latin typeface="Calibri" pitchFamily="34" charset="0"/>
                <a:ea typeface="Calibri" pitchFamily="34" charset="-122"/>
                <a:cs typeface="Calibri" pitchFamily="34" charset="-120"/>
              </a:rPr>
              <a:t>WHAT HAPPENED</a:t>
            </a:r>
            <a:endParaRPr lang="en-US" sz="1050" dirty="0"/>
          </a:p>
        </p:txBody>
      </p:sp>
      <p:sp>
        <p:nvSpPr>
          <p:cNvPr id="16" name="Text 14"/>
          <p:cNvSpPr/>
          <p:nvPr/>
        </p:nvSpPr>
        <p:spPr>
          <a:xfrm>
            <a:off x="3291840" y="3502152"/>
            <a:ext cx="5303520" cy="36576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Claude wrote code, reran the suite, and kept fixing failures until all tests passed — then marked the goal complete.</a:t>
            </a:r>
            <a:endParaRPr lang="en-US" sz="1200" dirty="0"/>
          </a:p>
        </p:txBody>
      </p:sp>
      <p:sp>
        <p:nvSpPr>
          <p:cNvPr id="17" name="Shape 15"/>
          <p:cNvSpPr/>
          <p:nvPr/>
        </p:nvSpPr>
        <p:spPr>
          <a:xfrm>
            <a:off x="3291840" y="3886200"/>
            <a:ext cx="5303520" cy="0"/>
          </a:xfrm>
          <a:prstGeom prst="line">
            <a:avLst/>
          </a:prstGeom>
          <a:noFill/>
          <a:ln w="9525">
            <a:solidFill>
              <a:srgbClr val="D9DCE6"/>
            </a:solidFill>
            <a:prstDash val="solid"/>
          </a:ln>
        </p:spPr>
      </p:sp>
      <p:sp>
        <p:nvSpPr>
          <p:cNvPr id="18" name="Text 16"/>
          <p:cNvSpPr/>
          <p:nvPr/>
        </p:nvSpPr>
        <p:spPr>
          <a:xfrm>
            <a:off x="3291840" y="3977640"/>
            <a:ext cx="5303520" cy="237744"/>
          </a:xfrm>
          <a:prstGeom prst="rect">
            <a:avLst/>
          </a:prstGeom>
          <a:noFill/>
          <a:ln/>
        </p:spPr>
        <p:txBody>
          <a:bodyPr wrap="square" lIns="0" tIns="0" rIns="0" bIns="0" rtlCol="0" anchor="ctr"/>
          <a:lstStyle/>
          <a:p>
            <a:pPr indent="0" marL="0">
              <a:buNone/>
            </a:pPr>
            <a:r>
              <a:rPr lang="en-US" sz="1050" b="1" spc="100" kern="0" dirty="0">
                <a:solidFill>
                  <a:srgbClr val="2F5FDE"/>
                </a:solidFill>
                <a:latin typeface="Calibri" pitchFamily="34" charset="0"/>
                <a:ea typeface="Calibri" pitchFamily="34" charset="-122"/>
                <a:cs typeface="Calibri" pitchFamily="34" charset="-120"/>
              </a:rPr>
              <a:t>LESSON</a:t>
            </a:r>
            <a:endParaRPr lang="en-US" sz="1050" dirty="0"/>
          </a:p>
        </p:txBody>
      </p:sp>
      <p:sp>
        <p:nvSpPr>
          <p:cNvPr id="19" name="Text 17"/>
          <p:cNvSpPr/>
          <p:nvPr/>
        </p:nvSpPr>
        <p:spPr>
          <a:xfrm>
            <a:off x="3291840" y="4233672"/>
            <a:ext cx="5303520" cy="27432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Add a rollback line to your agent instructions file so a broken run can revert instead of guessing its way back.</a:t>
            </a:r>
            <a:endParaRPr lang="en-US" sz="1200" dirty="0"/>
          </a:p>
        </p:txBody>
      </p:sp>
      <p:sp>
        <p:nvSpPr>
          <p:cNvPr id="20" name="Text 18"/>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REAL-WORLD EXAMPLE — LEARNING LOOP</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600" b="1" dirty="0">
                <a:solidFill>
                  <a:srgbClr val="1A1D26"/>
                </a:solidFill>
                <a:latin typeface="Calibri" pitchFamily="34" charset="0"/>
                <a:ea typeface="Calibri" pitchFamily="34" charset="-122"/>
                <a:cs typeface="Calibri" pitchFamily="34" charset="-120"/>
              </a:rPr>
              <a:t>A skill that gets better every time it runs</a:t>
            </a:r>
            <a:endParaRPr lang="en-US" sz="2600" dirty="0"/>
          </a:p>
        </p:txBody>
      </p:sp>
      <p:sp>
        <p:nvSpPr>
          <p:cNvPr id="4" name="Shape 2"/>
          <p:cNvSpPr/>
          <p:nvPr/>
        </p:nvSpPr>
        <p:spPr>
          <a:xfrm>
            <a:off x="548640" y="1600200"/>
            <a:ext cx="2377440" cy="2743200"/>
          </a:xfrm>
          <a:prstGeom prst="rect">
            <a:avLst/>
          </a:prstGeom>
          <a:solidFill>
            <a:srgbClr val="E2F3E8"/>
          </a:solidFill>
          <a:ln/>
        </p:spPr>
      </p:sp>
      <p:sp>
        <p:nvSpPr>
          <p:cNvPr id="5" name="Shape 3"/>
          <p:cNvSpPr/>
          <p:nvPr/>
        </p:nvSpPr>
        <p:spPr>
          <a:xfrm>
            <a:off x="548640" y="1600200"/>
            <a:ext cx="2377440" cy="73152"/>
          </a:xfrm>
          <a:prstGeom prst="rect">
            <a:avLst/>
          </a:prstGeom>
          <a:solidFill>
            <a:srgbClr val="2F9E5B"/>
          </a:solidFill>
          <a:ln/>
        </p:spPr>
      </p:sp>
      <p:sp>
        <p:nvSpPr>
          <p:cNvPr id="6" name="Text 4"/>
          <p:cNvSpPr/>
          <p:nvPr/>
        </p:nvSpPr>
        <p:spPr>
          <a:xfrm>
            <a:off x="777240" y="2057400"/>
            <a:ext cx="1920240" cy="914400"/>
          </a:xfrm>
          <a:prstGeom prst="rect">
            <a:avLst/>
          </a:prstGeom>
          <a:noFill/>
          <a:ln/>
        </p:spPr>
        <p:txBody>
          <a:bodyPr wrap="square" lIns="0" tIns="0" rIns="0" bIns="0" rtlCol="0" anchor="ctr"/>
          <a:lstStyle/>
          <a:p>
            <a:pPr indent="0" marL="0">
              <a:buNone/>
            </a:pPr>
            <a:r>
              <a:rPr lang="en-US" sz="5600" b="1" dirty="0">
                <a:solidFill>
                  <a:srgbClr val="2F9E5B"/>
                </a:solidFill>
                <a:latin typeface="Calibri" pitchFamily="34" charset="0"/>
                <a:ea typeface="Calibri" pitchFamily="34" charset="-122"/>
                <a:cs typeface="Calibri" pitchFamily="34" charset="-120"/>
              </a:rPr>
              <a:t>2x</a:t>
            </a:r>
            <a:endParaRPr lang="en-US" sz="5600" dirty="0"/>
          </a:p>
        </p:txBody>
      </p:sp>
      <p:sp>
        <p:nvSpPr>
          <p:cNvPr id="7" name="Text 5"/>
          <p:cNvSpPr/>
          <p:nvPr/>
        </p:nvSpPr>
        <p:spPr>
          <a:xfrm>
            <a:off x="777240" y="2880360"/>
            <a:ext cx="1920240" cy="457200"/>
          </a:xfrm>
          <a:prstGeom prst="rect">
            <a:avLst/>
          </a:prstGeom>
          <a:noFill/>
          <a:ln/>
        </p:spPr>
        <p:txBody>
          <a:bodyPr wrap="square" lIns="0" tIns="0" rIns="0" bIns="0" rtlCol="0" anchor="ctr"/>
          <a:lstStyle/>
          <a:p>
            <a:pPr indent="0" marL="0">
              <a:lnSpc>
                <a:spcPct val="120000"/>
              </a:lnSpc>
              <a:buNone/>
            </a:pPr>
            <a:r>
              <a:rPr lang="en-US" sz="1200" dirty="0">
                <a:solidFill>
                  <a:srgbClr val="5B6072"/>
                </a:solidFill>
                <a:latin typeface="Calibri" pitchFamily="34" charset="0"/>
                <a:ea typeface="Calibri" pitchFamily="34" charset="-122"/>
                <a:cs typeface="Calibri" pitchFamily="34" charset="-120"/>
              </a:rPr>
              <a:t>runs per round — with vs. without</a:t>
            </a:r>
            <a:endParaRPr lang="en-US" sz="1200" dirty="0"/>
          </a:p>
        </p:txBody>
      </p:sp>
      <p:sp>
        <p:nvSpPr>
          <p:cNvPr id="8" name="Text 6"/>
          <p:cNvSpPr/>
          <p:nvPr/>
        </p:nvSpPr>
        <p:spPr>
          <a:xfrm>
            <a:off x="777240" y="3429000"/>
            <a:ext cx="1920240" cy="822960"/>
          </a:xfrm>
          <a:prstGeom prst="rect">
            <a:avLst/>
          </a:prstGeom>
          <a:noFill/>
          <a:ln/>
        </p:spPr>
        <p:txBody>
          <a:bodyPr wrap="square" lIns="0" tIns="0" rIns="0" bIns="0" rtlCol="0" anchor="ctr"/>
          <a:lstStyle/>
          <a:p>
            <a:pPr indent="0" marL="0">
              <a:lnSpc>
                <a:spcPct val="130000"/>
              </a:lnSpc>
              <a:buNone/>
            </a:pPr>
            <a:r>
              <a:rPr lang="en-US" sz="1100" i="1" dirty="0">
                <a:solidFill>
                  <a:srgbClr val="5B6072"/>
                </a:solidFill>
                <a:latin typeface="Calibri Light" pitchFamily="34" charset="0"/>
                <a:ea typeface="Calibri Light" pitchFamily="34" charset="-122"/>
                <a:cs typeface="Calibri Light" pitchFamily="34" charset="-120"/>
              </a:rPr>
              <a:t>Built for a real community site — multiple reusable skills, each refined round after round.</a:t>
            </a:r>
            <a:endParaRPr lang="en-US" sz="1100" dirty="0"/>
          </a:p>
        </p:txBody>
      </p:sp>
      <p:sp>
        <p:nvSpPr>
          <p:cNvPr id="9" name="Text 7"/>
          <p:cNvSpPr/>
          <p:nvPr/>
        </p:nvSpPr>
        <p:spPr>
          <a:xfrm>
            <a:off x="3291840" y="1691640"/>
            <a:ext cx="5303520" cy="237744"/>
          </a:xfrm>
          <a:prstGeom prst="rect">
            <a:avLst/>
          </a:prstGeom>
          <a:noFill/>
          <a:ln/>
        </p:spPr>
        <p:txBody>
          <a:bodyPr wrap="square" lIns="0" tIns="0" rIns="0" bIns="0" rtlCol="0" anchor="ctr"/>
          <a:lstStyle/>
          <a:p>
            <a:pPr indent="0" marL="0">
              <a:buNone/>
            </a:pPr>
            <a:r>
              <a:rPr lang="en-US" sz="1050" b="1" spc="100" kern="0" dirty="0">
                <a:solidFill>
                  <a:srgbClr val="2F9E5B"/>
                </a:solidFill>
                <a:latin typeface="Calibri" pitchFamily="34" charset="0"/>
                <a:ea typeface="Calibri" pitchFamily="34" charset="-122"/>
                <a:cs typeface="Calibri" pitchFamily="34" charset="-120"/>
              </a:rPr>
              <a:t>GOAL</a:t>
            </a:r>
            <a:endParaRPr lang="en-US" sz="1050" dirty="0"/>
          </a:p>
        </p:txBody>
      </p:sp>
      <p:sp>
        <p:nvSpPr>
          <p:cNvPr id="10" name="Text 8"/>
          <p:cNvSpPr/>
          <p:nvPr/>
        </p:nvSpPr>
        <p:spPr>
          <a:xfrm>
            <a:off x="3291840" y="1947672"/>
            <a:ext cx="5303520" cy="201168"/>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Make a reusable skill measurably better each time the skill-loop command runs.</a:t>
            </a:r>
            <a:endParaRPr lang="en-US" sz="1200" dirty="0"/>
          </a:p>
        </p:txBody>
      </p:sp>
      <p:sp>
        <p:nvSpPr>
          <p:cNvPr id="11" name="Shape 9"/>
          <p:cNvSpPr/>
          <p:nvPr/>
        </p:nvSpPr>
        <p:spPr>
          <a:xfrm>
            <a:off x="3291840" y="2167128"/>
            <a:ext cx="5303520" cy="0"/>
          </a:xfrm>
          <a:prstGeom prst="line">
            <a:avLst/>
          </a:prstGeom>
          <a:noFill/>
          <a:ln w="9525">
            <a:solidFill>
              <a:srgbClr val="D9DCE6"/>
            </a:solidFill>
            <a:prstDash val="solid"/>
          </a:ln>
        </p:spPr>
      </p:sp>
      <p:sp>
        <p:nvSpPr>
          <p:cNvPr id="12" name="Text 10"/>
          <p:cNvSpPr/>
          <p:nvPr/>
        </p:nvSpPr>
        <p:spPr>
          <a:xfrm>
            <a:off x="3291840" y="2258568"/>
            <a:ext cx="5303520" cy="237744"/>
          </a:xfrm>
          <a:prstGeom prst="rect">
            <a:avLst/>
          </a:prstGeom>
          <a:noFill/>
          <a:ln/>
        </p:spPr>
        <p:txBody>
          <a:bodyPr wrap="square" lIns="0" tIns="0" rIns="0" bIns="0" rtlCol="0" anchor="ctr"/>
          <a:lstStyle/>
          <a:p>
            <a:pPr indent="0" marL="0">
              <a:buNone/>
            </a:pPr>
            <a:r>
              <a:rPr lang="en-US" sz="1050" b="1" spc="100" kern="0" dirty="0">
                <a:solidFill>
                  <a:srgbClr val="2F9E5B"/>
                </a:solidFill>
                <a:latin typeface="Calibri" pitchFamily="34" charset="0"/>
                <a:ea typeface="Calibri" pitchFamily="34" charset="-122"/>
                <a:cs typeface="Calibri" pitchFamily="34" charset="-120"/>
              </a:rPr>
              <a:t>STOP CONDITION</a:t>
            </a:r>
            <a:endParaRPr lang="en-US" sz="1050" dirty="0"/>
          </a:p>
        </p:txBody>
      </p:sp>
      <p:sp>
        <p:nvSpPr>
          <p:cNvPr id="13" name="Text 11"/>
          <p:cNvSpPr/>
          <p:nvPr/>
        </p:nvSpPr>
        <p:spPr>
          <a:xfrm>
            <a:off x="3291840" y="2514600"/>
            <a:ext cx="5303520" cy="292608"/>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The skill improver agent keeps running until it finds no more improvements to make.</a:t>
            </a:r>
            <a:endParaRPr lang="en-US" sz="1200" dirty="0"/>
          </a:p>
        </p:txBody>
      </p:sp>
      <p:sp>
        <p:nvSpPr>
          <p:cNvPr id="14" name="Shape 12"/>
          <p:cNvSpPr/>
          <p:nvPr/>
        </p:nvSpPr>
        <p:spPr>
          <a:xfrm>
            <a:off x="3291840" y="2825496"/>
            <a:ext cx="5303520" cy="0"/>
          </a:xfrm>
          <a:prstGeom prst="line">
            <a:avLst/>
          </a:prstGeom>
          <a:noFill/>
          <a:ln w="9525">
            <a:solidFill>
              <a:srgbClr val="D9DCE6"/>
            </a:solidFill>
            <a:prstDash val="solid"/>
          </a:ln>
        </p:spPr>
      </p:sp>
      <p:sp>
        <p:nvSpPr>
          <p:cNvPr id="15" name="Text 13"/>
          <p:cNvSpPr/>
          <p:nvPr/>
        </p:nvSpPr>
        <p:spPr>
          <a:xfrm>
            <a:off x="3291840" y="2916936"/>
            <a:ext cx="5303520" cy="237744"/>
          </a:xfrm>
          <a:prstGeom prst="rect">
            <a:avLst/>
          </a:prstGeom>
          <a:noFill/>
          <a:ln/>
        </p:spPr>
        <p:txBody>
          <a:bodyPr wrap="square" lIns="0" tIns="0" rIns="0" bIns="0" rtlCol="0" anchor="ctr"/>
          <a:lstStyle/>
          <a:p>
            <a:pPr indent="0" marL="0">
              <a:buNone/>
            </a:pPr>
            <a:r>
              <a:rPr lang="en-US" sz="1050" b="1" spc="100" kern="0" dirty="0">
                <a:solidFill>
                  <a:srgbClr val="2F9E5B"/>
                </a:solidFill>
                <a:latin typeface="Calibri" pitchFamily="34" charset="0"/>
                <a:ea typeface="Calibri" pitchFamily="34" charset="-122"/>
                <a:cs typeface="Calibri" pitchFamily="34" charset="-120"/>
              </a:rPr>
              <a:t>WHAT HAPPENED</a:t>
            </a:r>
            <a:endParaRPr lang="en-US" sz="1050" dirty="0"/>
          </a:p>
        </p:txBody>
      </p:sp>
      <p:sp>
        <p:nvSpPr>
          <p:cNvPr id="16" name="Text 14"/>
          <p:cNvSpPr/>
          <p:nvPr/>
        </p:nvSpPr>
        <p:spPr>
          <a:xfrm>
            <a:off x="3291840" y="3172968"/>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Each round ran the task with and without the skill, compared results, and wrote the difference into a learning.md file.</a:t>
            </a:r>
            <a:endParaRPr lang="en-US" sz="1200" dirty="0"/>
          </a:p>
        </p:txBody>
      </p:sp>
      <p:sp>
        <p:nvSpPr>
          <p:cNvPr id="17" name="Shape 15"/>
          <p:cNvSpPr/>
          <p:nvPr/>
        </p:nvSpPr>
        <p:spPr>
          <a:xfrm>
            <a:off x="3291840" y="3602736"/>
            <a:ext cx="5303520" cy="0"/>
          </a:xfrm>
          <a:prstGeom prst="line">
            <a:avLst/>
          </a:prstGeom>
          <a:noFill/>
          <a:ln w="9525">
            <a:solidFill>
              <a:srgbClr val="D9DCE6"/>
            </a:solidFill>
            <a:prstDash val="solid"/>
          </a:ln>
        </p:spPr>
      </p:sp>
      <p:sp>
        <p:nvSpPr>
          <p:cNvPr id="18" name="Text 16"/>
          <p:cNvSpPr/>
          <p:nvPr/>
        </p:nvSpPr>
        <p:spPr>
          <a:xfrm>
            <a:off x="3291840" y="3694176"/>
            <a:ext cx="5303520" cy="237744"/>
          </a:xfrm>
          <a:prstGeom prst="rect">
            <a:avLst/>
          </a:prstGeom>
          <a:noFill/>
          <a:ln/>
        </p:spPr>
        <p:txBody>
          <a:bodyPr wrap="square" lIns="0" tIns="0" rIns="0" bIns="0" rtlCol="0" anchor="ctr"/>
          <a:lstStyle/>
          <a:p>
            <a:pPr indent="0" marL="0">
              <a:buNone/>
            </a:pPr>
            <a:r>
              <a:rPr lang="en-US" sz="1050" b="1" spc="100" kern="0" dirty="0">
                <a:solidFill>
                  <a:srgbClr val="2F9E5B"/>
                </a:solidFill>
                <a:latin typeface="Calibri" pitchFamily="34" charset="0"/>
                <a:ea typeface="Calibri" pitchFamily="34" charset="-122"/>
                <a:cs typeface="Calibri" pitchFamily="34" charset="-120"/>
              </a:rPr>
              <a:t>LESSON</a:t>
            </a:r>
            <a:endParaRPr lang="en-US" sz="1050" dirty="0"/>
          </a:p>
        </p:txBody>
      </p:sp>
      <p:sp>
        <p:nvSpPr>
          <p:cNvPr id="19" name="Text 17"/>
          <p:cNvSpPr/>
          <p:nvPr/>
        </p:nvSpPr>
        <p:spPr>
          <a:xfrm>
            <a:off x="3291840" y="3950208"/>
            <a:ext cx="5303520" cy="374904"/>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learning.md is the memory — it’s what lets round three avoid the mistake round one already paid for.</a:t>
            </a:r>
            <a:endParaRPr lang="en-US" sz="1200" dirty="0"/>
          </a:p>
        </p:txBody>
      </p:sp>
      <p:sp>
        <p:nvSpPr>
          <p:cNvPr id="20" name="Text 18"/>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REAL-WORLD EXAMPLE — MULTI-AGENT LOOP</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500" b="1" dirty="0">
                <a:solidFill>
                  <a:srgbClr val="1A1D26"/>
                </a:solidFill>
                <a:latin typeface="Calibri" pitchFamily="34" charset="0"/>
                <a:ea typeface="Calibri" pitchFamily="34" charset="-122"/>
                <a:cs typeface="Calibri" pitchFamily="34" charset="-120"/>
              </a:rPr>
              <a:t>Four reviewers, one orchestrator, no blind spots</a:t>
            </a:r>
            <a:endParaRPr lang="en-US" sz="2500" dirty="0"/>
          </a:p>
        </p:txBody>
      </p:sp>
      <p:sp>
        <p:nvSpPr>
          <p:cNvPr id="4" name="Shape 2"/>
          <p:cNvSpPr/>
          <p:nvPr/>
        </p:nvSpPr>
        <p:spPr>
          <a:xfrm>
            <a:off x="548640" y="1600200"/>
            <a:ext cx="2377440" cy="2743200"/>
          </a:xfrm>
          <a:prstGeom prst="rect">
            <a:avLst/>
          </a:prstGeom>
          <a:solidFill>
            <a:srgbClr val="F3E4E7"/>
          </a:solidFill>
          <a:ln/>
        </p:spPr>
      </p:sp>
      <p:sp>
        <p:nvSpPr>
          <p:cNvPr id="5" name="Shape 3"/>
          <p:cNvSpPr/>
          <p:nvPr/>
        </p:nvSpPr>
        <p:spPr>
          <a:xfrm>
            <a:off x="548640" y="1600200"/>
            <a:ext cx="2377440" cy="73152"/>
          </a:xfrm>
          <a:prstGeom prst="rect">
            <a:avLst/>
          </a:prstGeom>
          <a:solidFill>
            <a:srgbClr val="B23A48"/>
          </a:solidFill>
          <a:ln/>
        </p:spPr>
      </p:sp>
      <p:sp>
        <p:nvSpPr>
          <p:cNvPr id="6" name="Text 4"/>
          <p:cNvSpPr/>
          <p:nvPr/>
        </p:nvSpPr>
        <p:spPr>
          <a:xfrm>
            <a:off x="777240" y="2057400"/>
            <a:ext cx="1920240" cy="914400"/>
          </a:xfrm>
          <a:prstGeom prst="rect">
            <a:avLst/>
          </a:prstGeom>
          <a:noFill/>
          <a:ln/>
        </p:spPr>
        <p:txBody>
          <a:bodyPr wrap="square" lIns="0" tIns="0" rIns="0" bIns="0" rtlCol="0" anchor="ctr"/>
          <a:lstStyle/>
          <a:p>
            <a:pPr indent="0" marL="0">
              <a:buNone/>
            </a:pPr>
            <a:r>
              <a:rPr lang="en-US" sz="6400" b="1" dirty="0">
                <a:solidFill>
                  <a:srgbClr val="B23A48"/>
                </a:solidFill>
                <a:latin typeface="Calibri" pitchFamily="34" charset="0"/>
                <a:ea typeface="Calibri" pitchFamily="34" charset="-122"/>
                <a:cs typeface="Calibri" pitchFamily="34" charset="-120"/>
              </a:rPr>
              <a:t>4</a:t>
            </a:r>
            <a:endParaRPr lang="en-US" sz="6400" dirty="0"/>
          </a:p>
        </p:txBody>
      </p:sp>
      <p:sp>
        <p:nvSpPr>
          <p:cNvPr id="7" name="Text 5"/>
          <p:cNvSpPr/>
          <p:nvPr/>
        </p:nvSpPr>
        <p:spPr>
          <a:xfrm>
            <a:off x="777240" y="2971800"/>
            <a:ext cx="1920240" cy="457200"/>
          </a:xfrm>
          <a:prstGeom prst="rect">
            <a:avLst/>
          </a:prstGeom>
          <a:noFill/>
          <a:ln/>
        </p:spPr>
        <p:txBody>
          <a:bodyPr wrap="square" lIns="0" tIns="0" rIns="0" bIns="0" rtlCol="0" anchor="ctr"/>
          <a:lstStyle/>
          <a:p>
            <a:pPr indent="0" marL="0">
              <a:lnSpc>
                <a:spcPct val="120000"/>
              </a:lnSpc>
              <a:buNone/>
            </a:pPr>
            <a:r>
              <a:rPr lang="en-US" sz="1200" dirty="0">
                <a:solidFill>
                  <a:srgbClr val="5B6072"/>
                </a:solidFill>
                <a:latin typeface="Calibri" pitchFamily="34" charset="0"/>
                <a:ea typeface="Calibri" pitchFamily="34" charset="-122"/>
                <a:cs typeface="Calibri" pitchFamily="34" charset="-120"/>
              </a:rPr>
              <a:t>agents, one orchestrate command</a:t>
            </a:r>
            <a:endParaRPr lang="en-US" sz="1200" dirty="0"/>
          </a:p>
        </p:txBody>
      </p:sp>
      <p:sp>
        <p:nvSpPr>
          <p:cNvPr id="8" name="Text 6"/>
          <p:cNvSpPr/>
          <p:nvPr/>
        </p:nvSpPr>
        <p:spPr>
          <a:xfrm>
            <a:off x="777240" y="3520440"/>
            <a:ext cx="1920240" cy="731520"/>
          </a:xfrm>
          <a:prstGeom prst="rect">
            <a:avLst/>
          </a:prstGeom>
          <a:noFill/>
          <a:ln/>
        </p:spPr>
        <p:txBody>
          <a:bodyPr wrap="square" lIns="0" tIns="0" rIns="0" bIns="0" rtlCol="0" anchor="ctr"/>
          <a:lstStyle/>
          <a:p>
            <a:pPr indent="0" marL="0">
              <a:lnSpc>
                <a:spcPct val="130000"/>
              </a:lnSpc>
              <a:buNone/>
            </a:pPr>
            <a:r>
              <a:rPr lang="en-US" sz="1100" i="1" dirty="0">
                <a:solidFill>
                  <a:srgbClr val="5B6072"/>
                </a:solidFill>
                <a:latin typeface="Calibri Light" pitchFamily="34" charset="0"/>
                <a:ea typeface="Calibri Light" pitchFamily="34" charset="-122"/>
                <a:cs typeface="Calibri Light" pitchFamily="34" charset="-120"/>
              </a:rPr>
              <a:t>Factual, domain, safety, and style critics — each one an independent reviewer of the same work.</a:t>
            </a:r>
            <a:endParaRPr lang="en-US" sz="1100" dirty="0"/>
          </a:p>
        </p:txBody>
      </p:sp>
      <p:sp>
        <p:nvSpPr>
          <p:cNvPr id="9" name="Text 7"/>
          <p:cNvSpPr/>
          <p:nvPr/>
        </p:nvSpPr>
        <p:spPr>
          <a:xfrm>
            <a:off x="3291840" y="1691640"/>
            <a:ext cx="5303520" cy="237744"/>
          </a:xfrm>
          <a:prstGeom prst="rect">
            <a:avLst/>
          </a:prstGeom>
          <a:noFill/>
          <a:ln/>
        </p:spPr>
        <p:txBody>
          <a:bodyPr wrap="square" lIns="0" tIns="0" rIns="0" bIns="0" rtlCol="0" anchor="ctr"/>
          <a:lstStyle/>
          <a:p>
            <a:pPr indent="0" marL="0">
              <a:buNone/>
            </a:pPr>
            <a:r>
              <a:rPr lang="en-US" sz="1050" b="1" spc="100" kern="0" dirty="0">
                <a:solidFill>
                  <a:srgbClr val="B23A48"/>
                </a:solidFill>
                <a:latin typeface="Calibri" pitchFamily="34" charset="0"/>
                <a:ea typeface="Calibri" pitchFamily="34" charset="-122"/>
                <a:cs typeface="Calibri" pitchFamily="34" charset="-120"/>
              </a:rPr>
              <a:t>GOAL</a:t>
            </a:r>
            <a:endParaRPr lang="en-US" sz="1050" dirty="0"/>
          </a:p>
        </p:txBody>
      </p:sp>
      <p:sp>
        <p:nvSpPr>
          <p:cNvPr id="10" name="Text 8"/>
          <p:cNvSpPr/>
          <p:nvPr/>
        </p:nvSpPr>
        <p:spPr>
          <a:xfrm>
            <a:off x="3291840" y="1947672"/>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Review one piece of work from four angles at once instead of one agent covering everything.</a:t>
            </a:r>
            <a:endParaRPr lang="en-US" sz="1200" dirty="0"/>
          </a:p>
        </p:txBody>
      </p:sp>
      <p:sp>
        <p:nvSpPr>
          <p:cNvPr id="11" name="Shape 9"/>
          <p:cNvSpPr/>
          <p:nvPr/>
        </p:nvSpPr>
        <p:spPr>
          <a:xfrm>
            <a:off x="3291840" y="2377440"/>
            <a:ext cx="5303520" cy="0"/>
          </a:xfrm>
          <a:prstGeom prst="line">
            <a:avLst/>
          </a:prstGeom>
          <a:noFill/>
          <a:ln w="9525">
            <a:solidFill>
              <a:srgbClr val="D9DCE6"/>
            </a:solidFill>
            <a:prstDash val="solid"/>
          </a:ln>
        </p:spPr>
      </p:sp>
      <p:sp>
        <p:nvSpPr>
          <p:cNvPr id="12" name="Text 10"/>
          <p:cNvSpPr/>
          <p:nvPr/>
        </p:nvSpPr>
        <p:spPr>
          <a:xfrm>
            <a:off x="3291840" y="2468880"/>
            <a:ext cx="5303520" cy="237744"/>
          </a:xfrm>
          <a:prstGeom prst="rect">
            <a:avLst/>
          </a:prstGeom>
          <a:noFill/>
          <a:ln/>
        </p:spPr>
        <p:txBody>
          <a:bodyPr wrap="square" lIns="0" tIns="0" rIns="0" bIns="0" rtlCol="0" anchor="ctr"/>
          <a:lstStyle/>
          <a:p>
            <a:pPr indent="0" marL="0">
              <a:buNone/>
            </a:pPr>
            <a:r>
              <a:rPr lang="en-US" sz="1050" b="1" spc="100" kern="0" dirty="0">
                <a:solidFill>
                  <a:srgbClr val="B23A48"/>
                </a:solidFill>
                <a:latin typeface="Calibri" pitchFamily="34" charset="0"/>
                <a:ea typeface="Calibri" pitchFamily="34" charset="-122"/>
                <a:cs typeface="Calibri" pitchFamily="34" charset="-120"/>
              </a:rPr>
              <a:t>THE FOUR AGENTS</a:t>
            </a:r>
            <a:endParaRPr lang="en-US" sz="1050" dirty="0"/>
          </a:p>
        </p:txBody>
      </p:sp>
      <p:sp>
        <p:nvSpPr>
          <p:cNvPr id="13" name="Text 11"/>
          <p:cNvSpPr/>
          <p:nvPr/>
        </p:nvSpPr>
        <p:spPr>
          <a:xfrm>
            <a:off x="3291840" y="2724912"/>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Factual (web search), domain relevance, safety/security, and style/clarity — each independent.</a:t>
            </a:r>
            <a:endParaRPr lang="en-US" sz="1200" dirty="0"/>
          </a:p>
        </p:txBody>
      </p:sp>
      <p:sp>
        <p:nvSpPr>
          <p:cNvPr id="14" name="Shape 12"/>
          <p:cNvSpPr/>
          <p:nvPr/>
        </p:nvSpPr>
        <p:spPr>
          <a:xfrm>
            <a:off x="3291840" y="3154680"/>
            <a:ext cx="5303520" cy="0"/>
          </a:xfrm>
          <a:prstGeom prst="line">
            <a:avLst/>
          </a:prstGeom>
          <a:noFill/>
          <a:ln w="9525">
            <a:solidFill>
              <a:srgbClr val="D9DCE6"/>
            </a:solidFill>
            <a:prstDash val="solid"/>
          </a:ln>
        </p:spPr>
      </p:sp>
      <p:sp>
        <p:nvSpPr>
          <p:cNvPr id="15" name="Text 13"/>
          <p:cNvSpPr/>
          <p:nvPr/>
        </p:nvSpPr>
        <p:spPr>
          <a:xfrm>
            <a:off x="3291840" y="3246120"/>
            <a:ext cx="5303520" cy="237744"/>
          </a:xfrm>
          <a:prstGeom prst="rect">
            <a:avLst/>
          </a:prstGeom>
          <a:noFill/>
          <a:ln/>
        </p:spPr>
        <p:txBody>
          <a:bodyPr wrap="square" lIns="0" tIns="0" rIns="0" bIns="0" rtlCol="0" anchor="ctr"/>
          <a:lstStyle/>
          <a:p>
            <a:pPr indent="0" marL="0">
              <a:buNone/>
            </a:pPr>
            <a:r>
              <a:rPr lang="en-US" sz="1050" b="1" spc="100" kern="0" dirty="0">
                <a:solidFill>
                  <a:srgbClr val="B23A48"/>
                </a:solidFill>
                <a:latin typeface="Calibri" pitchFamily="34" charset="0"/>
                <a:ea typeface="Calibri" pitchFamily="34" charset="-122"/>
                <a:cs typeface="Calibri" pitchFamily="34" charset="-120"/>
              </a:rPr>
              <a:t>WHAT HAPPENED</a:t>
            </a:r>
            <a:endParaRPr lang="en-US" sz="1050" dirty="0"/>
          </a:p>
        </p:txBody>
      </p:sp>
      <p:sp>
        <p:nvSpPr>
          <p:cNvPr id="16" name="Text 14"/>
          <p:cNvSpPr/>
          <p:nvPr/>
        </p:nvSpPr>
        <p:spPr>
          <a:xfrm>
            <a:off x="3291840" y="3502152"/>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The orchestrator ran every agent each round, applied round-one fixes, then re-ran all four for round two.</a:t>
            </a:r>
            <a:endParaRPr lang="en-US" sz="1200" dirty="0"/>
          </a:p>
        </p:txBody>
      </p:sp>
      <p:sp>
        <p:nvSpPr>
          <p:cNvPr id="17" name="Shape 15"/>
          <p:cNvSpPr/>
          <p:nvPr/>
        </p:nvSpPr>
        <p:spPr>
          <a:xfrm>
            <a:off x="3291840" y="3931920"/>
            <a:ext cx="5303520" cy="0"/>
          </a:xfrm>
          <a:prstGeom prst="line">
            <a:avLst/>
          </a:prstGeom>
          <a:noFill/>
          <a:ln w="9525">
            <a:solidFill>
              <a:srgbClr val="D9DCE6"/>
            </a:solidFill>
            <a:prstDash val="solid"/>
          </a:ln>
        </p:spPr>
      </p:sp>
      <p:sp>
        <p:nvSpPr>
          <p:cNvPr id="18" name="Text 16"/>
          <p:cNvSpPr/>
          <p:nvPr/>
        </p:nvSpPr>
        <p:spPr>
          <a:xfrm>
            <a:off x="3291840" y="4023360"/>
            <a:ext cx="5303520" cy="237744"/>
          </a:xfrm>
          <a:prstGeom prst="rect">
            <a:avLst/>
          </a:prstGeom>
          <a:noFill/>
          <a:ln/>
        </p:spPr>
        <p:txBody>
          <a:bodyPr wrap="square" lIns="0" tIns="0" rIns="0" bIns="0" rtlCol="0" anchor="ctr"/>
          <a:lstStyle/>
          <a:p>
            <a:pPr indent="0" marL="0">
              <a:buNone/>
            </a:pPr>
            <a:r>
              <a:rPr lang="en-US" sz="1050" b="1" spc="100" kern="0" dirty="0">
                <a:solidFill>
                  <a:srgbClr val="B23A48"/>
                </a:solidFill>
                <a:latin typeface="Calibri" pitchFamily="34" charset="0"/>
                <a:ea typeface="Calibri" pitchFamily="34" charset="-122"/>
                <a:cs typeface="Calibri" pitchFamily="34" charset="-120"/>
              </a:rPr>
              <a:t>LESSON</a:t>
            </a:r>
            <a:endParaRPr lang="en-US" sz="1050" dirty="0"/>
          </a:p>
        </p:txBody>
      </p:sp>
      <p:sp>
        <p:nvSpPr>
          <p:cNvPr id="19" name="Text 17"/>
          <p:cNvSpPr/>
          <p:nvPr/>
        </p:nvSpPr>
        <p:spPr>
          <a:xfrm>
            <a:off x="3291840" y="4279392"/>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One orchestrator (not peer-to-peer agents) works better here — it needs to hold prior-round context to coordinate.</a:t>
            </a:r>
            <a:endParaRPr lang="en-US" sz="1200" dirty="0"/>
          </a:p>
        </p:txBody>
      </p:sp>
      <p:sp>
        <p:nvSpPr>
          <p:cNvPr id="20" name="Text 18"/>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ONE LEVEL DEEPER</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800" b="1" dirty="0">
                <a:solidFill>
                  <a:srgbClr val="1A1D26"/>
                </a:solidFill>
                <a:latin typeface="Calibri" pitchFamily="34" charset="0"/>
                <a:ea typeface="Calibri" pitchFamily="34" charset="-122"/>
                <a:cs typeface="Calibri" pitchFamily="34" charset="-120"/>
              </a:rPr>
              <a:t>A loop can spawn its own loops</a:t>
            </a:r>
            <a:endParaRPr lang="en-US" sz="2800" dirty="0"/>
          </a:p>
        </p:txBody>
      </p:sp>
      <p:sp>
        <p:nvSpPr>
          <p:cNvPr id="4" name="Text 2"/>
          <p:cNvSpPr/>
          <p:nvPr/>
        </p:nvSpPr>
        <p:spPr>
          <a:xfrm>
            <a:off x="548640" y="1234440"/>
            <a:ext cx="8046720" cy="548640"/>
          </a:xfrm>
          <a:prstGeom prst="rect">
            <a:avLst/>
          </a:prstGeom>
          <a:noFill/>
          <a:ln/>
        </p:spPr>
        <p:txBody>
          <a:bodyPr wrap="square" lIns="0" tIns="0" rIns="0" bIns="0" rtlCol="0" anchor="ctr"/>
          <a:lstStyle/>
          <a:p>
            <a:pPr indent="0" marL="0">
              <a:lnSpc>
                <a:spcPct val="130000"/>
              </a:lnSpc>
              <a:buNone/>
            </a:pPr>
            <a:r>
              <a:rPr lang="en-US" sz="1300" dirty="0">
                <a:solidFill>
                  <a:srgbClr val="5B6072"/>
                </a:solidFill>
                <a:latin typeface="Calibri" pitchFamily="34" charset="0"/>
                <a:ea typeface="Calibri" pitchFamily="34" charset="-122"/>
                <a:cs typeface="Calibri" pitchFamily="34" charset="-120"/>
              </a:rPr>
              <a:t>Call it a Super Loop: a manager loop that reasons about the goal, then delegates pieces of it to worker loops — each one a complete Reason / Act / Observe / Done cycle on its own.</a:t>
            </a:r>
            <a:endParaRPr lang="en-US" sz="1300" dirty="0"/>
          </a:p>
        </p:txBody>
      </p:sp>
      <p:sp>
        <p:nvSpPr>
          <p:cNvPr id="5" name="Shape 3"/>
          <p:cNvSpPr/>
          <p:nvPr/>
        </p:nvSpPr>
        <p:spPr>
          <a:xfrm>
            <a:off x="548640" y="2057400"/>
            <a:ext cx="2624328" cy="2148840"/>
          </a:xfrm>
          <a:prstGeom prst="rect">
            <a:avLst/>
          </a:prstGeom>
          <a:solidFill>
            <a:srgbClr val="E8EEFC"/>
          </a:solidFill>
          <a:ln/>
        </p:spPr>
      </p:sp>
      <p:sp>
        <p:nvSpPr>
          <p:cNvPr id="6" name="Shape 4"/>
          <p:cNvSpPr/>
          <p:nvPr/>
        </p:nvSpPr>
        <p:spPr>
          <a:xfrm>
            <a:off x="548640" y="2057400"/>
            <a:ext cx="2624328" cy="64008"/>
          </a:xfrm>
          <a:prstGeom prst="rect">
            <a:avLst/>
          </a:prstGeom>
          <a:solidFill>
            <a:srgbClr val="1B2A57"/>
          </a:solidFill>
          <a:ln/>
        </p:spPr>
      </p:sp>
      <p:sp>
        <p:nvSpPr>
          <p:cNvPr id="7" name="Text 5"/>
          <p:cNvSpPr/>
          <p:nvPr/>
        </p:nvSpPr>
        <p:spPr>
          <a:xfrm>
            <a:off x="804672" y="2331720"/>
            <a:ext cx="2112264" cy="365760"/>
          </a:xfrm>
          <a:prstGeom prst="rect">
            <a:avLst/>
          </a:prstGeom>
          <a:noFill/>
          <a:ln/>
        </p:spPr>
        <p:txBody>
          <a:bodyPr wrap="square" lIns="0" tIns="0" rIns="0" bIns="0" rtlCol="0" anchor="ctr"/>
          <a:lstStyle/>
          <a:p>
            <a:pPr indent="0" marL="0">
              <a:buNone/>
            </a:pPr>
            <a:r>
              <a:rPr lang="en-US" sz="1500" b="1" dirty="0">
                <a:solidFill>
                  <a:srgbClr val="1B2A57"/>
                </a:solidFill>
                <a:latin typeface="Calibri" pitchFamily="34" charset="0"/>
                <a:ea typeface="Calibri" pitchFamily="34" charset="-122"/>
                <a:cs typeface="Calibri" pitchFamily="34" charset="-120"/>
              </a:rPr>
              <a:t>Manager loop</a:t>
            </a:r>
            <a:endParaRPr lang="en-US" sz="1500" dirty="0"/>
          </a:p>
        </p:txBody>
      </p:sp>
      <p:sp>
        <p:nvSpPr>
          <p:cNvPr id="8" name="Text 6"/>
          <p:cNvSpPr/>
          <p:nvPr/>
        </p:nvSpPr>
        <p:spPr>
          <a:xfrm>
            <a:off x="804672" y="2788920"/>
            <a:ext cx="2112264" cy="1280160"/>
          </a:xfrm>
          <a:prstGeom prst="rect">
            <a:avLst/>
          </a:prstGeom>
          <a:noFill/>
          <a:ln/>
        </p:spPr>
        <p:txBody>
          <a:bodyPr wrap="square" lIns="0" tIns="0" rIns="0" bIns="0" rtlCol="0" anchor="ctr"/>
          <a:lstStyle/>
          <a:p>
            <a:pPr indent="0" marL="0">
              <a:lnSpc>
                <a:spcPct val="130000"/>
              </a:lnSpc>
              <a:buNone/>
            </a:pPr>
            <a:r>
              <a:rPr lang="en-US" sz="1150" dirty="0">
                <a:solidFill>
                  <a:srgbClr val="1A1D26"/>
                </a:solidFill>
                <a:latin typeface="Calibri" pitchFamily="34" charset="0"/>
                <a:ea typeface="Calibri" pitchFamily="34" charset="-122"/>
                <a:cs typeface="Calibri" pitchFamily="34" charset="-120"/>
              </a:rPr>
              <a:t>Reasons about the overall goal, splits it into pieces, and decides what to delegate next.</a:t>
            </a:r>
            <a:endParaRPr lang="en-US" sz="1150" dirty="0"/>
          </a:p>
        </p:txBody>
      </p:sp>
      <p:sp>
        <p:nvSpPr>
          <p:cNvPr id="9" name="Shape 7"/>
          <p:cNvSpPr/>
          <p:nvPr/>
        </p:nvSpPr>
        <p:spPr>
          <a:xfrm>
            <a:off x="3429000" y="2057400"/>
            <a:ext cx="2624328" cy="2148840"/>
          </a:xfrm>
          <a:prstGeom prst="rect">
            <a:avLst/>
          </a:prstGeom>
          <a:solidFill>
            <a:srgbClr val="E8EEFC"/>
          </a:solidFill>
          <a:ln/>
        </p:spPr>
      </p:sp>
      <p:sp>
        <p:nvSpPr>
          <p:cNvPr id="10" name="Shape 8"/>
          <p:cNvSpPr/>
          <p:nvPr/>
        </p:nvSpPr>
        <p:spPr>
          <a:xfrm>
            <a:off x="3429000" y="2057400"/>
            <a:ext cx="2624328" cy="64008"/>
          </a:xfrm>
          <a:prstGeom prst="rect">
            <a:avLst/>
          </a:prstGeom>
          <a:solidFill>
            <a:srgbClr val="2F5FDE"/>
          </a:solidFill>
          <a:ln/>
        </p:spPr>
      </p:sp>
      <p:sp>
        <p:nvSpPr>
          <p:cNvPr id="11" name="Text 9"/>
          <p:cNvSpPr/>
          <p:nvPr/>
        </p:nvSpPr>
        <p:spPr>
          <a:xfrm>
            <a:off x="3685032" y="2331720"/>
            <a:ext cx="2112264" cy="365760"/>
          </a:xfrm>
          <a:prstGeom prst="rect">
            <a:avLst/>
          </a:prstGeom>
          <a:noFill/>
          <a:ln/>
        </p:spPr>
        <p:txBody>
          <a:bodyPr wrap="square" lIns="0" tIns="0" rIns="0" bIns="0" rtlCol="0" anchor="ctr"/>
          <a:lstStyle/>
          <a:p>
            <a:pPr indent="0" marL="0">
              <a:buNone/>
            </a:pPr>
            <a:r>
              <a:rPr lang="en-US" sz="1500" b="1" dirty="0">
                <a:solidFill>
                  <a:srgbClr val="2F5FDE"/>
                </a:solidFill>
                <a:latin typeface="Calibri" pitchFamily="34" charset="0"/>
                <a:ea typeface="Calibri" pitchFamily="34" charset="-122"/>
                <a:cs typeface="Calibri" pitchFamily="34" charset="-120"/>
              </a:rPr>
              <a:t>Worker loops</a:t>
            </a:r>
            <a:endParaRPr lang="en-US" sz="1500" dirty="0"/>
          </a:p>
        </p:txBody>
      </p:sp>
      <p:sp>
        <p:nvSpPr>
          <p:cNvPr id="12" name="Text 10"/>
          <p:cNvSpPr/>
          <p:nvPr/>
        </p:nvSpPr>
        <p:spPr>
          <a:xfrm>
            <a:off x="3685032" y="2788920"/>
            <a:ext cx="2112264" cy="1280160"/>
          </a:xfrm>
          <a:prstGeom prst="rect">
            <a:avLst/>
          </a:prstGeom>
          <a:noFill/>
          <a:ln/>
        </p:spPr>
        <p:txBody>
          <a:bodyPr wrap="square" lIns="0" tIns="0" rIns="0" bIns="0" rtlCol="0" anchor="ctr"/>
          <a:lstStyle/>
          <a:p>
            <a:pPr indent="0" marL="0">
              <a:lnSpc>
                <a:spcPct val="130000"/>
              </a:lnSpc>
              <a:buNone/>
            </a:pPr>
            <a:r>
              <a:rPr lang="en-US" sz="1150" dirty="0">
                <a:solidFill>
                  <a:srgbClr val="1A1D26"/>
                </a:solidFill>
                <a:latin typeface="Calibri" pitchFamily="34" charset="0"/>
                <a:ea typeface="Calibri" pitchFamily="34" charset="-122"/>
                <a:cs typeface="Calibri" pitchFamily="34" charset="-120"/>
              </a:rPr>
              <a:t>Each runs its own full loop on a scoped piece of the goal, with its own stop condition.</a:t>
            </a:r>
            <a:endParaRPr lang="en-US" sz="1150" dirty="0"/>
          </a:p>
        </p:txBody>
      </p:sp>
      <p:sp>
        <p:nvSpPr>
          <p:cNvPr id="13" name="Shape 11"/>
          <p:cNvSpPr/>
          <p:nvPr/>
        </p:nvSpPr>
        <p:spPr>
          <a:xfrm>
            <a:off x="6309360" y="2057400"/>
            <a:ext cx="2624328" cy="2148840"/>
          </a:xfrm>
          <a:prstGeom prst="rect">
            <a:avLst/>
          </a:prstGeom>
          <a:solidFill>
            <a:srgbClr val="E2F3E8"/>
          </a:solidFill>
          <a:ln/>
        </p:spPr>
      </p:sp>
      <p:sp>
        <p:nvSpPr>
          <p:cNvPr id="14" name="Shape 12"/>
          <p:cNvSpPr/>
          <p:nvPr/>
        </p:nvSpPr>
        <p:spPr>
          <a:xfrm>
            <a:off x="6309360" y="2057400"/>
            <a:ext cx="2624328" cy="64008"/>
          </a:xfrm>
          <a:prstGeom prst="rect">
            <a:avLst/>
          </a:prstGeom>
          <a:solidFill>
            <a:srgbClr val="1E6B3E"/>
          </a:solidFill>
          <a:ln/>
        </p:spPr>
      </p:sp>
      <p:sp>
        <p:nvSpPr>
          <p:cNvPr id="15" name="Text 13"/>
          <p:cNvSpPr/>
          <p:nvPr/>
        </p:nvSpPr>
        <p:spPr>
          <a:xfrm>
            <a:off x="6565392" y="2331720"/>
            <a:ext cx="2112264" cy="365760"/>
          </a:xfrm>
          <a:prstGeom prst="rect">
            <a:avLst/>
          </a:prstGeom>
          <a:noFill/>
          <a:ln/>
        </p:spPr>
        <p:txBody>
          <a:bodyPr wrap="square" lIns="0" tIns="0" rIns="0" bIns="0" rtlCol="0" anchor="ctr"/>
          <a:lstStyle/>
          <a:p>
            <a:pPr indent="0" marL="0">
              <a:buNone/>
            </a:pPr>
            <a:r>
              <a:rPr lang="en-US" sz="1500" b="1" dirty="0">
                <a:solidFill>
                  <a:srgbClr val="1E6B3E"/>
                </a:solidFill>
                <a:latin typeface="Calibri" pitchFamily="34" charset="0"/>
                <a:ea typeface="Calibri" pitchFamily="34" charset="-122"/>
                <a:cs typeface="Calibri" pitchFamily="34" charset="-120"/>
              </a:rPr>
              <a:t>Nested loops</a:t>
            </a:r>
            <a:endParaRPr lang="en-US" sz="1500" dirty="0"/>
          </a:p>
        </p:txBody>
      </p:sp>
      <p:sp>
        <p:nvSpPr>
          <p:cNvPr id="16" name="Text 14"/>
          <p:cNvSpPr/>
          <p:nvPr/>
        </p:nvSpPr>
        <p:spPr>
          <a:xfrm>
            <a:off x="6565392" y="2788920"/>
            <a:ext cx="2112264" cy="1280160"/>
          </a:xfrm>
          <a:prstGeom prst="rect">
            <a:avLst/>
          </a:prstGeom>
          <a:noFill/>
          <a:ln/>
        </p:spPr>
        <p:txBody>
          <a:bodyPr wrap="square" lIns="0" tIns="0" rIns="0" bIns="0" rtlCol="0" anchor="ctr"/>
          <a:lstStyle/>
          <a:p>
            <a:pPr indent="0" marL="0">
              <a:lnSpc>
                <a:spcPct val="130000"/>
              </a:lnSpc>
              <a:buNone/>
            </a:pPr>
            <a:r>
              <a:rPr lang="en-US" sz="1150" dirty="0">
                <a:solidFill>
                  <a:srgbClr val="1A1D26"/>
                </a:solidFill>
                <a:latin typeface="Calibri" pitchFamily="34" charset="0"/>
                <a:ea typeface="Calibri" pitchFamily="34" charset="-122"/>
                <a:cs typeface="Calibri" pitchFamily="34" charset="-120"/>
              </a:rPr>
              <a:t>A worker can spawn its own workers — the pattern repeats at any depth the task needs.</a:t>
            </a:r>
            <a:endParaRPr lang="en-US" sz="1150" dirty="0"/>
          </a:p>
        </p:txBody>
      </p:sp>
      <p:sp>
        <p:nvSpPr>
          <p:cNvPr id="17" name="Text 15"/>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LOOP IN A LOOP</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600" b="1" dirty="0">
                <a:solidFill>
                  <a:srgbClr val="1A1D26"/>
                </a:solidFill>
                <a:latin typeface="Calibri" pitchFamily="34" charset="0"/>
                <a:ea typeface="Calibri" pitchFamily="34" charset="-122"/>
                <a:cs typeface="Calibri" pitchFamily="34" charset="-120"/>
              </a:rPr>
              <a:t>The manager loop delegates to worker loops</a:t>
            </a:r>
            <a:endParaRPr lang="en-US" sz="2600" dirty="0"/>
          </a:p>
        </p:txBody>
      </p:sp>
      <p:sp>
        <p:nvSpPr>
          <p:cNvPr id="4" name="Shape 2"/>
          <p:cNvSpPr/>
          <p:nvPr/>
        </p:nvSpPr>
        <p:spPr>
          <a:xfrm>
            <a:off x="457200" y="1417320"/>
            <a:ext cx="8229600" cy="3246120"/>
          </a:xfrm>
          <a:prstGeom prst="rect">
            <a:avLst/>
          </a:prstGeom>
          <a:solidFill>
            <a:srgbClr val="F7F8FB"/>
          </a:solidFill>
          <a:ln w="12700">
            <a:solidFill>
              <a:srgbClr val="D9DCE6"/>
            </a:solidFill>
            <a:prstDash val="solid"/>
          </a:ln>
        </p:spPr>
      </p:sp>
      <p:sp>
        <p:nvSpPr>
          <p:cNvPr id="5" name="Shape 3"/>
          <p:cNvSpPr/>
          <p:nvPr/>
        </p:nvSpPr>
        <p:spPr>
          <a:xfrm>
            <a:off x="3200400" y="1581912"/>
            <a:ext cx="2743200" cy="566928"/>
          </a:xfrm>
          <a:prstGeom prst="roundRect">
            <a:avLst>
              <a:gd name="adj" fmla="val 12903"/>
            </a:avLst>
          </a:prstGeom>
          <a:solidFill>
            <a:srgbClr val="1B2A57"/>
          </a:solidFill>
          <a:ln/>
        </p:spPr>
      </p:sp>
      <p:sp>
        <p:nvSpPr>
          <p:cNvPr id="6" name="Text 4"/>
          <p:cNvSpPr/>
          <p:nvPr/>
        </p:nvSpPr>
        <p:spPr>
          <a:xfrm>
            <a:off x="3200400" y="1581912"/>
            <a:ext cx="2743200" cy="56692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Manager loop</a:t>
            </a:r>
            <a:endParaRPr lang="en-US" sz="1300" dirty="0"/>
          </a:p>
          <a:p>
            <a:pPr algn="ctr" indent="0" marL="0">
              <a:lnSpc>
                <a:spcPct val="110000"/>
              </a:lnSpc>
              <a:buNone/>
            </a:pPr>
            <a:r>
              <a:rPr lang="en-US" sz="950" dirty="0">
                <a:solidFill>
                  <a:srgbClr val="FFFFFF"/>
                </a:solidFill>
                <a:latin typeface="Calibri" pitchFamily="34" charset="0"/>
                <a:ea typeface="Calibri" pitchFamily="34" charset="-122"/>
                <a:cs typeface="Calibri" pitchFamily="34" charset="-120"/>
              </a:rPr>
              <a:t>reason → delegate → observe</a:t>
            </a:r>
            <a:endParaRPr lang="en-US" sz="1300" dirty="0"/>
          </a:p>
        </p:txBody>
      </p:sp>
      <p:sp>
        <p:nvSpPr>
          <p:cNvPr id="7" name="Shape 5"/>
          <p:cNvSpPr/>
          <p:nvPr/>
        </p:nvSpPr>
        <p:spPr>
          <a:xfrm>
            <a:off x="5120640" y="1453896"/>
            <a:ext cx="822960" cy="219456"/>
          </a:xfrm>
          <a:prstGeom prst="roundRect">
            <a:avLst>
              <a:gd name="adj" fmla="val 50000"/>
            </a:avLst>
          </a:prstGeom>
          <a:solidFill>
            <a:srgbClr val="0C4E54"/>
          </a:solidFill>
          <a:ln/>
        </p:spPr>
      </p:sp>
      <p:sp>
        <p:nvSpPr>
          <p:cNvPr id="8" name="Text 6"/>
          <p:cNvSpPr/>
          <p:nvPr/>
        </p:nvSpPr>
        <p:spPr>
          <a:xfrm>
            <a:off x="5120640" y="1453896"/>
            <a:ext cx="82296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private mem.</a:t>
            </a:r>
            <a:endParaRPr lang="en-US" sz="750" dirty="0"/>
          </a:p>
        </p:txBody>
      </p:sp>
      <p:sp>
        <p:nvSpPr>
          <p:cNvPr id="9" name="Shape 7"/>
          <p:cNvSpPr/>
          <p:nvPr/>
        </p:nvSpPr>
        <p:spPr>
          <a:xfrm flipH="1">
            <a:off x="1920240" y="2148840"/>
            <a:ext cx="2331720" cy="502920"/>
          </a:xfrm>
          <a:prstGeom prst="line">
            <a:avLst/>
          </a:prstGeom>
          <a:noFill/>
          <a:ln w="19050">
            <a:solidFill>
              <a:srgbClr val="2F5FDE"/>
            </a:solidFill>
            <a:prstDash val="solid"/>
            <a:tailEnd type="triangle"/>
          </a:ln>
        </p:spPr>
      </p:sp>
      <p:sp>
        <p:nvSpPr>
          <p:cNvPr id="10" name="Shape 8"/>
          <p:cNvSpPr/>
          <p:nvPr/>
        </p:nvSpPr>
        <p:spPr>
          <a:xfrm>
            <a:off x="777240" y="2651760"/>
            <a:ext cx="2286000" cy="713232"/>
          </a:xfrm>
          <a:prstGeom prst="roundRect">
            <a:avLst>
              <a:gd name="adj" fmla="val 8974"/>
            </a:avLst>
          </a:prstGeom>
          <a:solidFill>
            <a:srgbClr val="E8EEFC"/>
          </a:solidFill>
          <a:ln w="15875">
            <a:solidFill>
              <a:srgbClr val="2F5FDE"/>
            </a:solidFill>
            <a:prstDash val="solid"/>
          </a:ln>
        </p:spPr>
      </p:sp>
      <p:sp>
        <p:nvSpPr>
          <p:cNvPr id="11" name="Text 9"/>
          <p:cNvSpPr/>
          <p:nvPr/>
        </p:nvSpPr>
        <p:spPr>
          <a:xfrm>
            <a:off x="914400" y="2651760"/>
            <a:ext cx="2011680" cy="713232"/>
          </a:xfrm>
          <a:prstGeom prst="rect">
            <a:avLst/>
          </a:prstGeom>
          <a:noFill/>
          <a:ln/>
        </p:spPr>
        <p:txBody>
          <a:bodyPr wrap="square" lIns="0" tIns="0" rIns="0" bIns="0" rtlCol="0" anchor="ctr"/>
          <a:lstStyle/>
          <a:p>
            <a:pPr algn="ctr" indent="0" marL="0">
              <a:lnSpc>
                <a:spcPct val="115000"/>
              </a:lnSpc>
              <a:buNone/>
            </a:pPr>
            <a:r>
              <a:rPr lang="en-US" sz="1200" b="1" dirty="0">
                <a:solidFill>
                  <a:srgbClr val="1B2A57"/>
                </a:solidFill>
                <a:latin typeface="Calibri" pitchFamily="34" charset="0"/>
                <a:ea typeface="Calibri" pitchFamily="34" charset="-122"/>
                <a:cs typeface="Calibri" pitchFamily="34" charset="-120"/>
              </a:rPr>
              <a:t>Worker loop A</a:t>
            </a:r>
            <a:endParaRPr lang="en-US" sz="1200" dirty="0"/>
          </a:p>
          <a:p>
            <a:pPr algn="ctr" indent="0" marL="0">
              <a:lnSpc>
                <a:spcPct val="115000"/>
              </a:lnSpc>
              <a:buNone/>
            </a:pPr>
            <a:r>
              <a:rPr lang="en-US" sz="900" i="1" dirty="0">
                <a:solidFill>
                  <a:srgbClr val="1B2A57"/>
                </a:solidFill>
                <a:latin typeface="Calibri" pitchFamily="34" charset="0"/>
                <a:ea typeface="Calibri" pitchFamily="34" charset="-122"/>
                <a:cs typeface="Calibri" pitchFamily="34" charset="-120"/>
              </a:rPr>
              <a:t>own reason/act/observe</a:t>
            </a:r>
            <a:endParaRPr lang="en-US" sz="1200" dirty="0"/>
          </a:p>
        </p:txBody>
      </p:sp>
      <p:sp>
        <p:nvSpPr>
          <p:cNvPr id="12" name="Shape 10"/>
          <p:cNvSpPr/>
          <p:nvPr/>
        </p:nvSpPr>
        <p:spPr>
          <a:xfrm>
            <a:off x="2240280" y="2532888"/>
            <a:ext cx="822960" cy="201168"/>
          </a:xfrm>
          <a:prstGeom prst="roundRect">
            <a:avLst>
              <a:gd name="adj" fmla="val 50000"/>
            </a:avLst>
          </a:prstGeom>
          <a:solidFill>
            <a:srgbClr val="2F5FDE"/>
          </a:solidFill>
          <a:ln/>
        </p:spPr>
      </p:sp>
      <p:sp>
        <p:nvSpPr>
          <p:cNvPr id="13" name="Text 11"/>
          <p:cNvSpPr/>
          <p:nvPr/>
        </p:nvSpPr>
        <p:spPr>
          <a:xfrm>
            <a:off x="2240280" y="2532888"/>
            <a:ext cx="8229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private mem.</a:t>
            </a:r>
            <a:endParaRPr lang="en-US" sz="750" dirty="0"/>
          </a:p>
        </p:txBody>
      </p:sp>
      <p:sp>
        <p:nvSpPr>
          <p:cNvPr id="14" name="Shape 12"/>
          <p:cNvSpPr/>
          <p:nvPr/>
        </p:nvSpPr>
        <p:spPr>
          <a:xfrm>
            <a:off x="4572000" y="2148840"/>
            <a:ext cx="0" cy="502920"/>
          </a:xfrm>
          <a:prstGeom prst="line">
            <a:avLst/>
          </a:prstGeom>
          <a:noFill/>
          <a:ln w="19050">
            <a:solidFill>
              <a:srgbClr val="2F5FDE"/>
            </a:solidFill>
            <a:prstDash val="solid"/>
            <a:tailEnd type="triangle"/>
          </a:ln>
        </p:spPr>
      </p:sp>
      <p:sp>
        <p:nvSpPr>
          <p:cNvPr id="15" name="Shape 13"/>
          <p:cNvSpPr/>
          <p:nvPr/>
        </p:nvSpPr>
        <p:spPr>
          <a:xfrm>
            <a:off x="3429000" y="2651760"/>
            <a:ext cx="2286000" cy="713232"/>
          </a:xfrm>
          <a:prstGeom prst="roundRect">
            <a:avLst>
              <a:gd name="adj" fmla="val 8974"/>
            </a:avLst>
          </a:prstGeom>
          <a:solidFill>
            <a:srgbClr val="E8EEFC"/>
          </a:solidFill>
          <a:ln w="15875">
            <a:solidFill>
              <a:srgbClr val="2F5FDE"/>
            </a:solidFill>
            <a:prstDash val="solid"/>
          </a:ln>
        </p:spPr>
      </p:sp>
      <p:sp>
        <p:nvSpPr>
          <p:cNvPr id="16" name="Text 14"/>
          <p:cNvSpPr/>
          <p:nvPr/>
        </p:nvSpPr>
        <p:spPr>
          <a:xfrm>
            <a:off x="3566160" y="2651760"/>
            <a:ext cx="2011680" cy="713232"/>
          </a:xfrm>
          <a:prstGeom prst="rect">
            <a:avLst/>
          </a:prstGeom>
          <a:noFill/>
          <a:ln/>
        </p:spPr>
        <p:txBody>
          <a:bodyPr wrap="square" lIns="0" tIns="0" rIns="0" bIns="0" rtlCol="0" anchor="ctr"/>
          <a:lstStyle/>
          <a:p>
            <a:pPr algn="ctr" indent="0" marL="0">
              <a:lnSpc>
                <a:spcPct val="115000"/>
              </a:lnSpc>
              <a:buNone/>
            </a:pPr>
            <a:r>
              <a:rPr lang="en-US" sz="1200" b="1" dirty="0">
                <a:solidFill>
                  <a:srgbClr val="1B2A57"/>
                </a:solidFill>
                <a:latin typeface="Calibri" pitchFamily="34" charset="0"/>
                <a:ea typeface="Calibri" pitchFamily="34" charset="-122"/>
                <a:cs typeface="Calibri" pitchFamily="34" charset="-120"/>
              </a:rPr>
              <a:t>Worker loop B</a:t>
            </a:r>
            <a:endParaRPr lang="en-US" sz="1200" dirty="0"/>
          </a:p>
          <a:p>
            <a:pPr algn="ctr" indent="0" marL="0">
              <a:lnSpc>
                <a:spcPct val="115000"/>
              </a:lnSpc>
              <a:buNone/>
            </a:pPr>
            <a:r>
              <a:rPr lang="en-US" sz="900" i="1" dirty="0">
                <a:solidFill>
                  <a:srgbClr val="1B2A57"/>
                </a:solidFill>
                <a:latin typeface="Calibri" pitchFamily="34" charset="0"/>
                <a:ea typeface="Calibri" pitchFamily="34" charset="-122"/>
                <a:cs typeface="Calibri" pitchFamily="34" charset="-120"/>
              </a:rPr>
              <a:t>own reason/act/observe</a:t>
            </a:r>
            <a:endParaRPr lang="en-US" sz="1200" dirty="0"/>
          </a:p>
        </p:txBody>
      </p:sp>
      <p:sp>
        <p:nvSpPr>
          <p:cNvPr id="17" name="Shape 15"/>
          <p:cNvSpPr/>
          <p:nvPr/>
        </p:nvSpPr>
        <p:spPr>
          <a:xfrm>
            <a:off x="4892040" y="2532888"/>
            <a:ext cx="822960" cy="201168"/>
          </a:xfrm>
          <a:prstGeom prst="roundRect">
            <a:avLst>
              <a:gd name="adj" fmla="val 50000"/>
            </a:avLst>
          </a:prstGeom>
          <a:solidFill>
            <a:srgbClr val="2F5FDE"/>
          </a:solidFill>
          <a:ln/>
        </p:spPr>
      </p:sp>
      <p:sp>
        <p:nvSpPr>
          <p:cNvPr id="18" name="Text 16"/>
          <p:cNvSpPr/>
          <p:nvPr/>
        </p:nvSpPr>
        <p:spPr>
          <a:xfrm>
            <a:off x="4892040" y="2532888"/>
            <a:ext cx="8229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private mem.</a:t>
            </a:r>
            <a:endParaRPr lang="en-US" sz="750" dirty="0"/>
          </a:p>
        </p:txBody>
      </p:sp>
      <p:sp>
        <p:nvSpPr>
          <p:cNvPr id="19" name="Shape 17"/>
          <p:cNvSpPr/>
          <p:nvPr/>
        </p:nvSpPr>
        <p:spPr>
          <a:xfrm>
            <a:off x="4892040" y="2148840"/>
            <a:ext cx="2331720" cy="502920"/>
          </a:xfrm>
          <a:prstGeom prst="line">
            <a:avLst/>
          </a:prstGeom>
          <a:noFill/>
          <a:ln w="19050">
            <a:solidFill>
              <a:srgbClr val="2F5FDE"/>
            </a:solidFill>
            <a:prstDash val="solid"/>
            <a:tailEnd type="triangle"/>
          </a:ln>
        </p:spPr>
      </p:sp>
      <p:sp>
        <p:nvSpPr>
          <p:cNvPr id="20" name="Shape 18"/>
          <p:cNvSpPr/>
          <p:nvPr/>
        </p:nvSpPr>
        <p:spPr>
          <a:xfrm>
            <a:off x="6080760" y="2651760"/>
            <a:ext cx="2286000" cy="713232"/>
          </a:xfrm>
          <a:prstGeom prst="roundRect">
            <a:avLst>
              <a:gd name="adj" fmla="val 8974"/>
            </a:avLst>
          </a:prstGeom>
          <a:solidFill>
            <a:srgbClr val="E8EEFC"/>
          </a:solidFill>
          <a:ln w="15875">
            <a:solidFill>
              <a:srgbClr val="2F5FDE"/>
            </a:solidFill>
            <a:prstDash val="solid"/>
          </a:ln>
        </p:spPr>
      </p:sp>
      <p:sp>
        <p:nvSpPr>
          <p:cNvPr id="21" name="Text 19"/>
          <p:cNvSpPr/>
          <p:nvPr/>
        </p:nvSpPr>
        <p:spPr>
          <a:xfrm>
            <a:off x="6217920" y="2651760"/>
            <a:ext cx="2011680" cy="713232"/>
          </a:xfrm>
          <a:prstGeom prst="rect">
            <a:avLst/>
          </a:prstGeom>
          <a:noFill/>
          <a:ln/>
        </p:spPr>
        <p:txBody>
          <a:bodyPr wrap="square" lIns="0" tIns="0" rIns="0" bIns="0" rtlCol="0" anchor="ctr"/>
          <a:lstStyle/>
          <a:p>
            <a:pPr algn="ctr" indent="0" marL="0">
              <a:lnSpc>
                <a:spcPct val="115000"/>
              </a:lnSpc>
              <a:buNone/>
            </a:pPr>
            <a:r>
              <a:rPr lang="en-US" sz="1200" b="1" dirty="0">
                <a:solidFill>
                  <a:srgbClr val="1B2A57"/>
                </a:solidFill>
                <a:latin typeface="Calibri" pitchFamily="34" charset="0"/>
                <a:ea typeface="Calibri" pitchFamily="34" charset="-122"/>
                <a:cs typeface="Calibri" pitchFamily="34" charset="-120"/>
              </a:rPr>
              <a:t>Worker loop C</a:t>
            </a:r>
            <a:endParaRPr lang="en-US" sz="1200" dirty="0"/>
          </a:p>
          <a:p>
            <a:pPr algn="ctr" indent="0" marL="0">
              <a:lnSpc>
                <a:spcPct val="115000"/>
              </a:lnSpc>
              <a:buNone/>
            </a:pPr>
            <a:r>
              <a:rPr lang="en-US" sz="900" i="1" dirty="0">
                <a:solidFill>
                  <a:srgbClr val="1B2A57"/>
                </a:solidFill>
                <a:latin typeface="Calibri" pitchFamily="34" charset="0"/>
                <a:ea typeface="Calibri" pitchFamily="34" charset="-122"/>
                <a:cs typeface="Calibri" pitchFamily="34" charset="-120"/>
              </a:rPr>
              <a:t>spawns its own worker ↓</a:t>
            </a:r>
            <a:endParaRPr lang="en-US" sz="1200" dirty="0"/>
          </a:p>
        </p:txBody>
      </p:sp>
      <p:sp>
        <p:nvSpPr>
          <p:cNvPr id="22" name="Shape 20"/>
          <p:cNvSpPr/>
          <p:nvPr/>
        </p:nvSpPr>
        <p:spPr>
          <a:xfrm>
            <a:off x="7543800" y="2532888"/>
            <a:ext cx="822960" cy="201168"/>
          </a:xfrm>
          <a:prstGeom prst="roundRect">
            <a:avLst>
              <a:gd name="adj" fmla="val 50000"/>
            </a:avLst>
          </a:prstGeom>
          <a:solidFill>
            <a:srgbClr val="2F5FDE"/>
          </a:solidFill>
          <a:ln/>
        </p:spPr>
      </p:sp>
      <p:sp>
        <p:nvSpPr>
          <p:cNvPr id="23" name="Text 21"/>
          <p:cNvSpPr/>
          <p:nvPr/>
        </p:nvSpPr>
        <p:spPr>
          <a:xfrm>
            <a:off x="7543800" y="2532888"/>
            <a:ext cx="8229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private mem.</a:t>
            </a:r>
            <a:endParaRPr lang="en-US" sz="750" dirty="0"/>
          </a:p>
        </p:txBody>
      </p:sp>
      <p:sp>
        <p:nvSpPr>
          <p:cNvPr id="24" name="Shape 22"/>
          <p:cNvSpPr/>
          <p:nvPr/>
        </p:nvSpPr>
        <p:spPr>
          <a:xfrm>
            <a:off x="1920240" y="3337560"/>
            <a:ext cx="0" cy="173736"/>
          </a:xfrm>
          <a:prstGeom prst="line">
            <a:avLst/>
          </a:prstGeom>
          <a:noFill/>
          <a:ln w="12700">
            <a:solidFill>
              <a:srgbClr val="A6ABBD"/>
            </a:solidFill>
            <a:prstDash val="dash"/>
          </a:ln>
        </p:spPr>
      </p:sp>
      <p:sp>
        <p:nvSpPr>
          <p:cNvPr id="25" name="Shape 23"/>
          <p:cNvSpPr/>
          <p:nvPr/>
        </p:nvSpPr>
        <p:spPr>
          <a:xfrm>
            <a:off x="1920240" y="3511296"/>
            <a:ext cx="1508760" cy="0"/>
          </a:xfrm>
          <a:prstGeom prst="line">
            <a:avLst/>
          </a:prstGeom>
          <a:noFill/>
          <a:ln w="12700">
            <a:solidFill>
              <a:srgbClr val="A6ABBD"/>
            </a:solidFill>
            <a:prstDash val="dash"/>
          </a:ln>
        </p:spPr>
      </p:sp>
      <p:sp>
        <p:nvSpPr>
          <p:cNvPr id="26" name="Shape 24"/>
          <p:cNvSpPr/>
          <p:nvPr/>
        </p:nvSpPr>
        <p:spPr>
          <a:xfrm flipV="1">
            <a:off x="3429000" y="2148840"/>
            <a:ext cx="0" cy="1362456"/>
          </a:xfrm>
          <a:prstGeom prst="line">
            <a:avLst/>
          </a:prstGeom>
          <a:noFill/>
          <a:ln w="19050">
            <a:solidFill>
              <a:srgbClr val="A6ABBD"/>
            </a:solidFill>
            <a:prstDash val="dash"/>
            <a:tailEnd type="triangle"/>
          </a:ln>
        </p:spPr>
      </p:sp>
      <p:sp>
        <p:nvSpPr>
          <p:cNvPr id="27" name="Shape 25"/>
          <p:cNvSpPr/>
          <p:nvPr/>
        </p:nvSpPr>
        <p:spPr>
          <a:xfrm>
            <a:off x="6720840" y="3337560"/>
            <a:ext cx="0" cy="173736"/>
          </a:xfrm>
          <a:prstGeom prst="line">
            <a:avLst/>
          </a:prstGeom>
          <a:noFill/>
          <a:ln w="12700">
            <a:solidFill>
              <a:srgbClr val="A6ABBD"/>
            </a:solidFill>
            <a:prstDash val="dash"/>
          </a:ln>
        </p:spPr>
      </p:sp>
      <p:sp>
        <p:nvSpPr>
          <p:cNvPr id="28" name="Shape 26"/>
          <p:cNvSpPr/>
          <p:nvPr/>
        </p:nvSpPr>
        <p:spPr>
          <a:xfrm>
            <a:off x="5715000" y="3511296"/>
            <a:ext cx="1005840" cy="0"/>
          </a:xfrm>
          <a:prstGeom prst="line">
            <a:avLst/>
          </a:prstGeom>
          <a:noFill/>
          <a:ln w="12700">
            <a:solidFill>
              <a:srgbClr val="A6ABBD"/>
            </a:solidFill>
            <a:prstDash val="dash"/>
          </a:ln>
        </p:spPr>
      </p:sp>
      <p:sp>
        <p:nvSpPr>
          <p:cNvPr id="29" name="Shape 27"/>
          <p:cNvSpPr/>
          <p:nvPr/>
        </p:nvSpPr>
        <p:spPr>
          <a:xfrm flipV="1">
            <a:off x="5715000" y="2148840"/>
            <a:ext cx="0" cy="1362456"/>
          </a:xfrm>
          <a:prstGeom prst="line">
            <a:avLst/>
          </a:prstGeom>
          <a:noFill/>
          <a:ln w="19050">
            <a:solidFill>
              <a:srgbClr val="A6ABBD"/>
            </a:solidFill>
            <a:prstDash val="dash"/>
            <a:tailEnd type="triangle"/>
          </a:ln>
        </p:spPr>
      </p:sp>
      <p:sp>
        <p:nvSpPr>
          <p:cNvPr id="30" name="Shape 28"/>
          <p:cNvSpPr/>
          <p:nvPr/>
        </p:nvSpPr>
        <p:spPr>
          <a:xfrm>
            <a:off x="3429000" y="3712464"/>
            <a:ext cx="2286000" cy="457200"/>
          </a:xfrm>
          <a:prstGeom prst="roundRect">
            <a:avLst>
              <a:gd name="adj" fmla="val 12000"/>
            </a:avLst>
          </a:prstGeom>
          <a:solidFill>
            <a:srgbClr val="2F9E5B"/>
          </a:solidFill>
          <a:ln/>
        </p:spPr>
      </p:sp>
      <p:sp>
        <p:nvSpPr>
          <p:cNvPr id="31" name="Text 29"/>
          <p:cNvSpPr/>
          <p:nvPr/>
        </p:nvSpPr>
        <p:spPr>
          <a:xfrm>
            <a:off x="3429000" y="3712464"/>
            <a:ext cx="2286000" cy="457200"/>
          </a:xfrm>
          <a:prstGeom prst="rect">
            <a:avLst/>
          </a:prstGeom>
          <a:noFill/>
          <a:ln/>
        </p:spPr>
        <p:txBody>
          <a:bodyPr wrap="square" lIns="0" tIns="0" rIns="0" bIns="0" rtlCol="0" anchor="ctr"/>
          <a:lstStyle/>
          <a:p>
            <a:pPr algn="ctr" indent="0" marL="0">
              <a:lnSpc>
                <a:spcPct val="110000"/>
              </a:lnSpc>
              <a:buNone/>
            </a:pPr>
            <a:r>
              <a:rPr lang="en-US" sz="1050" b="1" dirty="0">
                <a:solidFill>
                  <a:srgbClr val="FFFFFF"/>
                </a:solidFill>
                <a:latin typeface="Calibri" pitchFamily="34" charset="0"/>
                <a:ea typeface="Calibri" pitchFamily="34" charset="-122"/>
                <a:cs typeface="Calibri" pitchFamily="34" charset="-120"/>
              </a:rPr>
              <a:t>Shared memory store</a:t>
            </a:r>
            <a:endParaRPr lang="en-US" sz="1050" dirty="0"/>
          </a:p>
          <a:p>
            <a:pPr algn="ctr" indent="0" marL="0">
              <a:lnSpc>
                <a:spcPct val="110000"/>
              </a:lnSpc>
              <a:buNone/>
            </a:pPr>
            <a:r>
              <a:rPr lang="en-US" sz="850" i="1" dirty="0">
                <a:solidFill>
                  <a:srgbClr val="FFFFFF"/>
                </a:solidFill>
                <a:latin typeface="Calibri" pitchFamily="34" charset="0"/>
                <a:ea typeface="Calibri" pitchFamily="34" charset="-122"/>
                <a:cs typeface="Calibri" pitchFamily="34" charset="-120"/>
              </a:rPr>
              <a:t>goal, results, handoff state</a:t>
            </a:r>
            <a:endParaRPr lang="en-US" sz="1050" dirty="0"/>
          </a:p>
        </p:txBody>
      </p:sp>
      <p:sp>
        <p:nvSpPr>
          <p:cNvPr id="32" name="Shape 30"/>
          <p:cNvSpPr/>
          <p:nvPr/>
        </p:nvSpPr>
        <p:spPr>
          <a:xfrm>
            <a:off x="4572000" y="3383280"/>
            <a:ext cx="0" cy="329184"/>
          </a:xfrm>
          <a:prstGeom prst="line">
            <a:avLst/>
          </a:prstGeom>
          <a:noFill/>
          <a:ln w="19050">
            <a:solidFill>
              <a:srgbClr val="2F9E5B"/>
            </a:solidFill>
            <a:prstDash val="dash"/>
            <a:tailEnd type="triangle"/>
          </a:ln>
        </p:spPr>
      </p:sp>
      <p:sp>
        <p:nvSpPr>
          <p:cNvPr id="33" name="Text 31"/>
          <p:cNvSpPr/>
          <p:nvPr/>
        </p:nvSpPr>
        <p:spPr>
          <a:xfrm>
            <a:off x="4343400" y="3383280"/>
            <a:ext cx="457200" cy="164592"/>
          </a:xfrm>
          <a:prstGeom prst="rect">
            <a:avLst/>
          </a:prstGeom>
          <a:noFill/>
          <a:ln/>
        </p:spPr>
        <p:txBody>
          <a:bodyPr wrap="square" lIns="0" tIns="0" rIns="0" bIns="0" rtlCol="0" anchor="ctr"/>
          <a:lstStyle/>
          <a:p>
            <a:pPr algn="ctr" indent="0" marL="0">
              <a:buNone/>
            </a:pPr>
            <a:r>
              <a:rPr lang="en-US" sz="750" i="1" dirty="0">
                <a:solidFill>
                  <a:srgbClr val="2F9E5B"/>
                </a:solidFill>
                <a:latin typeface="Calibri" pitchFamily="34" charset="0"/>
                <a:ea typeface="Calibri" pitchFamily="34" charset="-122"/>
                <a:cs typeface="Calibri" pitchFamily="34" charset="-120"/>
              </a:rPr>
              <a:t>r/w</a:t>
            </a:r>
            <a:endParaRPr lang="en-US" sz="750" dirty="0"/>
          </a:p>
        </p:txBody>
      </p:sp>
      <p:sp>
        <p:nvSpPr>
          <p:cNvPr id="34" name="Shape 32"/>
          <p:cNvSpPr/>
          <p:nvPr/>
        </p:nvSpPr>
        <p:spPr>
          <a:xfrm>
            <a:off x="7223760" y="3364992"/>
            <a:ext cx="0" cy="420624"/>
          </a:xfrm>
          <a:prstGeom prst="line">
            <a:avLst/>
          </a:prstGeom>
          <a:noFill/>
          <a:ln w="19050">
            <a:solidFill>
              <a:srgbClr val="C98A1B"/>
            </a:solidFill>
            <a:prstDash val="dash"/>
            <a:tailEnd type="triangle"/>
          </a:ln>
        </p:spPr>
      </p:sp>
      <p:sp>
        <p:nvSpPr>
          <p:cNvPr id="35" name="Shape 33"/>
          <p:cNvSpPr/>
          <p:nvPr/>
        </p:nvSpPr>
        <p:spPr>
          <a:xfrm>
            <a:off x="6263640" y="3785616"/>
            <a:ext cx="1920240" cy="502920"/>
          </a:xfrm>
          <a:prstGeom prst="roundRect">
            <a:avLst>
              <a:gd name="adj" fmla="val 10909"/>
            </a:avLst>
          </a:prstGeom>
          <a:solidFill>
            <a:srgbClr val="FBF1DC"/>
          </a:solidFill>
          <a:ln w="15875">
            <a:solidFill>
              <a:srgbClr val="C98A1B"/>
            </a:solidFill>
            <a:prstDash val="solid"/>
          </a:ln>
        </p:spPr>
      </p:sp>
      <p:sp>
        <p:nvSpPr>
          <p:cNvPr id="36" name="Text 34"/>
          <p:cNvSpPr/>
          <p:nvPr/>
        </p:nvSpPr>
        <p:spPr>
          <a:xfrm>
            <a:off x="6263640" y="3785616"/>
            <a:ext cx="1920240" cy="502920"/>
          </a:xfrm>
          <a:prstGeom prst="rect">
            <a:avLst/>
          </a:prstGeom>
          <a:noFill/>
          <a:ln/>
        </p:spPr>
        <p:txBody>
          <a:bodyPr wrap="square" lIns="0" tIns="0" rIns="0" bIns="0" rtlCol="0" anchor="ctr"/>
          <a:lstStyle/>
          <a:p>
            <a:pPr algn="ctr" indent="0" marL="0">
              <a:buNone/>
            </a:pPr>
            <a:r>
              <a:rPr lang="en-US" sz="1050" b="1" dirty="0">
                <a:solidFill>
                  <a:srgbClr val="8A5F0E"/>
                </a:solidFill>
                <a:latin typeface="Calibri" pitchFamily="34" charset="0"/>
                <a:ea typeface="Calibri" pitchFamily="34" charset="-122"/>
                <a:cs typeface="Calibri" pitchFamily="34" charset="-120"/>
              </a:rPr>
              <a:t>Worker C.1 (nested)</a:t>
            </a:r>
            <a:endParaRPr lang="en-US" sz="1050" dirty="0"/>
          </a:p>
        </p:txBody>
      </p:sp>
      <p:sp>
        <p:nvSpPr>
          <p:cNvPr id="37" name="Text 35"/>
          <p:cNvSpPr/>
          <p:nvPr/>
        </p:nvSpPr>
        <p:spPr>
          <a:xfrm>
            <a:off x="640080" y="4389120"/>
            <a:ext cx="7863840" cy="228600"/>
          </a:xfrm>
          <a:prstGeom prst="rect">
            <a:avLst/>
          </a:prstGeom>
          <a:noFill/>
          <a:ln/>
        </p:spPr>
        <p:txBody>
          <a:bodyPr wrap="square" lIns="0" tIns="0" rIns="0" bIns="0" rtlCol="0" anchor="ctr"/>
          <a:lstStyle/>
          <a:p>
            <a:pPr indent="0" marL="0">
              <a:buNone/>
            </a:pPr>
            <a:r>
              <a:rPr lang="en-US" sz="900" i="1" dirty="0">
                <a:solidFill>
                  <a:srgbClr val="5B6072"/>
                </a:solidFill>
                <a:latin typeface="Calibri Light" pitchFamily="34" charset="0"/>
                <a:ea typeface="Calibri Light" pitchFamily="34" charset="-122"/>
                <a:cs typeface="Calibri Light" pitchFamily="34" charset="-120"/>
              </a:rPr>
              <a:t>solid = delegate down · dashed gray = partial results streaming back · dashed gold = recursive nesting · dotted green = shared memory read/write</a:t>
            </a:r>
            <a:endParaRPr lang="en-US" sz="900" dirty="0"/>
          </a:p>
        </p:txBody>
      </p:sp>
      <p:sp>
        <p:nvSpPr>
          <p:cNvPr id="38" name="Text 36"/>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57"/>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8FA8F0"/>
                </a:solidFill>
                <a:latin typeface="Calibri" pitchFamily="34" charset="0"/>
                <a:ea typeface="Calibri" pitchFamily="34" charset="-122"/>
                <a:cs typeface="Calibri" pitchFamily="34" charset="-120"/>
              </a:rPr>
              <a:t>WHY NEST LOOPS AT ALL</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Two payoffs: speed, and containment</a:t>
            </a:r>
            <a:endParaRPr lang="en-US" sz="2800" dirty="0"/>
          </a:p>
        </p:txBody>
      </p:sp>
      <p:sp>
        <p:nvSpPr>
          <p:cNvPr id="4" name="Shape 2"/>
          <p:cNvSpPr/>
          <p:nvPr/>
        </p:nvSpPr>
        <p:spPr>
          <a:xfrm>
            <a:off x="548640" y="1600200"/>
            <a:ext cx="3840480" cy="2514600"/>
          </a:xfrm>
          <a:prstGeom prst="rect">
            <a:avLst/>
          </a:prstGeom>
          <a:solidFill>
            <a:srgbClr val="243668"/>
          </a:solidFill>
          <a:ln/>
        </p:spPr>
      </p:sp>
      <p:sp>
        <p:nvSpPr>
          <p:cNvPr id="5" name="Shape 3"/>
          <p:cNvSpPr/>
          <p:nvPr/>
        </p:nvSpPr>
        <p:spPr>
          <a:xfrm>
            <a:off x="548640" y="1600200"/>
            <a:ext cx="3840480" cy="64008"/>
          </a:xfrm>
          <a:prstGeom prst="rect">
            <a:avLst/>
          </a:prstGeom>
          <a:solidFill>
            <a:srgbClr val="5F76C7"/>
          </a:solidFill>
          <a:ln/>
        </p:spPr>
      </p:sp>
      <p:sp>
        <p:nvSpPr>
          <p:cNvPr id="6" name="Text 4"/>
          <p:cNvSpPr/>
          <p:nvPr/>
        </p:nvSpPr>
        <p:spPr>
          <a:xfrm>
            <a:off x="841248" y="1874520"/>
            <a:ext cx="3255264" cy="4114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Parallelism</a:t>
            </a:r>
            <a:endParaRPr lang="en-US" sz="1900" dirty="0"/>
          </a:p>
        </p:txBody>
      </p:sp>
      <p:sp>
        <p:nvSpPr>
          <p:cNvPr id="7" name="Text 5"/>
          <p:cNvSpPr/>
          <p:nvPr/>
        </p:nvSpPr>
        <p:spPr>
          <a:xfrm>
            <a:off x="841248" y="2377440"/>
            <a:ext cx="3255264" cy="1554480"/>
          </a:xfrm>
          <a:prstGeom prst="rect">
            <a:avLst/>
          </a:prstGeom>
          <a:noFill/>
          <a:ln/>
        </p:spPr>
        <p:txBody>
          <a:bodyPr wrap="square" lIns="0" tIns="0" rIns="0" bIns="0" rtlCol="0" anchor="ctr"/>
          <a:lstStyle/>
          <a:p>
            <a:pPr indent="0" marL="0">
              <a:lnSpc>
                <a:spcPct val="135000"/>
              </a:lnSpc>
              <a:buNone/>
            </a:pPr>
            <a:r>
              <a:rPr lang="en-US" sz="1200" dirty="0">
                <a:solidFill>
                  <a:srgbClr val="C7D1F0"/>
                </a:solidFill>
                <a:latin typeface="Calibri" pitchFamily="34" charset="0"/>
                <a:ea typeface="Calibri" pitchFamily="34" charset="-122"/>
                <a:cs typeface="Calibri" pitchFamily="34" charset="-120"/>
              </a:rPr>
              <a:t>Independent pieces of the goal run as separate worker loops at the same time, instead of one long loop working through everything in sequence. The manager can act the moment any single worker reports back — it doesn’t have to wait for all of them.</a:t>
            </a:r>
            <a:endParaRPr lang="en-US" sz="1200" dirty="0"/>
          </a:p>
        </p:txBody>
      </p:sp>
      <p:sp>
        <p:nvSpPr>
          <p:cNvPr id="8" name="Shape 6"/>
          <p:cNvSpPr/>
          <p:nvPr/>
        </p:nvSpPr>
        <p:spPr>
          <a:xfrm>
            <a:off x="4754880" y="1600200"/>
            <a:ext cx="3840480" cy="2514600"/>
          </a:xfrm>
          <a:prstGeom prst="rect">
            <a:avLst/>
          </a:prstGeom>
          <a:solidFill>
            <a:srgbClr val="243668"/>
          </a:solidFill>
          <a:ln/>
        </p:spPr>
      </p:sp>
      <p:sp>
        <p:nvSpPr>
          <p:cNvPr id="9" name="Shape 7"/>
          <p:cNvSpPr/>
          <p:nvPr/>
        </p:nvSpPr>
        <p:spPr>
          <a:xfrm>
            <a:off x="4754880" y="1600200"/>
            <a:ext cx="3840480" cy="64008"/>
          </a:xfrm>
          <a:prstGeom prst="rect">
            <a:avLst/>
          </a:prstGeom>
          <a:solidFill>
            <a:srgbClr val="3D8F63"/>
          </a:solidFill>
          <a:ln/>
        </p:spPr>
      </p:sp>
      <p:sp>
        <p:nvSpPr>
          <p:cNvPr id="10" name="Text 8"/>
          <p:cNvSpPr/>
          <p:nvPr/>
        </p:nvSpPr>
        <p:spPr>
          <a:xfrm>
            <a:off x="5047488" y="1874520"/>
            <a:ext cx="3255264" cy="41148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Isolation</a:t>
            </a:r>
            <a:endParaRPr lang="en-US" sz="1900" dirty="0"/>
          </a:p>
        </p:txBody>
      </p:sp>
      <p:sp>
        <p:nvSpPr>
          <p:cNvPr id="11" name="Text 9"/>
          <p:cNvSpPr/>
          <p:nvPr/>
        </p:nvSpPr>
        <p:spPr>
          <a:xfrm>
            <a:off x="5047488" y="2377440"/>
            <a:ext cx="3255264" cy="1554480"/>
          </a:xfrm>
          <a:prstGeom prst="rect">
            <a:avLst/>
          </a:prstGeom>
          <a:noFill/>
          <a:ln/>
        </p:spPr>
        <p:txBody>
          <a:bodyPr wrap="square" lIns="0" tIns="0" rIns="0" bIns="0" rtlCol="0" anchor="ctr"/>
          <a:lstStyle/>
          <a:p>
            <a:pPr indent="0" marL="0">
              <a:lnSpc>
                <a:spcPct val="135000"/>
              </a:lnSpc>
              <a:buNone/>
            </a:pPr>
            <a:r>
              <a:rPr lang="en-US" sz="1200" dirty="0">
                <a:solidFill>
                  <a:srgbClr val="C7D1F0"/>
                </a:solidFill>
                <a:latin typeface="Calibri" pitchFamily="34" charset="0"/>
                <a:ea typeface="Calibri" pitchFamily="34" charset="-122"/>
                <a:cs typeface="Calibri" pitchFamily="34" charset="-120"/>
              </a:rPr>
              <a:t>Each worker loop gets its own scoped goal, stop condition, and context. A messy run, a bad tool call, or a stuck loop in one worker stays contained — it doesn’t pollute the manager’s reasoning or the other workers.</a:t>
            </a:r>
            <a:endParaRPr lang="en-US" sz="1200" dirty="0"/>
          </a:p>
        </p:txBody>
      </p:sp>
      <p:sp>
        <p:nvSpPr>
          <p:cNvPr id="12" name="Text 10"/>
          <p:cNvSpPr/>
          <p:nvPr/>
        </p:nvSpPr>
        <p:spPr>
          <a:xfrm>
            <a:off x="548640" y="4343400"/>
            <a:ext cx="8046720" cy="365760"/>
          </a:xfrm>
          <a:prstGeom prst="rect">
            <a:avLst/>
          </a:prstGeom>
          <a:noFill/>
          <a:ln/>
        </p:spPr>
        <p:txBody>
          <a:bodyPr wrap="square" lIns="0" tIns="0" rIns="0" bIns="0" rtlCol="0" anchor="ctr"/>
          <a:lstStyle/>
          <a:p>
            <a:pPr indent="0" marL="0">
              <a:lnSpc>
                <a:spcPct val="125000"/>
              </a:lnSpc>
              <a:buNone/>
            </a:pPr>
            <a:r>
              <a:rPr lang="en-US" sz="1200" i="1" dirty="0">
                <a:solidFill>
                  <a:srgbClr val="9AA6D4"/>
                </a:solidFill>
                <a:latin typeface="Calibri Light" pitchFamily="34" charset="0"/>
                <a:ea typeface="Calibri Light" pitchFamily="34" charset="-122"/>
                <a:cs typeface="Calibri Light" pitchFamily="34" charset="-120"/>
              </a:rPr>
              <a:t>The tradeoff: more moving parts to coordinate, and a manager that must reason well about when a partial result is good enough to act on.</a:t>
            </a:r>
            <a:endParaRPr lang="en-US" sz="1200" dirty="0"/>
          </a:p>
        </p:txBody>
      </p:sp>
      <p:sp>
        <p:nvSpPr>
          <p:cNvPr id="13" name="Text 11"/>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8590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HOW TO PROMPT IT</a:t>
            </a:r>
            <a:endParaRPr lang="en-US" sz="1200" dirty="0"/>
          </a:p>
        </p:txBody>
      </p:sp>
      <p:sp>
        <p:nvSpPr>
          <p:cNvPr id="3" name="Text 1"/>
          <p:cNvSpPr/>
          <p:nvPr/>
        </p:nvSpPr>
        <p:spPr>
          <a:xfrm>
            <a:off x="548640" y="731520"/>
            <a:ext cx="8046720" cy="502920"/>
          </a:xfrm>
          <a:prstGeom prst="rect">
            <a:avLst/>
          </a:prstGeom>
          <a:noFill/>
          <a:ln/>
        </p:spPr>
        <p:txBody>
          <a:bodyPr wrap="square" lIns="0" tIns="0" rIns="0" bIns="0" rtlCol="0" anchor="ctr"/>
          <a:lstStyle/>
          <a:p>
            <a:pPr indent="0" marL="0">
              <a:buNone/>
            </a:pPr>
            <a:r>
              <a:rPr lang="en-US" sz="2800" b="1" dirty="0">
                <a:solidFill>
                  <a:srgbClr val="1A1D26"/>
                </a:solidFill>
                <a:latin typeface="Calibri" pitchFamily="34" charset="0"/>
                <a:ea typeface="Calibri" pitchFamily="34" charset="-122"/>
                <a:cs typeface="Calibri" pitchFamily="34" charset="-120"/>
              </a:rPr>
              <a:t>Five parts, in order</a:t>
            </a:r>
            <a:endParaRPr lang="en-US" sz="2800" dirty="0"/>
          </a:p>
        </p:txBody>
      </p:sp>
      <p:sp>
        <p:nvSpPr>
          <p:cNvPr id="4" name="Text 2"/>
          <p:cNvSpPr/>
          <p:nvPr/>
        </p:nvSpPr>
        <p:spPr>
          <a:xfrm>
            <a:off x="548640" y="1207008"/>
            <a:ext cx="8046720" cy="457200"/>
          </a:xfrm>
          <a:prstGeom prst="rect">
            <a:avLst/>
          </a:prstGeom>
          <a:noFill/>
          <a:ln/>
        </p:spPr>
        <p:txBody>
          <a:bodyPr wrap="square" lIns="0" tIns="0" rIns="0" bIns="0" rtlCol="0" anchor="ctr"/>
          <a:lstStyle/>
          <a:p>
            <a:pPr indent="0" marL="0">
              <a:lnSpc>
                <a:spcPct val="130000"/>
              </a:lnSpc>
              <a:buNone/>
            </a:pPr>
            <a:r>
              <a:rPr lang="en-US" sz="1250" dirty="0">
                <a:solidFill>
                  <a:srgbClr val="5B6072"/>
                </a:solidFill>
                <a:latin typeface="Calibri" pitchFamily="34" charset="0"/>
                <a:ea typeface="Calibri" pitchFamily="34" charset="-122"/>
                <a:cs typeface="Calibri" pitchFamily="34" charset="-120"/>
              </a:rPr>
              <a:t>A loop prompt is a spec, not a request. Each part below answers a question the agent needs settled before its first pass.</a:t>
            </a:r>
            <a:endParaRPr lang="en-US" sz="1250" dirty="0"/>
          </a:p>
        </p:txBody>
      </p:sp>
      <p:sp>
        <p:nvSpPr>
          <p:cNvPr id="5" name="Shape 3"/>
          <p:cNvSpPr/>
          <p:nvPr/>
        </p:nvSpPr>
        <p:spPr>
          <a:xfrm>
            <a:off x="548640" y="1783080"/>
            <a:ext cx="4709160" cy="2423160"/>
          </a:xfrm>
          <a:prstGeom prst="rect">
            <a:avLst/>
          </a:prstGeom>
          <a:solidFill>
            <a:srgbClr val="1B2A57"/>
          </a:solidFill>
          <a:ln/>
        </p:spPr>
      </p:sp>
      <p:sp>
        <p:nvSpPr>
          <p:cNvPr id="6" name="Text 4"/>
          <p:cNvSpPr/>
          <p:nvPr/>
        </p:nvSpPr>
        <p:spPr>
          <a:xfrm>
            <a:off x="777240" y="1783080"/>
            <a:ext cx="1234440" cy="484632"/>
          </a:xfrm>
          <a:prstGeom prst="rect">
            <a:avLst/>
          </a:prstGeom>
          <a:noFill/>
          <a:ln/>
        </p:spPr>
        <p:txBody>
          <a:bodyPr wrap="square" lIns="0" tIns="0" rIns="0" bIns="0" rtlCol="0" anchor="ctr"/>
          <a:lstStyle/>
          <a:p>
            <a:pPr indent="0" marL="0">
              <a:buNone/>
            </a:pPr>
            <a:r>
              <a:rPr lang="en-US" sz="1100" b="1" spc="50" kern="0" dirty="0">
                <a:solidFill>
                  <a:srgbClr val="7FA1F5"/>
                </a:solidFill>
                <a:latin typeface="Calibri" pitchFamily="34" charset="0"/>
                <a:ea typeface="Calibri" pitchFamily="34" charset="-122"/>
                <a:cs typeface="Calibri" pitchFamily="34" charset="-120"/>
              </a:rPr>
              <a:t>GOAL</a:t>
            </a:r>
            <a:endParaRPr lang="en-US" sz="1100" dirty="0"/>
          </a:p>
        </p:txBody>
      </p:sp>
      <p:sp>
        <p:nvSpPr>
          <p:cNvPr id="7" name="Text 5"/>
          <p:cNvSpPr/>
          <p:nvPr/>
        </p:nvSpPr>
        <p:spPr>
          <a:xfrm>
            <a:off x="2057400" y="1783080"/>
            <a:ext cx="2971800" cy="484632"/>
          </a:xfrm>
          <a:prstGeom prst="rect">
            <a:avLst/>
          </a:prstGeom>
          <a:noFill/>
          <a:ln/>
        </p:spPr>
        <p:txBody>
          <a:bodyPr wrap="square" lIns="0" tIns="0" rIns="0" bIns="0" rtlCol="0" anchor="ctr"/>
          <a:lstStyle/>
          <a:p>
            <a:pPr indent="0" marL="0">
              <a:lnSpc>
                <a:spcPct val="115000"/>
              </a:lnSpc>
              <a:buNone/>
            </a:pPr>
            <a:r>
              <a:rPr lang="en-US" sz="1100" dirty="0">
                <a:solidFill>
                  <a:srgbClr val="E8EEFC"/>
                </a:solidFill>
                <a:latin typeface="Courier New" pitchFamily="34" charset="0"/>
                <a:ea typeface="Courier New" pitchFamily="34" charset="-122"/>
                <a:cs typeface="Courier New" pitchFamily="34" charset="-120"/>
              </a:rPr>
              <a:t>Get all 40 unit tests passing.</a:t>
            </a:r>
            <a:endParaRPr lang="en-US" sz="1100" dirty="0"/>
          </a:p>
        </p:txBody>
      </p:sp>
      <p:sp>
        <p:nvSpPr>
          <p:cNvPr id="8" name="Shape 6"/>
          <p:cNvSpPr/>
          <p:nvPr/>
        </p:nvSpPr>
        <p:spPr>
          <a:xfrm>
            <a:off x="777240" y="2267712"/>
            <a:ext cx="4251960" cy="0"/>
          </a:xfrm>
          <a:prstGeom prst="line">
            <a:avLst/>
          </a:prstGeom>
          <a:noFill/>
          <a:ln w="9525">
            <a:solidFill>
              <a:srgbClr val="2E3E6B"/>
            </a:solidFill>
            <a:prstDash val="solid"/>
          </a:ln>
        </p:spPr>
      </p:sp>
      <p:sp>
        <p:nvSpPr>
          <p:cNvPr id="9" name="Text 7"/>
          <p:cNvSpPr/>
          <p:nvPr/>
        </p:nvSpPr>
        <p:spPr>
          <a:xfrm>
            <a:off x="777240" y="2267712"/>
            <a:ext cx="1234440" cy="484632"/>
          </a:xfrm>
          <a:prstGeom prst="rect">
            <a:avLst/>
          </a:prstGeom>
          <a:noFill/>
          <a:ln/>
        </p:spPr>
        <p:txBody>
          <a:bodyPr wrap="square" lIns="0" tIns="0" rIns="0" bIns="0" rtlCol="0" anchor="ctr"/>
          <a:lstStyle/>
          <a:p>
            <a:pPr indent="0" marL="0">
              <a:buNone/>
            </a:pPr>
            <a:r>
              <a:rPr lang="en-US" sz="1100" b="1" spc="50" kern="0" dirty="0">
                <a:solidFill>
                  <a:srgbClr val="7FA1F5"/>
                </a:solidFill>
                <a:latin typeface="Calibri" pitchFamily="34" charset="0"/>
                <a:ea typeface="Calibri" pitchFamily="34" charset="-122"/>
                <a:cs typeface="Calibri" pitchFamily="34" charset="-120"/>
              </a:rPr>
              <a:t>DONE WHEN</a:t>
            </a:r>
            <a:endParaRPr lang="en-US" sz="1100" dirty="0"/>
          </a:p>
        </p:txBody>
      </p:sp>
      <p:sp>
        <p:nvSpPr>
          <p:cNvPr id="10" name="Text 8"/>
          <p:cNvSpPr/>
          <p:nvPr/>
        </p:nvSpPr>
        <p:spPr>
          <a:xfrm>
            <a:off x="2057400" y="2267712"/>
            <a:ext cx="2971800" cy="484632"/>
          </a:xfrm>
          <a:prstGeom prst="rect">
            <a:avLst/>
          </a:prstGeom>
          <a:noFill/>
          <a:ln/>
        </p:spPr>
        <p:txBody>
          <a:bodyPr wrap="square" lIns="0" tIns="0" rIns="0" bIns="0" rtlCol="0" anchor="ctr"/>
          <a:lstStyle/>
          <a:p>
            <a:pPr indent="0" marL="0">
              <a:lnSpc>
                <a:spcPct val="115000"/>
              </a:lnSpc>
              <a:buNone/>
            </a:pPr>
            <a:r>
              <a:rPr lang="en-US" sz="1100" dirty="0">
                <a:solidFill>
                  <a:srgbClr val="E8EEFC"/>
                </a:solidFill>
                <a:latin typeface="Courier New" pitchFamily="34" charset="0"/>
                <a:ea typeface="Courier New" pitchFamily="34" charset="-122"/>
                <a:cs typeface="Courier New" pitchFamily="34" charset="-120"/>
              </a:rPr>
              <a:t>`npm test` exits 0.</a:t>
            </a:r>
            <a:endParaRPr lang="en-US" sz="1100" dirty="0"/>
          </a:p>
        </p:txBody>
      </p:sp>
      <p:sp>
        <p:nvSpPr>
          <p:cNvPr id="11" name="Shape 9"/>
          <p:cNvSpPr/>
          <p:nvPr/>
        </p:nvSpPr>
        <p:spPr>
          <a:xfrm>
            <a:off x="777240" y="2752344"/>
            <a:ext cx="4251960" cy="0"/>
          </a:xfrm>
          <a:prstGeom prst="line">
            <a:avLst/>
          </a:prstGeom>
          <a:noFill/>
          <a:ln w="9525">
            <a:solidFill>
              <a:srgbClr val="2E3E6B"/>
            </a:solidFill>
            <a:prstDash val="solid"/>
          </a:ln>
        </p:spPr>
      </p:sp>
      <p:sp>
        <p:nvSpPr>
          <p:cNvPr id="12" name="Text 10"/>
          <p:cNvSpPr/>
          <p:nvPr/>
        </p:nvSpPr>
        <p:spPr>
          <a:xfrm>
            <a:off x="777240" y="2752344"/>
            <a:ext cx="1234440" cy="484632"/>
          </a:xfrm>
          <a:prstGeom prst="rect">
            <a:avLst/>
          </a:prstGeom>
          <a:noFill/>
          <a:ln/>
        </p:spPr>
        <p:txBody>
          <a:bodyPr wrap="square" lIns="0" tIns="0" rIns="0" bIns="0" rtlCol="0" anchor="ctr"/>
          <a:lstStyle/>
          <a:p>
            <a:pPr indent="0" marL="0">
              <a:buNone/>
            </a:pPr>
            <a:r>
              <a:rPr lang="en-US" sz="1100" b="1" spc="50" kern="0" dirty="0">
                <a:solidFill>
                  <a:srgbClr val="7FA1F5"/>
                </a:solidFill>
                <a:latin typeface="Calibri" pitchFamily="34" charset="0"/>
                <a:ea typeface="Calibri" pitchFamily="34" charset="-122"/>
                <a:cs typeface="Calibri" pitchFamily="34" charset="-120"/>
              </a:rPr>
              <a:t>TOOLS</a:t>
            </a:r>
            <a:endParaRPr lang="en-US" sz="1100" dirty="0"/>
          </a:p>
        </p:txBody>
      </p:sp>
      <p:sp>
        <p:nvSpPr>
          <p:cNvPr id="13" name="Text 11"/>
          <p:cNvSpPr/>
          <p:nvPr/>
        </p:nvSpPr>
        <p:spPr>
          <a:xfrm>
            <a:off x="2057400" y="2752344"/>
            <a:ext cx="2971800" cy="484632"/>
          </a:xfrm>
          <a:prstGeom prst="rect">
            <a:avLst/>
          </a:prstGeom>
          <a:noFill/>
          <a:ln/>
        </p:spPr>
        <p:txBody>
          <a:bodyPr wrap="square" lIns="0" tIns="0" rIns="0" bIns="0" rtlCol="0" anchor="ctr"/>
          <a:lstStyle/>
          <a:p>
            <a:pPr indent="0" marL="0">
              <a:lnSpc>
                <a:spcPct val="115000"/>
              </a:lnSpc>
              <a:buNone/>
            </a:pPr>
            <a:r>
              <a:rPr lang="en-US" sz="1100" dirty="0">
                <a:solidFill>
                  <a:srgbClr val="E8EEFC"/>
                </a:solidFill>
                <a:latin typeface="Courier New" pitchFamily="34" charset="0"/>
                <a:ea typeface="Courier New" pitchFamily="34" charset="-122"/>
                <a:cs typeface="Courier New" pitchFamily="34" charset="-120"/>
              </a:rPr>
              <a:t>read file, edit file, run tests.</a:t>
            </a:r>
            <a:endParaRPr lang="en-US" sz="1100" dirty="0"/>
          </a:p>
        </p:txBody>
      </p:sp>
      <p:sp>
        <p:nvSpPr>
          <p:cNvPr id="14" name="Shape 12"/>
          <p:cNvSpPr/>
          <p:nvPr/>
        </p:nvSpPr>
        <p:spPr>
          <a:xfrm>
            <a:off x="777240" y="3236976"/>
            <a:ext cx="4251960" cy="0"/>
          </a:xfrm>
          <a:prstGeom prst="line">
            <a:avLst/>
          </a:prstGeom>
          <a:noFill/>
          <a:ln w="9525">
            <a:solidFill>
              <a:srgbClr val="2E3E6B"/>
            </a:solidFill>
            <a:prstDash val="solid"/>
          </a:ln>
        </p:spPr>
      </p:sp>
      <p:sp>
        <p:nvSpPr>
          <p:cNvPr id="15" name="Text 13"/>
          <p:cNvSpPr/>
          <p:nvPr/>
        </p:nvSpPr>
        <p:spPr>
          <a:xfrm>
            <a:off x="777240" y="3236976"/>
            <a:ext cx="1234440" cy="484632"/>
          </a:xfrm>
          <a:prstGeom prst="rect">
            <a:avLst/>
          </a:prstGeom>
          <a:noFill/>
          <a:ln/>
        </p:spPr>
        <p:txBody>
          <a:bodyPr wrap="square" lIns="0" tIns="0" rIns="0" bIns="0" rtlCol="0" anchor="ctr"/>
          <a:lstStyle/>
          <a:p>
            <a:pPr indent="0" marL="0">
              <a:buNone/>
            </a:pPr>
            <a:r>
              <a:rPr lang="en-US" sz="1100" b="1" spc="50" kern="0" dirty="0">
                <a:solidFill>
                  <a:srgbClr val="7FA1F5"/>
                </a:solidFill>
                <a:latin typeface="Calibri" pitchFamily="34" charset="0"/>
                <a:ea typeface="Calibri" pitchFamily="34" charset="-122"/>
                <a:cs typeface="Calibri" pitchFamily="34" charset="-120"/>
              </a:rPr>
              <a:t>VERIFY</a:t>
            </a:r>
            <a:endParaRPr lang="en-US" sz="1100" dirty="0"/>
          </a:p>
        </p:txBody>
      </p:sp>
      <p:sp>
        <p:nvSpPr>
          <p:cNvPr id="16" name="Text 14"/>
          <p:cNvSpPr/>
          <p:nvPr/>
        </p:nvSpPr>
        <p:spPr>
          <a:xfrm>
            <a:off x="2057400" y="3236976"/>
            <a:ext cx="2971800" cy="484632"/>
          </a:xfrm>
          <a:prstGeom prst="rect">
            <a:avLst/>
          </a:prstGeom>
          <a:noFill/>
          <a:ln/>
        </p:spPr>
        <p:txBody>
          <a:bodyPr wrap="square" lIns="0" tIns="0" rIns="0" bIns="0" rtlCol="0" anchor="ctr"/>
          <a:lstStyle/>
          <a:p>
            <a:pPr indent="0" marL="0">
              <a:lnSpc>
                <a:spcPct val="115000"/>
              </a:lnSpc>
              <a:buNone/>
            </a:pPr>
            <a:r>
              <a:rPr lang="en-US" sz="1100" dirty="0">
                <a:solidFill>
                  <a:srgbClr val="E8EEFC"/>
                </a:solidFill>
                <a:latin typeface="Courier New" pitchFamily="34" charset="0"/>
                <a:ea typeface="Courier New" pitchFamily="34" charset="-122"/>
                <a:cs typeface="Courier New" pitchFamily="34" charset="-120"/>
              </a:rPr>
              <a:t>re-run the full suite after every change.</a:t>
            </a:r>
            <a:endParaRPr lang="en-US" sz="1100" dirty="0"/>
          </a:p>
        </p:txBody>
      </p:sp>
      <p:sp>
        <p:nvSpPr>
          <p:cNvPr id="17" name="Shape 15"/>
          <p:cNvSpPr/>
          <p:nvPr/>
        </p:nvSpPr>
        <p:spPr>
          <a:xfrm>
            <a:off x="777240" y="3721608"/>
            <a:ext cx="4251960" cy="0"/>
          </a:xfrm>
          <a:prstGeom prst="line">
            <a:avLst/>
          </a:prstGeom>
          <a:noFill/>
          <a:ln w="9525">
            <a:solidFill>
              <a:srgbClr val="2E3E6B"/>
            </a:solidFill>
            <a:prstDash val="solid"/>
          </a:ln>
        </p:spPr>
      </p:sp>
      <p:sp>
        <p:nvSpPr>
          <p:cNvPr id="18" name="Text 16"/>
          <p:cNvSpPr/>
          <p:nvPr/>
        </p:nvSpPr>
        <p:spPr>
          <a:xfrm>
            <a:off x="777240" y="3721608"/>
            <a:ext cx="1234440" cy="484632"/>
          </a:xfrm>
          <a:prstGeom prst="rect">
            <a:avLst/>
          </a:prstGeom>
          <a:noFill/>
          <a:ln/>
        </p:spPr>
        <p:txBody>
          <a:bodyPr wrap="square" lIns="0" tIns="0" rIns="0" bIns="0" rtlCol="0" anchor="ctr"/>
          <a:lstStyle/>
          <a:p>
            <a:pPr indent="0" marL="0">
              <a:buNone/>
            </a:pPr>
            <a:r>
              <a:rPr lang="en-US" sz="1100" b="1" spc="50" kern="0" dirty="0">
                <a:solidFill>
                  <a:srgbClr val="7FA1F5"/>
                </a:solidFill>
                <a:latin typeface="Calibri" pitchFamily="34" charset="0"/>
                <a:ea typeface="Calibri" pitchFamily="34" charset="-122"/>
                <a:cs typeface="Calibri" pitchFamily="34" charset="-120"/>
              </a:rPr>
              <a:t>ON FAIL</a:t>
            </a:r>
            <a:endParaRPr lang="en-US" sz="1100" dirty="0"/>
          </a:p>
        </p:txBody>
      </p:sp>
      <p:sp>
        <p:nvSpPr>
          <p:cNvPr id="19" name="Text 17"/>
          <p:cNvSpPr/>
          <p:nvPr/>
        </p:nvSpPr>
        <p:spPr>
          <a:xfrm>
            <a:off x="2057400" y="3721608"/>
            <a:ext cx="2971800" cy="484632"/>
          </a:xfrm>
          <a:prstGeom prst="rect">
            <a:avLst/>
          </a:prstGeom>
          <a:noFill/>
          <a:ln/>
        </p:spPr>
        <p:txBody>
          <a:bodyPr wrap="square" lIns="0" tIns="0" rIns="0" bIns="0" rtlCol="0" anchor="ctr"/>
          <a:lstStyle/>
          <a:p>
            <a:pPr indent="0" marL="0">
              <a:lnSpc>
                <a:spcPct val="115000"/>
              </a:lnSpc>
              <a:buNone/>
            </a:pPr>
            <a:r>
              <a:rPr lang="en-US" sz="1100" dirty="0">
                <a:solidFill>
                  <a:srgbClr val="E8EEFC"/>
                </a:solidFill>
                <a:latin typeface="Courier New" pitchFamily="34" charset="0"/>
                <a:ea typeface="Courier New" pitchFamily="34" charset="-122"/>
                <a:cs typeface="Courier New" pitchFamily="34" charset="-120"/>
              </a:rPr>
              <a:t>read the error, make one fix, re-run.</a:t>
            </a:r>
            <a:endParaRPr lang="en-US" sz="1100" dirty="0"/>
          </a:p>
        </p:txBody>
      </p:sp>
      <p:sp>
        <p:nvSpPr>
          <p:cNvPr id="20" name="Text 18"/>
          <p:cNvSpPr/>
          <p:nvPr/>
        </p:nvSpPr>
        <p:spPr>
          <a:xfrm>
            <a:off x="5577840" y="1783080"/>
            <a:ext cx="3017520" cy="484632"/>
          </a:xfrm>
          <a:prstGeom prst="rect">
            <a:avLst/>
          </a:prstGeom>
          <a:noFill/>
          <a:ln/>
        </p:spPr>
        <p:txBody>
          <a:bodyPr wrap="square" lIns="0" tIns="0" rIns="0" bIns="0" rtlCol="0" anchor="ctr"/>
          <a:lstStyle/>
          <a:p>
            <a:pPr indent="0" marL="0">
              <a:lnSpc>
                <a:spcPct val="120000"/>
              </a:lnSpc>
              <a:buNone/>
            </a:pPr>
            <a:r>
              <a:rPr lang="en-US" sz="1100" b="1" dirty="0">
                <a:solidFill>
                  <a:srgbClr val="1A1D26"/>
                </a:solidFill>
                <a:latin typeface="Calibri" pitchFamily="34" charset="0"/>
                <a:ea typeface="Calibri" pitchFamily="34" charset="-122"/>
                <a:cs typeface="Calibri" pitchFamily="34" charset="-120"/>
              </a:rPr>
              <a:t xml:space="preserve">Goal  </a:t>
            </a:r>
            <a:pPr indent="0" marL="0">
              <a:lnSpc>
                <a:spcPct val="120000"/>
              </a:lnSpc>
              <a:buNone/>
            </a:pPr>
            <a:r>
              <a:rPr lang="en-US" sz="1100" dirty="0">
                <a:solidFill>
                  <a:srgbClr val="5B6072"/>
                </a:solidFill>
                <a:latin typeface="Calibri" pitchFamily="34" charset="0"/>
                <a:ea typeface="Calibri" pitchFamily="34" charset="-122"/>
                <a:cs typeface="Calibri" pitchFamily="34" charset="-120"/>
              </a:rPr>
              <a:t>A checkable statement, not a vague direction.</a:t>
            </a:r>
            <a:endParaRPr lang="en-US" sz="1100" dirty="0"/>
          </a:p>
        </p:txBody>
      </p:sp>
      <p:sp>
        <p:nvSpPr>
          <p:cNvPr id="21" name="Text 19"/>
          <p:cNvSpPr/>
          <p:nvPr/>
        </p:nvSpPr>
        <p:spPr>
          <a:xfrm>
            <a:off x="5577840" y="2267712"/>
            <a:ext cx="3017520" cy="484632"/>
          </a:xfrm>
          <a:prstGeom prst="rect">
            <a:avLst/>
          </a:prstGeom>
          <a:noFill/>
          <a:ln/>
        </p:spPr>
        <p:txBody>
          <a:bodyPr wrap="square" lIns="0" tIns="0" rIns="0" bIns="0" rtlCol="0" anchor="ctr"/>
          <a:lstStyle/>
          <a:p>
            <a:pPr indent="0" marL="0">
              <a:lnSpc>
                <a:spcPct val="120000"/>
              </a:lnSpc>
              <a:buNone/>
            </a:pPr>
            <a:r>
              <a:rPr lang="en-US" sz="1100" b="1" dirty="0">
                <a:solidFill>
                  <a:srgbClr val="1A1D26"/>
                </a:solidFill>
                <a:latin typeface="Calibri" pitchFamily="34" charset="0"/>
                <a:ea typeface="Calibri" pitchFamily="34" charset="-122"/>
                <a:cs typeface="Calibri" pitchFamily="34" charset="-120"/>
              </a:rPr>
              <a:t xml:space="preserve">Done when  </a:t>
            </a:r>
            <a:pPr indent="0" marL="0">
              <a:lnSpc>
                <a:spcPct val="120000"/>
              </a:lnSpc>
              <a:buNone/>
            </a:pPr>
            <a:r>
              <a:rPr lang="en-US" sz="1100" dirty="0">
                <a:solidFill>
                  <a:srgbClr val="5B6072"/>
                </a:solidFill>
                <a:latin typeface="Calibri" pitchFamily="34" charset="0"/>
                <a:ea typeface="Calibri" pitchFamily="34" charset="-122"/>
                <a:cs typeface="Calibri" pitchFamily="34" charset="-120"/>
              </a:rPr>
              <a:t>The exact test the agent runs to know it’s finished — not a feeling.</a:t>
            </a:r>
            <a:endParaRPr lang="en-US" sz="1100" dirty="0"/>
          </a:p>
        </p:txBody>
      </p:sp>
      <p:sp>
        <p:nvSpPr>
          <p:cNvPr id="22" name="Text 20"/>
          <p:cNvSpPr/>
          <p:nvPr/>
        </p:nvSpPr>
        <p:spPr>
          <a:xfrm>
            <a:off x="5577840" y="2752344"/>
            <a:ext cx="3017520" cy="484632"/>
          </a:xfrm>
          <a:prstGeom prst="rect">
            <a:avLst/>
          </a:prstGeom>
          <a:noFill/>
          <a:ln/>
        </p:spPr>
        <p:txBody>
          <a:bodyPr wrap="square" lIns="0" tIns="0" rIns="0" bIns="0" rtlCol="0" anchor="ctr"/>
          <a:lstStyle/>
          <a:p>
            <a:pPr indent="0" marL="0">
              <a:lnSpc>
                <a:spcPct val="120000"/>
              </a:lnSpc>
              <a:buNone/>
            </a:pPr>
            <a:r>
              <a:rPr lang="en-US" sz="1100" b="1" dirty="0">
                <a:solidFill>
                  <a:srgbClr val="1A1D26"/>
                </a:solidFill>
                <a:latin typeface="Calibri" pitchFamily="34" charset="0"/>
                <a:ea typeface="Calibri" pitchFamily="34" charset="-122"/>
                <a:cs typeface="Calibri" pitchFamily="34" charset="-120"/>
              </a:rPr>
              <a:t xml:space="preserve">Tools  </a:t>
            </a:r>
            <a:pPr indent="0" marL="0">
              <a:lnSpc>
                <a:spcPct val="120000"/>
              </a:lnSpc>
              <a:buNone/>
            </a:pPr>
            <a:r>
              <a:rPr lang="en-US" sz="1100" dirty="0">
                <a:solidFill>
                  <a:srgbClr val="5B6072"/>
                </a:solidFill>
                <a:latin typeface="Calibri" pitchFamily="34" charset="0"/>
                <a:ea typeface="Calibri" pitchFamily="34" charset="-122"/>
                <a:cs typeface="Calibri" pitchFamily="34" charset="-120"/>
              </a:rPr>
              <a:t>The specific actions it’s allowed to take each pass.</a:t>
            </a:r>
            <a:endParaRPr lang="en-US" sz="1100" dirty="0"/>
          </a:p>
        </p:txBody>
      </p:sp>
      <p:sp>
        <p:nvSpPr>
          <p:cNvPr id="23" name="Text 21"/>
          <p:cNvSpPr/>
          <p:nvPr/>
        </p:nvSpPr>
        <p:spPr>
          <a:xfrm>
            <a:off x="5577840" y="3236976"/>
            <a:ext cx="3017520" cy="484632"/>
          </a:xfrm>
          <a:prstGeom prst="rect">
            <a:avLst/>
          </a:prstGeom>
          <a:noFill/>
          <a:ln/>
        </p:spPr>
        <p:txBody>
          <a:bodyPr wrap="square" lIns="0" tIns="0" rIns="0" bIns="0" rtlCol="0" anchor="ctr"/>
          <a:lstStyle/>
          <a:p>
            <a:pPr indent="0" marL="0">
              <a:lnSpc>
                <a:spcPct val="120000"/>
              </a:lnSpc>
              <a:buNone/>
            </a:pPr>
            <a:r>
              <a:rPr lang="en-US" sz="1100" b="1" dirty="0">
                <a:solidFill>
                  <a:srgbClr val="1A1D26"/>
                </a:solidFill>
                <a:latin typeface="Calibri" pitchFamily="34" charset="0"/>
                <a:ea typeface="Calibri" pitchFamily="34" charset="-122"/>
                <a:cs typeface="Calibri" pitchFamily="34" charset="-120"/>
              </a:rPr>
              <a:t xml:space="preserve">Verify  </a:t>
            </a:r>
            <a:pPr indent="0" marL="0">
              <a:lnSpc>
                <a:spcPct val="120000"/>
              </a:lnSpc>
              <a:buNone/>
            </a:pPr>
            <a:r>
              <a:rPr lang="en-US" sz="1100" dirty="0">
                <a:solidFill>
                  <a:srgbClr val="5B6072"/>
                </a:solidFill>
                <a:latin typeface="Calibri" pitchFamily="34" charset="0"/>
                <a:ea typeface="Calibri" pitchFamily="34" charset="-122"/>
                <a:cs typeface="Calibri" pitchFamily="34" charset="-120"/>
              </a:rPr>
              <a:t>How an attempt gets checked before moving on.</a:t>
            </a:r>
            <a:endParaRPr lang="en-US" sz="1100" dirty="0"/>
          </a:p>
        </p:txBody>
      </p:sp>
      <p:sp>
        <p:nvSpPr>
          <p:cNvPr id="24" name="Text 22"/>
          <p:cNvSpPr/>
          <p:nvPr/>
        </p:nvSpPr>
        <p:spPr>
          <a:xfrm>
            <a:off x="5577840" y="3721608"/>
            <a:ext cx="3017520" cy="484632"/>
          </a:xfrm>
          <a:prstGeom prst="rect">
            <a:avLst/>
          </a:prstGeom>
          <a:noFill/>
          <a:ln/>
        </p:spPr>
        <p:txBody>
          <a:bodyPr wrap="square" lIns="0" tIns="0" rIns="0" bIns="0" rtlCol="0" anchor="ctr"/>
          <a:lstStyle/>
          <a:p>
            <a:pPr indent="0" marL="0">
              <a:lnSpc>
                <a:spcPct val="120000"/>
              </a:lnSpc>
              <a:buNone/>
            </a:pPr>
            <a:r>
              <a:rPr lang="en-US" sz="1100" b="1" dirty="0">
                <a:solidFill>
                  <a:srgbClr val="1A1D26"/>
                </a:solidFill>
                <a:latin typeface="Calibri" pitchFamily="34" charset="0"/>
                <a:ea typeface="Calibri" pitchFamily="34" charset="-122"/>
                <a:cs typeface="Calibri" pitchFamily="34" charset="-120"/>
              </a:rPr>
              <a:t xml:space="preserve">On fail  </a:t>
            </a:r>
            <a:pPr indent="0" marL="0">
              <a:lnSpc>
                <a:spcPct val="120000"/>
              </a:lnSpc>
              <a:buNone/>
            </a:pPr>
            <a:r>
              <a:rPr lang="en-US" sz="1100" dirty="0">
                <a:solidFill>
                  <a:srgbClr val="5B6072"/>
                </a:solidFill>
                <a:latin typeface="Calibri" pitchFamily="34" charset="0"/>
                <a:ea typeface="Calibri" pitchFamily="34" charset="-122"/>
                <a:cs typeface="Calibri" pitchFamily="34" charset="-120"/>
              </a:rPr>
              <a:t>Try again with what changed, or stop and report.</a:t>
            </a:r>
            <a:endParaRPr lang="en-US" sz="1100" dirty="0"/>
          </a:p>
        </p:txBody>
      </p:sp>
      <p:sp>
        <p:nvSpPr>
          <p:cNvPr id="25" name="Text 23"/>
          <p:cNvSpPr/>
          <p:nvPr/>
        </p:nvSpPr>
        <p:spPr>
          <a:xfrm>
            <a:off x="548640" y="4334256"/>
            <a:ext cx="8046720" cy="274320"/>
          </a:xfrm>
          <a:prstGeom prst="rect">
            <a:avLst/>
          </a:prstGeom>
          <a:noFill/>
          <a:ln/>
        </p:spPr>
        <p:txBody>
          <a:bodyPr wrap="square" lIns="0" tIns="0" rIns="0" bIns="0" rtlCol="0" anchor="ctr"/>
          <a:lstStyle/>
          <a:p>
            <a:pPr indent="0" marL="0">
              <a:lnSpc>
                <a:spcPct val="115000"/>
              </a:lnSpc>
              <a:buNone/>
            </a:pPr>
            <a:r>
              <a:rPr lang="en-US" sz="1100" i="1" dirty="0">
                <a:solidFill>
                  <a:srgbClr val="5B6072"/>
                </a:solidFill>
                <a:latin typeface="Calibri Light" pitchFamily="34" charset="0"/>
                <a:ea typeface="Calibri Light" pitchFamily="34" charset="-122"/>
                <a:cs typeface="Calibri Light" pitchFamily="34" charset="-120"/>
              </a:rPr>
              <a:t>Skip “done when” or “verify” and the loop either stops too early or never stops at all.</a:t>
            </a:r>
            <a:endParaRPr lang="en-US" sz="1100" dirty="0"/>
          </a:p>
        </p:txBody>
      </p:sp>
      <p:sp>
        <p:nvSpPr>
          <p:cNvPr id="26" name="Text 24"/>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57"/>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7FA1F5"/>
                </a:solidFill>
                <a:latin typeface="Calibri" pitchFamily="34" charset="0"/>
                <a:ea typeface="Calibri" pitchFamily="34" charset="-122"/>
                <a:cs typeface="Calibri" pitchFamily="34" charset="-120"/>
              </a:rPr>
              <a:t>PROMPTING A SUPER LOOP</a:t>
            </a:r>
            <a:endParaRPr lang="en-US" sz="1200" dirty="0"/>
          </a:p>
        </p:txBody>
      </p:sp>
      <p:sp>
        <p:nvSpPr>
          <p:cNvPr id="3" name="Text 1"/>
          <p:cNvSpPr/>
          <p:nvPr/>
        </p:nvSpPr>
        <p:spPr>
          <a:xfrm>
            <a:off x="548640" y="731520"/>
            <a:ext cx="8046720" cy="50292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Same five parts — plus who does what</a:t>
            </a:r>
            <a:endParaRPr lang="en-US" sz="2700" dirty="0"/>
          </a:p>
        </p:txBody>
      </p:sp>
      <p:sp>
        <p:nvSpPr>
          <p:cNvPr id="4" name="Text 2"/>
          <p:cNvSpPr/>
          <p:nvPr/>
        </p:nvSpPr>
        <p:spPr>
          <a:xfrm>
            <a:off x="548640" y="1207008"/>
            <a:ext cx="8046720" cy="457200"/>
          </a:xfrm>
          <a:prstGeom prst="rect">
            <a:avLst/>
          </a:prstGeom>
          <a:noFill/>
          <a:ln/>
        </p:spPr>
        <p:txBody>
          <a:bodyPr wrap="square" lIns="0" tIns="0" rIns="0" bIns="0" rtlCol="0" anchor="ctr"/>
          <a:lstStyle/>
          <a:p>
            <a:pPr indent="0" marL="0">
              <a:lnSpc>
                <a:spcPct val="130000"/>
              </a:lnSpc>
              <a:buNone/>
            </a:pPr>
            <a:r>
              <a:rPr lang="en-US" sz="1250" dirty="0">
                <a:solidFill>
                  <a:srgbClr val="C7D1F0"/>
                </a:solidFill>
                <a:latin typeface="Calibri" pitchFamily="34" charset="0"/>
                <a:ea typeface="Calibri" pitchFamily="34" charset="-122"/>
                <a:cs typeface="Calibri" pitchFamily="34" charset="-120"/>
              </a:rPr>
              <a:t>A Super Loop prompt keeps everything from a basic loop, then adds three parts for delegation, reporting, and conflicts.</a:t>
            </a:r>
            <a:endParaRPr lang="en-US" sz="1250" dirty="0"/>
          </a:p>
        </p:txBody>
      </p:sp>
      <p:sp>
        <p:nvSpPr>
          <p:cNvPr id="5" name="Shape 3"/>
          <p:cNvSpPr/>
          <p:nvPr/>
        </p:nvSpPr>
        <p:spPr>
          <a:xfrm>
            <a:off x="548640" y="1783080"/>
            <a:ext cx="4709160" cy="2423160"/>
          </a:xfrm>
          <a:prstGeom prst="rect">
            <a:avLst/>
          </a:prstGeom>
          <a:solidFill>
            <a:srgbClr val="11213F"/>
          </a:solidFill>
          <a:ln w="12700">
            <a:solidFill>
              <a:srgbClr val="2E3E6B"/>
            </a:solidFill>
            <a:prstDash val="solid"/>
          </a:ln>
        </p:spPr>
      </p:sp>
      <p:sp>
        <p:nvSpPr>
          <p:cNvPr id="6" name="Text 4"/>
          <p:cNvSpPr/>
          <p:nvPr/>
        </p:nvSpPr>
        <p:spPr>
          <a:xfrm>
            <a:off x="777240" y="1783080"/>
            <a:ext cx="1417320" cy="403860"/>
          </a:xfrm>
          <a:prstGeom prst="rect">
            <a:avLst/>
          </a:prstGeom>
          <a:noFill/>
          <a:ln/>
        </p:spPr>
        <p:txBody>
          <a:bodyPr wrap="square" lIns="0" tIns="0" rIns="0" bIns="0" rtlCol="0" anchor="ctr"/>
          <a:lstStyle/>
          <a:p>
            <a:pPr indent="0" marL="0">
              <a:buNone/>
            </a:pPr>
            <a:r>
              <a:rPr lang="en-US" sz="1050" b="1" spc="30" kern="0" dirty="0">
                <a:solidFill>
                  <a:srgbClr val="FFC94D"/>
                </a:solidFill>
                <a:latin typeface="Calibri" pitchFamily="34" charset="0"/>
                <a:ea typeface="Calibri" pitchFamily="34" charset="-122"/>
                <a:cs typeface="Calibri" pitchFamily="34" charset="-120"/>
              </a:rPr>
              <a:t>GOAL</a:t>
            </a:r>
            <a:endParaRPr lang="en-US" sz="1050" dirty="0"/>
          </a:p>
        </p:txBody>
      </p:sp>
      <p:sp>
        <p:nvSpPr>
          <p:cNvPr id="7" name="Text 5"/>
          <p:cNvSpPr/>
          <p:nvPr/>
        </p:nvSpPr>
        <p:spPr>
          <a:xfrm>
            <a:off x="2103120" y="1783080"/>
            <a:ext cx="2926080" cy="403860"/>
          </a:xfrm>
          <a:prstGeom prst="rect">
            <a:avLst/>
          </a:prstGeom>
          <a:noFill/>
          <a:ln/>
        </p:spPr>
        <p:txBody>
          <a:bodyPr wrap="square" lIns="0" tIns="0" rIns="0" bIns="0" rtlCol="0" anchor="ctr"/>
          <a:lstStyle/>
          <a:p>
            <a:pPr indent="0" marL="0">
              <a:lnSpc>
                <a:spcPct val="110000"/>
              </a:lnSpc>
              <a:buNone/>
            </a:pPr>
            <a:r>
              <a:rPr lang="en-US" sz="1000" dirty="0">
                <a:solidFill>
                  <a:srgbClr val="E8EEFC"/>
                </a:solidFill>
                <a:latin typeface="Courier New" pitchFamily="34" charset="0"/>
                <a:ea typeface="Courier New" pitchFamily="34" charset="-122"/>
                <a:cs typeface="Courier New" pitchFamily="34" charset="-120"/>
              </a:rPr>
              <a:t>Refactor 12 API routes to the new error pattern.</a:t>
            </a:r>
            <a:endParaRPr lang="en-US" sz="1000" dirty="0"/>
          </a:p>
        </p:txBody>
      </p:sp>
      <p:sp>
        <p:nvSpPr>
          <p:cNvPr id="8" name="Shape 6"/>
          <p:cNvSpPr/>
          <p:nvPr/>
        </p:nvSpPr>
        <p:spPr>
          <a:xfrm>
            <a:off x="777240" y="2186940"/>
            <a:ext cx="4251960" cy="0"/>
          </a:xfrm>
          <a:prstGeom prst="line">
            <a:avLst/>
          </a:prstGeom>
          <a:noFill/>
          <a:ln w="9525">
            <a:solidFill>
              <a:srgbClr val="2E3E6B"/>
            </a:solidFill>
            <a:prstDash val="solid"/>
          </a:ln>
        </p:spPr>
      </p:sp>
      <p:sp>
        <p:nvSpPr>
          <p:cNvPr id="9" name="Text 7"/>
          <p:cNvSpPr/>
          <p:nvPr/>
        </p:nvSpPr>
        <p:spPr>
          <a:xfrm>
            <a:off x="777240" y="2186940"/>
            <a:ext cx="1417320" cy="403860"/>
          </a:xfrm>
          <a:prstGeom prst="rect">
            <a:avLst/>
          </a:prstGeom>
          <a:noFill/>
          <a:ln/>
        </p:spPr>
        <p:txBody>
          <a:bodyPr wrap="square" lIns="0" tIns="0" rIns="0" bIns="0" rtlCol="0" anchor="ctr"/>
          <a:lstStyle/>
          <a:p>
            <a:pPr indent="0" marL="0">
              <a:buNone/>
            </a:pPr>
            <a:r>
              <a:rPr lang="en-US" sz="1050" b="1" spc="30" kern="0" dirty="0">
                <a:solidFill>
                  <a:srgbClr val="FFC94D"/>
                </a:solidFill>
                <a:latin typeface="Calibri" pitchFamily="34" charset="0"/>
                <a:ea typeface="Calibri" pitchFamily="34" charset="-122"/>
                <a:cs typeface="Calibri" pitchFamily="34" charset="-120"/>
              </a:rPr>
              <a:t>DONE WHEN</a:t>
            </a:r>
            <a:endParaRPr lang="en-US" sz="1050" dirty="0"/>
          </a:p>
        </p:txBody>
      </p:sp>
      <p:sp>
        <p:nvSpPr>
          <p:cNvPr id="10" name="Text 8"/>
          <p:cNvSpPr/>
          <p:nvPr/>
        </p:nvSpPr>
        <p:spPr>
          <a:xfrm>
            <a:off x="2103120" y="2186940"/>
            <a:ext cx="2926080" cy="403860"/>
          </a:xfrm>
          <a:prstGeom prst="rect">
            <a:avLst/>
          </a:prstGeom>
          <a:noFill/>
          <a:ln/>
        </p:spPr>
        <p:txBody>
          <a:bodyPr wrap="square" lIns="0" tIns="0" rIns="0" bIns="0" rtlCol="0" anchor="ctr"/>
          <a:lstStyle/>
          <a:p>
            <a:pPr indent="0" marL="0">
              <a:lnSpc>
                <a:spcPct val="110000"/>
              </a:lnSpc>
              <a:buNone/>
            </a:pPr>
            <a:r>
              <a:rPr lang="en-US" sz="1000" dirty="0">
                <a:solidFill>
                  <a:srgbClr val="E8EEFC"/>
                </a:solidFill>
                <a:latin typeface="Courier New" pitchFamily="34" charset="0"/>
                <a:ea typeface="Courier New" pitchFamily="34" charset="-122"/>
                <a:cs typeface="Courier New" pitchFamily="34" charset="-120"/>
              </a:rPr>
              <a:t>all 12 files pass lint + tests.</a:t>
            </a:r>
            <a:endParaRPr lang="en-US" sz="1000" dirty="0"/>
          </a:p>
        </p:txBody>
      </p:sp>
      <p:sp>
        <p:nvSpPr>
          <p:cNvPr id="11" name="Shape 9"/>
          <p:cNvSpPr/>
          <p:nvPr/>
        </p:nvSpPr>
        <p:spPr>
          <a:xfrm>
            <a:off x="777240" y="2590800"/>
            <a:ext cx="4251960" cy="0"/>
          </a:xfrm>
          <a:prstGeom prst="line">
            <a:avLst/>
          </a:prstGeom>
          <a:noFill/>
          <a:ln w="9525">
            <a:solidFill>
              <a:srgbClr val="2E3E6B"/>
            </a:solidFill>
            <a:prstDash val="solid"/>
          </a:ln>
        </p:spPr>
      </p:sp>
      <p:sp>
        <p:nvSpPr>
          <p:cNvPr id="12" name="Text 10"/>
          <p:cNvSpPr/>
          <p:nvPr/>
        </p:nvSpPr>
        <p:spPr>
          <a:xfrm>
            <a:off x="777240" y="2590800"/>
            <a:ext cx="1417320" cy="403860"/>
          </a:xfrm>
          <a:prstGeom prst="rect">
            <a:avLst/>
          </a:prstGeom>
          <a:noFill/>
          <a:ln/>
        </p:spPr>
        <p:txBody>
          <a:bodyPr wrap="square" lIns="0" tIns="0" rIns="0" bIns="0" rtlCol="0" anchor="ctr"/>
          <a:lstStyle/>
          <a:p>
            <a:pPr indent="0" marL="0">
              <a:buNone/>
            </a:pPr>
            <a:r>
              <a:rPr lang="en-US" sz="1050" b="1" spc="30" kern="0" dirty="0">
                <a:solidFill>
                  <a:srgbClr val="7FA1F5"/>
                </a:solidFill>
                <a:latin typeface="Calibri" pitchFamily="34" charset="0"/>
                <a:ea typeface="Calibri" pitchFamily="34" charset="-122"/>
                <a:cs typeface="Calibri" pitchFamily="34" charset="-120"/>
              </a:rPr>
              <a:t>DELEGATE</a:t>
            </a:r>
            <a:endParaRPr lang="en-US" sz="1050" dirty="0"/>
          </a:p>
        </p:txBody>
      </p:sp>
      <p:sp>
        <p:nvSpPr>
          <p:cNvPr id="13" name="Text 11"/>
          <p:cNvSpPr/>
          <p:nvPr/>
        </p:nvSpPr>
        <p:spPr>
          <a:xfrm>
            <a:off x="2103120" y="2590800"/>
            <a:ext cx="2926080" cy="403860"/>
          </a:xfrm>
          <a:prstGeom prst="rect">
            <a:avLst/>
          </a:prstGeom>
          <a:noFill/>
          <a:ln/>
        </p:spPr>
        <p:txBody>
          <a:bodyPr wrap="square" lIns="0" tIns="0" rIns="0" bIns="0" rtlCol="0" anchor="ctr"/>
          <a:lstStyle/>
          <a:p>
            <a:pPr indent="0" marL="0">
              <a:lnSpc>
                <a:spcPct val="110000"/>
              </a:lnSpc>
              <a:buNone/>
            </a:pPr>
            <a:r>
              <a:rPr lang="en-US" sz="1000" dirty="0">
                <a:solidFill>
                  <a:srgbClr val="E8EEFC"/>
                </a:solidFill>
                <a:latin typeface="Courier New" pitchFamily="34" charset="0"/>
                <a:ea typeface="Courier New" pitchFamily="34" charset="-122"/>
                <a:cs typeface="Courier New" pitchFamily="34" charset="-120"/>
              </a:rPr>
              <a:t>one worker per file, up to 4 at once.</a:t>
            </a:r>
            <a:endParaRPr lang="en-US" sz="1000" dirty="0"/>
          </a:p>
        </p:txBody>
      </p:sp>
      <p:sp>
        <p:nvSpPr>
          <p:cNvPr id="14" name="Shape 12"/>
          <p:cNvSpPr/>
          <p:nvPr/>
        </p:nvSpPr>
        <p:spPr>
          <a:xfrm>
            <a:off x="777240" y="2994660"/>
            <a:ext cx="4251960" cy="0"/>
          </a:xfrm>
          <a:prstGeom prst="line">
            <a:avLst/>
          </a:prstGeom>
          <a:noFill/>
          <a:ln w="9525">
            <a:solidFill>
              <a:srgbClr val="2E3E6B"/>
            </a:solidFill>
            <a:prstDash val="solid"/>
          </a:ln>
        </p:spPr>
      </p:sp>
      <p:sp>
        <p:nvSpPr>
          <p:cNvPr id="15" name="Text 13"/>
          <p:cNvSpPr/>
          <p:nvPr/>
        </p:nvSpPr>
        <p:spPr>
          <a:xfrm>
            <a:off x="777240" y="2994660"/>
            <a:ext cx="1417320" cy="403860"/>
          </a:xfrm>
          <a:prstGeom prst="rect">
            <a:avLst/>
          </a:prstGeom>
          <a:noFill/>
          <a:ln/>
        </p:spPr>
        <p:txBody>
          <a:bodyPr wrap="square" lIns="0" tIns="0" rIns="0" bIns="0" rtlCol="0" anchor="ctr"/>
          <a:lstStyle/>
          <a:p>
            <a:pPr indent="0" marL="0">
              <a:buNone/>
            </a:pPr>
            <a:r>
              <a:rPr lang="en-US" sz="1050" b="1" spc="30" kern="0" dirty="0">
                <a:solidFill>
                  <a:srgbClr val="7FA1F5"/>
                </a:solidFill>
                <a:latin typeface="Calibri" pitchFamily="34" charset="0"/>
                <a:ea typeface="Calibri" pitchFamily="34" charset="-122"/>
                <a:cs typeface="Calibri" pitchFamily="34" charset="-120"/>
              </a:rPr>
              <a:t>WORKER</a:t>
            </a:r>
            <a:endParaRPr lang="en-US" sz="1050" dirty="0"/>
          </a:p>
        </p:txBody>
      </p:sp>
      <p:sp>
        <p:nvSpPr>
          <p:cNvPr id="16" name="Text 14"/>
          <p:cNvSpPr/>
          <p:nvPr/>
        </p:nvSpPr>
        <p:spPr>
          <a:xfrm>
            <a:off x="2103120" y="2994660"/>
            <a:ext cx="2926080" cy="403860"/>
          </a:xfrm>
          <a:prstGeom prst="rect">
            <a:avLst/>
          </a:prstGeom>
          <a:noFill/>
          <a:ln/>
        </p:spPr>
        <p:txBody>
          <a:bodyPr wrap="square" lIns="0" tIns="0" rIns="0" bIns="0" rtlCol="0" anchor="ctr"/>
          <a:lstStyle/>
          <a:p>
            <a:pPr indent="0" marL="0">
              <a:lnSpc>
                <a:spcPct val="110000"/>
              </a:lnSpc>
              <a:buNone/>
            </a:pPr>
            <a:r>
              <a:rPr lang="en-US" sz="1000" dirty="0">
                <a:solidFill>
                  <a:srgbClr val="E8EEFC"/>
                </a:solidFill>
                <a:latin typeface="Courier New" pitchFamily="34" charset="0"/>
                <a:ea typeface="Courier New" pitchFamily="34" charset="-122"/>
                <a:cs typeface="Courier New" pitchFamily="34" charset="-120"/>
              </a:rPr>
              <a:t>each owns one file: reason/edit/test/observe.</a:t>
            </a:r>
            <a:endParaRPr lang="en-US" sz="1000" dirty="0"/>
          </a:p>
        </p:txBody>
      </p:sp>
      <p:sp>
        <p:nvSpPr>
          <p:cNvPr id="17" name="Shape 15"/>
          <p:cNvSpPr/>
          <p:nvPr/>
        </p:nvSpPr>
        <p:spPr>
          <a:xfrm>
            <a:off x="777240" y="3398520"/>
            <a:ext cx="4251960" cy="0"/>
          </a:xfrm>
          <a:prstGeom prst="line">
            <a:avLst/>
          </a:prstGeom>
          <a:noFill/>
          <a:ln w="9525">
            <a:solidFill>
              <a:srgbClr val="2E3E6B"/>
            </a:solidFill>
            <a:prstDash val="solid"/>
          </a:ln>
        </p:spPr>
      </p:sp>
      <p:sp>
        <p:nvSpPr>
          <p:cNvPr id="18" name="Text 16"/>
          <p:cNvSpPr/>
          <p:nvPr/>
        </p:nvSpPr>
        <p:spPr>
          <a:xfrm>
            <a:off x="777240" y="3398520"/>
            <a:ext cx="1417320" cy="403860"/>
          </a:xfrm>
          <a:prstGeom prst="rect">
            <a:avLst/>
          </a:prstGeom>
          <a:noFill/>
          <a:ln/>
        </p:spPr>
        <p:txBody>
          <a:bodyPr wrap="square" lIns="0" tIns="0" rIns="0" bIns="0" rtlCol="0" anchor="ctr"/>
          <a:lstStyle/>
          <a:p>
            <a:pPr indent="0" marL="0">
              <a:buNone/>
            </a:pPr>
            <a:r>
              <a:rPr lang="en-US" sz="1050" b="1" spc="30" kern="0" dirty="0">
                <a:solidFill>
                  <a:srgbClr val="7FA1F5"/>
                </a:solidFill>
                <a:latin typeface="Calibri" pitchFamily="34" charset="0"/>
                <a:ea typeface="Calibri" pitchFamily="34" charset="-122"/>
                <a:cs typeface="Calibri" pitchFamily="34" charset="-120"/>
              </a:rPr>
              <a:t>REPORT BACK</a:t>
            </a:r>
            <a:endParaRPr lang="en-US" sz="1050" dirty="0"/>
          </a:p>
        </p:txBody>
      </p:sp>
      <p:sp>
        <p:nvSpPr>
          <p:cNvPr id="19" name="Text 17"/>
          <p:cNvSpPr/>
          <p:nvPr/>
        </p:nvSpPr>
        <p:spPr>
          <a:xfrm>
            <a:off x="2103120" y="3398520"/>
            <a:ext cx="2926080" cy="403860"/>
          </a:xfrm>
          <a:prstGeom prst="rect">
            <a:avLst/>
          </a:prstGeom>
          <a:noFill/>
          <a:ln/>
        </p:spPr>
        <p:txBody>
          <a:bodyPr wrap="square" lIns="0" tIns="0" rIns="0" bIns="0" rtlCol="0" anchor="ctr"/>
          <a:lstStyle/>
          <a:p>
            <a:pPr indent="0" marL="0">
              <a:lnSpc>
                <a:spcPct val="110000"/>
              </a:lnSpc>
              <a:buNone/>
            </a:pPr>
            <a:r>
              <a:rPr lang="en-US" sz="1000" dirty="0">
                <a:solidFill>
                  <a:srgbClr val="E8EEFC"/>
                </a:solidFill>
                <a:latin typeface="Courier New" pitchFamily="34" charset="0"/>
                <a:ea typeface="Courier New" pitchFamily="34" charset="-122"/>
                <a:cs typeface="Courier New" pitchFamily="34" charset="-120"/>
              </a:rPr>
              <a:t>pass/fail + diff, the moment it finishes.</a:t>
            </a:r>
            <a:endParaRPr lang="en-US" sz="1000" dirty="0"/>
          </a:p>
        </p:txBody>
      </p:sp>
      <p:sp>
        <p:nvSpPr>
          <p:cNvPr id="20" name="Shape 18"/>
          <p:cNvSpPr/>
          <p:nvPr/>
        </p:nvSpPr>
        <p:spPr>
          <a:xfrm>
            <a:off x="777240" y="3802380"/>
            <a:ext cx="4251960" cy="0"/>
          </a:xfrm>
          <a:prstGeom prst="line">
            <a:avLst/>
          </a:prstGeom>
          <a:noFill/>
          <a:ln w="9525">
            <a:solidFill>
              <a:srgbClr val="2E3E6B"/>
            </a:solidFill>
            <a:prstDash val="solid"/>
          </a:ln>
        </p:spPr>
      </p:sp>
      <p:sp>
        <p:nvSpPr>
          <p:cNvPr id="21" name="Text 19"/>
          <p:cNvSpPr/>
          <p:nvPr/>
        </p:nvSpPr>
        <p:spPr>
          <a:xfrm>
            <a:off x="777240" y="3802380"/>
            <a:ext cx="1417320" cy="403860"/>
          </a:xfrm>
          <a:prstGeom prst="rect">
            <a:avLst/>
          </a:prstGeom>
          <a:noFill/>
          <a:ln/>
        </p:spPr>
        <p:txBody>
          <a:bodyPr wrap="square" lIns="0" tIns="0" rIns="0" bIns="0" rtlCol="0" anchor="ctr"/>
          <a:lstStyle/>
          <a:p>
            <a:pPr indent="0" marL="0">
              <a:buNone/>
            </a:pPr>
            <a:r>
              <a:rPr lang="en-US" sz="1050" b="1" spc="30" kern="0" dirty="0">
                <a:solidFill>
                  <a:srgbClr val="7FA1F5"/>
                </a:solidFill>
                <a:latin typeface="Calibri" pitchFamily="34" charset="0"/>
                <a:ea typeface="Calibri" pitchFamily="34" charset="-122"/>
                <a:cs typeface="Calibri" pitchFamily="34" charset="-120"/>
              </a:rPr>
              <a:t>ON CONFLICT</a:t>
            </a:r>
            <a:endParaRPr lang="en-US" sz="1050" dirty="0"/>
          </a:p>
        </p:txBody>
      </p:sp>
      <p:sp>
        <p:nvSpPr>
          <p:cNvPr id="22" name="Text 20"/>
          <p:cNvSpPr/>
          <p:nvPr/>
        </p:nvSpPr>
        <p:spPr>
          <a:xfrm>
            <a:off x="2103120" y="3802380"/>
            <a:ext cx="2926080" cy="403860"/>
          </a:xfrm>
          <a:prstGeom prst="rect">
            <a:avLst/>
          </a:prstGeom>
          <a:noFill/>
          <a:ln/>
        </p:spPr>
        <p:txBody>
          <a:bodyPr wrap="square" lIns="0" tIns="0" rIns="0" bIns="0" rtlCol="0" anchor="ctr"/>
          <a:lstStyle/>
          <a:p>
            <a:pPr indent="0" marL="0">
              <a:lnSpc>
                <a:spcPct val="110000"/>
              </a:lnSpc>
              <a:buNone/>
            </a:pPr>
            <a:r>
              <a:rPr lang="en-US" sz="1000" dirty="0">
                <a:solidFill>
                  <a:srgbClr val="E8EEFC"/>
                </a:solidFill>
                <a:latin typeface="Courier New" pitchFamily="34" charset="0"/>
                <a:ea typeface="Courier New" pitchFamily="34" charset="-122"/>
                <a:cs typeface="Courier New" pitchFamily="34" charset="-120"/>
              </a:rPr>
              <a:t>shared-import files get a final joint pass.</a:t>
            </a:r>
            <a:endParaRPr lang="en-US" sz="1000" dirty="0"/>
          </a:p>
        </p:txBody>
      </p:sp>
      <p:sp>
        <p:nvSpPr>
          <p:cNvPr id="23" name="Text 21"/>
          <p:cNvSpPr/>
          <p:nvPr/>
        </p:nvSpPr>
        <p:spPr>
          <a:xfrm>
            <a:off x="5577840" y="1783080"/>
            <a:ext cx="3017520" cy="457200"/>
          </a:xfrm>
          <a:prstGeom prst="rect">
            <a:avLst/>
          </a:prstGeom>
          <a:noFill/>
          <a:ln/>
        </p:spPr>
        <p:txBody>
          <a:bodyPr wrap="square" lIns="0" tIns="0" rIns="0" bIns="0" rtlCol="0" anchor="ctr"/>
          <a:lstStyle/>
          <a:p>
            <a:pPr indent="0" marL="0">
              <a:lnSpc>
                <a:spcPct val="120000"/>
              </a:lnSpc>
              <a:buNone/>
            </a:pPr>
            <a:r>
              <a:rPr lang="en-US" sz="1050" b="1" dirty="0">
                <a:solidFill>
                  <a:srgbClr val="FFC94D"/>
                </a:solidFill>
                <a:latin typeface="Calibri" pitchFamily="34" charset="0"/>
                <a:ea typeface="Calibri" pitchFamily="34" charset="-122"/>
                <a:cs typeface="Calibri" pitchFamily="34" charset="-120"/>
              </a:rPr>
              <a:t xml:space="preserve">Goal / Done when  </a:t>
            </a:r>
            <a:pPr indent="0" marL="0">
              <a:lnSpc>
                <a:spcPct val="120000"/>
              </a:lnSpc>
              <a:buNone/>
            </a:pPr>
            <a:r>
              <a:rPr lang="en-US" sz="1050" dirty="0">
                <a:solidFill>
                  <a:srgbClr val="C7D1F0"/>
                </a:solidFill>
                <a:latin typeface="Calibri" pitchFamily="34" charset="0"/>
                <a:ea typeface="Calibri" pitchFamily="34" charset="-122"/>
                <a:cs typeface="Calibri" pitchFamily="34" charset="-120"/>
              </a:rPr>
              <a:t>Scoped to the whole job — the manager’s responsibility, not any one worker’s.</a:t>
            </a:r>
            <a:endParaRPr lang="en-US" sz="1050" dirty="0"/>
          </a:p>
        </p:txBody>
      </p:sp>
      <p:sp>
        <p:nvSpPr>
          <p:cNvPr id="24" name="Text 22"/>
          <p:cNvSpPr/>
          <p:nvPr/>
        </p:nvSpPr>
        <p:spPr>
          <a:xfrm>
            <a:off x="5577840" y="2240280"/>
            <a:ext cx="3017520" cy="402336"/>
          </a:xfrm>
          <a:prstGeom prst="rect">
            <a:avLst/>
          </a:prstGeom>
          <a:noFill/>
          <a:ln/>
        </p:spPr>
        <p:txBody>
          <a:bodyPr wrap="square" lIns="0" tIns="0" rIns="0" bIns="0" rtlCol="0" anchor="ctr"/>
          <a:lstStyle/>
          <a:p>
            <a:pPr indent="0" marL="0">
              <a:lnSpc>
                <a:spcPct val="120000"/>
              </a:lnSpc>
              <a:buNone/>
            </a:pPr>
            <a:r>
              <a:rPr lang="en-US" sz="1050" b="1" dirty="0">
                <a:solidFill>
                  <a:srgbClr val="FFFFFF"/>
                </a:solidFill>
                <a:latin typeface="Calibri" pitchFamily="34" charset="0"/>
                <a:ea typeface="Calibri" pitchFamily="34" charset="-122"/>
                <a:cs typeface="Calibri" pitchFamily="34" charset="-120"/>
              </a:rPr>
              <a:t xml:space="preserve">Delegate  </a:t>
            </a:r>
            <a:pPr indent="0" marL="0">
              <a:lnSpc>
                <a:spcPct val="120000"/>
              </a:lnSpc>
              <a:buNone/>
            </a:pPr>
            <a:r>
              <a:rPr lang="en-US" sz="1050" dirty="0">
                <a:solidFill>
                  <a:srgbClr val="C7D1F0"/>
                </a:solidFill>
                <a:latin typeface="Calibri" pitchFamily="34" charset="0"/>
                <a:ea typeface="Calibri" pitchFamily="34" charset="-122"/>
                <a:cs typeface="Calibri" pitchFamily="34" charset="-120"/>
              </a:rPr>
              <a:t>What gets split into worker loops, and the trigger to spawn one.</a:t>
            </a:r>
            <a:endParaRPr lang="en-US" sz="1050" dirty="0"/>
          </a:p>
        </p:txBody>
      </p:sp>
      <p:sp>
        <p:nvSpPr>
          <p:cNvPr id="25" name="Text 23"/>
          <p:cNvSpPr/>
          <p:nvPr/>
        </p:nvSpPr>
        <p:spPr>
          <a:xfrm>
            <a:off x="5577840" y="2642616"/>
            <a:ext cx="3017520" cy="402336"/>
          </a:xfrm>
          <a:prstGeom prst="rect">
            <a:avLst/>
          </a:prstGeom>
          <a:noFill/>
          <a:ln/>
        </p:spPr>
        <p:txBody>
          <a:bodyPr wrap="square" lIns="0" tIns="0" rIns="0" bIns="0" rtlCol="0" anchor="ctr"/>
          <a:lstStyle/>
          <a:p>
            <a:pPr indent="0" marL="0">
              <a:lnSpc>
                <a:spcPct val="120000"/>
              </a:lnSpc>
              <a:buNone/>
            </a:pPr>
            <a:r>
              <a:rPr lang="en-US" sz="1050" b="1" dirty="0">
                <a:solidFill>
                  <a:srgbClr val="FFFFFF"/>
                </a:solidFill>
                <a:latin typeface="Calibri" pitchFamily="34" charset="0"/>
                <a:ea typeface="Calibri" pitchFamily="34" charset="-122"/>
                <a:cs typeface="Calibri" pitchFamily="34" charset="-120"/>
              </a:rPr>
              <a:t xml:space="preserve">Worker contract  </a:t>
            </a:r>
            <a:pPr indent="0" marL="0">
              <a:lnSpc>
                <a:spcPct val="120000"/>
              </a:lnSpc>
              <a:buNone/>
            </a:pPr>
            <a:r>
              <a:rPr lang="en-US" sz="1050" dirty="0">
                <a:solidFill>
                  <a:srgbClr val="C7D1F0"/>
                </a:solidFill>
                <a:latin typeface="Calibri" pitchFamily="34" charset="0"/>
                <a:ea typeface="Calibri" pitchFamily="34" charset="-122"/>
                <a:cs typeface="Calibri" pitchFamily="34" charset="-120"/>
              </a:rPr>
              <a:t>Each worker gets its own goal / done when / tools / verify, scoped down.</a:t>
            </a:r>
            <a:endParaRPr lang="en-US" sz="1050" dirty="0"/>
          </a:p>
        </p:txBody>
      </p:sp>
      <p:sp>
        <p:nvSpPr>
          <p:cNvPr id="26" name="Text 24"/>
          <p:cNvSpPr/>
          <p:nvPr/>
        </p:nvSpPr>
        <p:spPr>
          <a:xfrm>
            <a:off x="5577840" y="3044952"/>
            <a:ext cx="3017520" cy="603504"/>
          </a:xfrm>
          <a:prstGeom prst="rect">
            <a:avLst/>
          </a:prstGeom>
          <a:noFill/>
          <a:ln/>
        </p:spPr>
        <p:txBody>
          <a:bodyPr wrap="square" lIns="0" tIns="0" rIns="0" bIns="0" rtlCol="0" anchor="ctr"/>
          <a:lstStyle/>
          <a:p>
            <a:pPr indent="0" marL="0">
              <a:lnSpc>
                <a:spcPct val="120000"/>
              </a:lnSpc>
              <a:buNone/>
            </a:pPr>
            <a:r>
              <a:rPr lang="en-US" sz="1050" b="1" dirty="0">
                <a:solidFill>
                  <a:srgbClr val="FFFFFF"/>
                </a:solidFill>
                <a:latin typeface="Calibri" pitchFamily="34" charset="0"/>
                <a:ea typeface="Calibri" pitchFamily="34" charset="-122"/>
                <a:cs typeface="Calibri" pitchFamily="34" charset="-120"/>
              </a:rPr>
              <a:t xml:space="preserve">Report back  </a:t>
            </a:r>
            <a:pPr indent="0" marL="0">
              <a:lnSpc>
                <a:spcPct val="120000"/>
              </a:lnSpc>
              <a:buNone/>
            </a:pPr>
            <a:r>
              <a:rPr lang="en-US" sz="1050" dirty="0">
                <a:solidFill>
                  <a:srgbClr val="C7D1F0"/>
                </a:solidFill>
                <a:latin typeface="Calibri" pitchFamily="34" charset="0"/>
                <a:ea typeface="Calibri" pitchFamily="34" charset="-122"/>
                <a:cs typeface="Calibri" pitchFamily="34" charset="-120"/>
              </a:rPr>
              <a:t>A result + status, not raw logs — and whether the manager acts the moment one worker finishes.</a:t>
            </a:r>
            <a:endParaRPr lang="en-US" sz="1050" dirty="0"/>
          </a:p>
        </p:txBody>
      </p:sp>
      <p:sp>
        <p:nvSpPr>
          <p:cNvPr id="27" name="Text 25"/>
          <p:cNvSpPr/>
          <p:nvPr/>
        </p:nvSpPr>
        <p:spPr>
          <a:xfrm>
            <a:off x="5577840" y="3648456"/>
            <a:ext cx="3017520" cy="402336"/>
          </a:xfrm>
          <a:prstGeom prst="rect">
            <a:avLst/>
          </a:prstGeom>
          <a:noFill/>
          <a:ln/>
        </p:spPr>
        <p:txBody>
          <a:bodyPr wrap="square" lIns="0" tIns="0" rIns="0" bIns="0" rtlCol="0" anchor="ctr"/>
          <a:lstStyle/>
          <a:p>
            <a:pPr indent="0" marL="0">
              <a:lnSpc>
                <a:spcPct val="120000"/>
              </a:lnSpc>
              <a:buNone/>
            </a:pPr>
            <a:r>
              <a:rPr lang="en-US" sz="1050" b="1" dirty="0">
                <a:solidFill>
                  <a:srgbClr val="FFFFFF"/>
                </a:solidFill>
                <a:latin typeface="Calibri" pitchFamily="34" charset="0"/>
                <a:ea typeface="Calibri" pitchFamily="34" charset="-122"/>
                <a:cs typeface="Calibri" pitchFamily="34" charset="-120"/>
              </a:rPr>
              <a:t xml:space="preserve">On conflict  </a:t>
            </a:r>
            <a:pPr indent="0" marL="0">
              <a:lnSpc>
                <a:spcPct val="120000"/>
              </a:lnSpc>
              <a:buNone/>
            </a:pPr>
            <a:r>
              <a:rPr lang="en-US" sz="1050" dirty="0">
                <a:solidFill>
                  <a:srgbClr val="C7D1F0"/>
                </a:solidFill>
                <a:latin typeface="Calibri" pitchFamily="34" charset="0"/>
                <a:ea typeface="Calibri" pitchFamily="34" charset="-122"/>
                <a:cs typeface="Calibri" pitchFamily="34" charset="-120"/>
              </a:rPr>
              <a:t>How the manager resolves overlapping or contradictory worker results.</a:t>
            </a:r>
            <a:endParaRPr lang="en-US" sz="1050" dirty="0"/>
          </a:p>
        </p:txBody>
      </p:sp>
      <p:sp>
        <p:nvSpPr>
          <p:cNvPr id="28" name="Text 26"/>
          <p:cNvSpPr/>
          <p:nvPr/>
        </p:nvSpPr>
        <p:spPr>
          <a:xfrm>
            <a:off x="548640" y="4334256"/>
            <a:ext cx="8046720" cy="274320"/>
          </a:xfrm>
          <a:prstGeom prst="rect">
            <a:avLst/>
          </a:prstGeom>
          <a:noFill/>
          <a:ln/>
        </p:spPr>
        <p:txBody>
          <a:bodyPr wrap="square" lIns="0" tIns="0" rIns="0" bIns="0" rtlCol="0" anchor="ctr"/>
          <a:lstStyle/>
          <a:p>
            <a:pPr indent="0" marL="0">
              <a:lnSpc>
                <a:spcPct val="115000"/>
              </a:lnSpc>
              <a:buNone/>
            </a:pPr>
            <a:r>
              <a:rPr lang="en-US" sz="1050" i="1" dirty="0">
                <a:solidFill>
                  <a:srgbClr val="A9B4DE"/>
                </a:solidFill>
                <a:latin typeface="Calibri Light" pitchFamily="34" charset="0"/>
                <a:ea typeface="Calibri Light" pitchFamily="34" charset="-122"/>
                <a:cs typeface="Calibri Light" pitchFamily="34" charset="-120"/>
              </a:rPr>
              <a:t>Everything from the basic prompt still applies inside each worker — Super Loop adds who delegates, reports, and resolves conflicts.</a:t>
            </a:r>
            <a:endParaRPr lang="en-US" sz="1050" dirty="0"/>
          </a:p>
        </p:txBody>
      </p:sp>
      <p:sp>
        <p:nvSpPr>
          <p:cNvPr id="29" name="Text 27"/>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8590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REAL RUN — DEMO 1 OF 3</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800" b="1" dirty="0">
                <a:solidFill>
                  <a:srgbClr val="1A1D26"/>
                </a:solidFill>
                <a:latin typeface="Calibri" pitchFamily="34" charset="0"/>
                <a:ea typeface="Calibri" pitchFamily="34" charset="-122"/>
                <a:cs typeface="Calibri" pitchFamily="34" charset="-120"/>
              </a:rPr>
              <a:t>Thumbnail scoring loop</a:t>
            </a:r>
            <a:endParaRPr lang="en-US" sz="2800" dirty="0"/>
          </a:p>
        </p:txBody>
      </p:sp>
      <p:sp>
        <p:nvSpPr>
          <p:cNvPr id="4" name="Shape 2"/>
          <p:cNvSpPr/>
          <p:nvPr/>
        </p:nvSpPr>
        <p:spPr>
          <a:xfrm>
            <a:off x="548640" y="1600200"/>
            <a:ext cx="2377440" cy="2743200"/>
          </a:xfrm>
          <a:prstGeom prst="rect">
            <a:avLst/>
          </a:prstGeom>
          <a:solidFill>
            <a:srgbClr val="E8EEFC"/>
          </a:solidFill>
          <a:ln/>
        </p:spPr>
      </p:sp>
      <p:sp>
        <p:nvSpPr>
          <p:cNvPr id="5" name="Shape 3"/>
          <p:cNvSpPr/>
          <p:nvPr/>
        </p:nvSpPr>
        <p:spPr>
          <a:xfrm>
            <a:off x="548640" y="1600200"/>
            <a:ext cx="2377440" cy="73152"/>
          </a:xfrm>
          <a:prstGeom prst="rect">
            <a:avLst/>
          </a:prstGeom>
          <a:solidFill>
            <a:srgbClr val="1B2A57"/>
          </a:solidFill>
          <a:ln/>
        </p:spPr>
      </p:sp>
      <p:sp>
        <p:nvSpPr>
          <p:cNvPr id="6" name="Text 4"/>
          <p:cNvSpPr/>
          <p:nvPr/>
        </p:nvSpPr>
        <p:spPr>
          <a:xfrm>
            <a:off x="777240" y="2057400"/>
            <a:ext cx="1920240" cy="914400"/>
          </a:xfrm>
          <a:prstGeom prst="rect">
            <a:avLst/>
          </a:prstGeom>
          <a:noFill/>
          <a:ln/>
        </p:spPr>
        <p:txBody>
          <a:bodyPr wrap="square" lIns="0" tIns="0" rIns="0" bIns="0" rtlCol="0" anchor="ctr"/>
          <a:lstStyle/>
          <a:p>
            <a:pPr indent="0" marL="0">
              <a:buNone/>
            </a:pPr>
            <a:r>
              <a:rPr lang="en-US" sz="6400" b="1" dirty="0">
                <a:solidFill>
                  <a:srgbClr val="1B2A57"/>
                </a:solidFill>
                <a:latin typeface="Calibri" pitchFamily="34" charset="0"/>
                <a:ea typeface="Calibri" pitchFamily="34" charset="-122"/>
                <a:cs typeface="Calibri" pitchFamily="34" charset="-120"/>
              </a:rPr>
              <a:t>27</a:t>
            </a:r>
            <a:endParaRPr lang="en-US" sz="6400" dirty="0"/>
          </a:p>
        </p:txBody>
      </p:sp>
      <p:sp>
        <p:nvSpPr>
          <p:cNvPr id="7" name="Text 5"/>
          <p:cNvSpPr/>
          <p:nvPr/>
        </p:nvSpPr>
        <p:spPr>
          <a:xfrm>
            <a:off x="777240" y="2971800"/>
            <a:ext cx="1920240" cy="36576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minutes end to end</a:t>
            </a:r>
            <a:endParaRPr lang="en-US" sz="1200" dirty="0"/>
          </a:p>
        </p:txBody>
      </p:sp>
      <p:sp>
        <p:nvSpPr>
          <p:cNvPr id="8" name="Text 6"/>
          <p:cNvSpPr/>
          <p:nvPr/>
        </p:nvSpPr>
        <p:spPr>
          <a:xfrm>
            <a:off x="777240" y="3474720"/>
            <a:ext cx="1920240" cy="777240"/>
          </a:xfrm>
          <a:prstGeom prst="rect">
            <a:avLst/>
          </a:prstGeom>
          <a:noFill/>
          <a:ln/>
        </p:spPr>
        <p:txBody>
          <a:bodyPr wrap="square" lIns="0" tIns="0" rIns="0" bIns="0" rtlCol="0" anchor="ctr"/>
          <a:lstStyle/>
          <a:p>
            <a:pPr indent="0" marL="0">
              <a:lnSpc>
                <a:spcPct val="130000"/>
              </a:lnSpc>
              <a:buNone/>
            </a:pPr>
            <a:r>
              <a:rPr lang="en-US" sz="1100" i="1" dirty="0">
                <a:solidFill>
                  <a:srgbClr val="5B6072"/>
                </a:solidFill>
                <a:latin typeface="Calibri Light" pitchFamily="34" charset="0"/>
                <a:ea typeface="Calibri Light" pitchFamily="34" charset="-122"/>
                <a:cs typeface="Calibri Light" pitchFamily="34" charset="-120"/>
              </a:rPr>
              <a:t>10 concepts generated, scored, and improved on the strongest one.</a:t>
            </a:r>
            <a:endParaRPr lang="en-US" sz="1100" dirty="0"/>
          </a:p>
        </p:txBody>
      </p:sp>
      <p:sp>
        <p:nvSpPr>
          <p:cNvPr id="9" name="Text 7"/>
          <p:cNvSpPr/>
          <p:nvPr/>
        </p:nvSpPr>
        <p:spPr>
          <a:xfrm>
            <a:off x="3291840" y="1691640"/>
            <a:ext cx="5303520" cy="237744"/>
          </a:xfrm>
          <a:prstGeom prst="rect">
            <a:avLst/>
          </a:prstGeom>
          <a:noFill/>
          <a:ln/>
        </p:spPr>
        <p:txBody>
          <a:bodyPr wrap="square" lIns="0" tIns="0" rIns="0" bIns="0" rtlCol="0" anchor="ctr"/>
          <a:lstStyle/>
          <a:p>
            <a:pPr indent="0" marL="0">
              <a:buNone/>
            </a:pPr>
            <a:r>
              <a:rPr lang="en-US" sz="1050" b="1" spc="100" kern="0" dirty="0">
                <a:solidFill>
                  <a:srgbClr val="2F5FDE"/>
                </a:solidFill>
                <a:latin typeface="Calibri" pitchFamily="34" charset="0"/>
                <a:ea typeface="Calibri" pitchFamily="34" charset="-122"/>
                <a:cs typeface="Calibri" pitchFamily="34" charset="-120"/>
              </a:rPr>
              <a:t>GOAL</a:t>
            </a:r>
            <a:endParaRPr lang="en-US" sz="1050" dirty="0"/>
          </a:p>
        </p:txBody>
      </p:sp>
      <p:sp>
        <p:nvSpPr>
          <p:cNvPr id="10" name="Text 8"/>
          <p:cNvSpPr/>
          <p:nvPr/>
        </p:nvSpPr>
        <p:spPr>
          <a:xfrm>
            <a:off x="3291840" y="1947672"/>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Make 10 thumbnail concepts, score each against a rubric, keep improving the strongest one.</a:t>
            </a:r>
            <a:endParaRPr lang="en-US" sz="1200" dirty="0"/>
          </a:p>
        </p:txBody>
      </p:sp>
      <p:sp>
        <p:nvSpPr>
          <p:cNvPr id="11" name="Shape 9"/>
          <p:cNvSpPr/>
          <p:nvPr/>
        </p:nvSpPr>
        <p:spPr>
          <a:xfrm>
            <a:off x="3291840" y="2377440"/>
            <a:ext cx="5303520" cy="0"/>
          </a:xfrm>
          <a:prstGeom prst="line">
            <a:avLst/>
          </a:prstGeom>
          <a:noFill/>
          <a:ln w="9525">
            <a:solidFill>
              <a:srgbClr val="D9DCE6"/>
            </a:solidFill>
            <a:prstDash val="solid"/>
          </a:ln>
        </p:spPr>
      </p:sp>
      <p:sp>
        <p:nvSpPr>
          <p:cNvPr id="12" name="Text 10"/>
          <p:cNvSpPr/>
          <p:nvPr/>
        </p:nvSpPr>
        <p:spPr>
          <a:xfrm>
            <a:off x="3291840" y="2468880"/>
            <a:ext cx="5303520" cy="237744"/>
          </a:xfrm>
          <a:prstGeom prst="rect">
            <a:avLst/>
          </a:prstGeom>
          <a:noFill/>
          <a:ln/>
        </p:spPr>
        <p:txBody>
          <a:bodyPr wrap="square" lIns="0" tIns="0" rIns="0" bIns="0" rtlCol="0" anchor="ctr"/>
          <a:lstStyle/>
          <a:p>
            <a:pPr indent="0" marL="0">
              <a:buNone/>
            </a:pPr>
            <a:r>
              <a:rPr lang="en-US" sz="1050" b="1" spc="100" kern="0" dirty="0">
                <a:solidFill>
                  <a:srgbClr val="2F5FDE"/>
                </a:solidFill>
                <a:latin typeface="Calibri" pitchFamily="34" charset="0"/>
                <a:ea typeface="Calibri" pitchFamily="34" charset="-122"/>
                <a:cs typeface="Calibri" pitchFamily="34" charset="-120"/>
              </a:rPr>
              <a:t>STOP CONDITION</a:t>
            </a:r>
            <a:endParaRPr lang="en-US" sz="1050" dirty="0"/>
          </a:p>
        </p:txBody>
      </p:sp>
      <p:sp>
        <p:nvSpPr>
          <p:cNvPr id="13" name="Text 11"/>
          <p:cNvSpPr/>
          <p:nvPr/>
        </p:nvSpPr>
        <p:spPr>
          <a:xfrm>
            <a:off x="3291840" y="2724912"/>
            <a:ext cx="5303520" cy="201168"/>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“Until satisfied” — too subjective for a real stop rule.</a:t>
            </a:r>
            <a:endParaRPr lang="en-US" sz="1200" dirty="0"/>
          </a:p>
        </p:txBody>
      </p:sp>
      <p:sp>
        <p:nvSpPr>
          <p:cNvPr id="14" name="Shape 12"/>
          <p:cNvSpPr/>
          <p:nvPr/>
        </p:nvSpPr>
        <p:spPr>
          <a:xfrm>
            <a:off x="3291840" y="2944368"/>
            <a:ext cx="5303520" cy="0"/>
          </a:xfrm>
          <a:prstGeom prst="line">
            <a:avLst/>
          </a:prstGeom>
          <a:noFill/>
          <a:ln w="9525">
            <a:solidFill>
              <a:srgbClr val="D9DCE6"/>
            </a:solidFill>
            <a:prstDash val="solid"/>
          </a:ln>
        </p:spPr>
      </p:sp>
      <p:sp>
        <p:nvSpPr>
          <p:cNvPr id="15" name="Text 13"/>
          <p:cNvSpPr/>
          <p:nvPr/>
        </p:nvSpPr>
        <p:spPr>
          <a:xfrm>
            <a:off x="3291840" y="3035808"/>
            <a:ext cx="5303520" cy="237744"/>
          </a:xfrm>
          <a:prstGeom prst="rect">
            <a:avLst/>
          </a:prstGeom>
          <a:noFill/>
          <a:ln/>
        </p:spPr>
        <p:txBody>
          <a:bodyPr wrap="square" lIns="0" tIns="0" rIns="0" bIns="0" rtlCol="0" anchor="ctr"/>
          <a:lstStyle/>
          <a:p>
            <a:pPr indent="0" marL="0">
              <a:buNone/>
            </a:pPr>
            <a:r>
              <a:rPr lang="en-US" sz="1050" b="1" spc="100" kern="0" dirty="0">
                <a:solidFill>
                  <a:srgbClr val="2F5FDE"/>
                </a:solidFill>
                <a:latin typeface="Calibri" pitchFamily="34" charset="0"/>
                <a:ea typeface="Calibri" pitchFamily="34" charset="-122"/>
                <a:cs typeface="Calibri" pitchFamily="34" charset="-120"/>
              </a:rPr>
              <a:t>WHAT HAPPENED</a:t>
            </a:r>
            <a:endParaRPr lang="en-US" sz="1050" dirty="0"/>
          </a:p>
        </p:txBody>
      </p:sp>
      <p:sp>
        <p:nvSpPr>
          <p:cNvPr id="16" name="Text 14"/>
          <p:cNvSpPr/>
          <p:nvPr/>
        </p:nvSpPr>
        <p:spPr>
          <a:xfrm>
            <a:off x="3291840" y="3291840"/>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The loop kept iterating without a hard ceiling, since there was no objective score to converge on.</a:t>
            </a:r>
            <a:endParaRPr lang="en-US" sz="1200" dirty="0"/>
          </a:p>
        </p:txBody>
      </p:sp>
      <p:sp>
        <p:nvSpPr>
          <p:cNvPr id="17" name="Shape 15"/>
          <p:cNvSpPr/>
          <p:nvPr/>
        </p:nvSpPr>
        <p:spPr>
          <a:xfrm>
            <a:off x="3291840" y="3721608"/>
            <a:ext cx="5303520" cy="0"/>
          </a:xfrm>
          <a:prstGeom prst="line">
            <a:avLst/>
          </a:prstGeom>
          <a:noFill/>
          <a:ln w="9525">
            <a:solidFill>
              <a:srgbClr val="D9DCE6"/>
            </a:solidFill>
            <a:prstDash val="solid"/>
          </a:ln>
        </p:spPr>
      </p:sp>
      <p:sp>
        <p:nvSpPr>
          <p:cNvPr id="18" name="Text 16"/>
          <p:cNvSpPr/>
          <p:nvPr/>
        </p:nvSpPr>
        <p:spPr>
          <a:xfrm>
            <a:off x="3291840" y="3813048"/>
            <a:ext cx="5303520" cy="237744"/>
          </a:xfrm>
          <a:prstGeom prst="rect">
            <a:avLst/>
          </a:prstGeom>
          <a:noFill/>
          <a:ln/>
        </p:spPr>
        <p:txBody>
          <a:bodyPr wrap="square" lIns="0" tIns="0" rIns="0" bIns="0" rtlCol="0" anchor="ctr"/>
          <a:lstStyle/>
          <a:p>
            <a:pPr indent="0" marL="0">
              <a:buNone/>
            </a:pPr>
            <a:r>
              <a:rPr lang="en-US" sz="1050" b="1" spc="100" kern="0" dirty="0">
                <a:solidFill>
                  <a:srgbClr val="2F5FDE"/>
                </a:solidFill>
                <a:latin typeface="Calibri" pitchFamily="34" charset="0"/>
                <a:ea typeface="Calibri" pitchFamily="34" charset="-122"/>
                <a:cs typeface="Calibri" pitchFamily="34" charset="-120"/>
              </a:rPr>
              <a:t>LESSON</a:t>
            </a:r>
            <a:endParaRPr lang="en-US" sz="1050" dirty="0"/>
          </a:p>
        </p:txBody>
      </p:sp>
      <p:sp>
        <p:nvSpPr>
          <p:cNvPr id="19" name="Text 17"/>
          <p:cNvSpPr/>
          <p:nvPr/>
        </p:nvSpPr>
        <p:spPr>
          <a:xfrm>
            <a:off x="3291840" y="4069080"/>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A dedicated scoring agent with a numeric rubric would sharpen this into a real stop condition.</a:t>
            </a:r>
            <a:endParaRPr lang="en-US" sz="1200" dirty="0"/>
          </a:p>
        </p:txBody>
      </p:sp>
      <p:sp>
        <p:nvSpPr>
          <p:cNvPr id="20" name="Text 18"/>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REAL RUN — DEMO 2 OF 3</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800" b="1" dirty="0">
                <a:solidFill>
                  <a:srgbClr val="1A1D26"/>
                </a:solidFill>
                <a:latin typeface="Calibri" pitchFamily="34" charset="0"/>
                <a:ea typeface="Calibri" pitchFamily="34" charset="-122"/>
                <a:cs typeface="Calibri" pitchFamily="34" charset="-120"/>
              </a:rPr>
              <a:t>Three.js spinning plane loop</a:t>
            </a:r>
            <a:endParaRPr lang="en-US" sz="2800" dirty="0"/>
          </a:p>
        </p:txBody>
      </p:sp>
      <p:sp>
        <p:nvSpPr>
          <p:cNvPr id="4" name="Shape 2"/>
          <p:cNvSpPr/>
          <p:nvPr/>
        </p:nvSpPr>
        <p:spPr>
          <a:xfrm>
            <a:off x="548640" y="1600200"/>
            <a:ext cx="2377440" cy="2743200"/>
          </a:xfrm>
          <a:prstGeom prst="rect">
            <a:avLst/>
          </a:prstGeom>
          <a:solidFill>
            <a:srgbClr val="E2F3E8"/>
          </a:solidFill>
          <a:ln/>
        </p:spPr>
      </p:sp>
      <p:sp>
        <p:nvSpPr>
          <p:cNvPr id="5" name="Shape 3"/>
          <p:cNvSpPr/>
          <p:nvPr/>
        </p:nvSpPr>
        <p:spPr>
          <a:xfrm>
            <a:off x="548640" y="1600200"/>
            <a:ext cx="2377440" cy="73152"/>
          </a:xfrm>
          <a:prstGeom prst="rect">
            <a:avLst/>
          </a:prstGeom>
          <a:solidFill>
            <a:srgbClr val="1E6B3E"/>
          </a:solidFill>
          <a:ln/>
        </p:spPr>
      </p:sp>
      <p:sp>
        <p:nvSpPr>
          <p:cNvPr id="6" name="Text 4"/>
          <p:cNvSpPr/>
          <p:nvPr/>
        </p:nvSpPr>
        <p:spPr>
          <a:xfrm>
            <a:off x="777240" y="2057400"/>
            <a:ext cx="1920240" cy="914400"/>
          </a:xfrm>
          <a:prstGeom prst="rect">
            <a:avLst/>
          </a:prstGeom>
          <a:noFill/>
          <a:ln/>
        </p:spPr>
        <p:txBody>
          <a:bodyPr wrap="square" lIns="0" tIns="0" rIns="0" bIns="0" rtlCol="0" anchor="ctr"/>
          <a:lstStyle/>
          <a:p>
            <a:pPr indent="0" marL="0">
              <a:buNone/>
            </a:pPr>
            <a:r>
              <a:rPr lang="en-US" sz="6400" b="1" dirty="0">
                <a:solidFill>
                  <a:srgbClr val="1E6B3E"/>
                </a:solidFill>
                <a:latin typeface="Calibri" pitchFamily="34" charset="0"/>
                <a:ea typeface="Calibri" pitchFamily="34" charset="-122"/>
                <a:cs typeface="Calibri" pitchFamily="34" charset="-120"/>
              </a:rPr>
              <a:t>37</a:t>
            </a:r>
            <a:endParaRPr lang="en-US" sz="6400" dirty="0"/>
          </a:p>
        </p:txBody>
      </p:sp>
      <p:sp>
        <p:nvSpPr>
          <p:cNvPr id="7" name="Text 5"/>
          <p:cNvSpPr/>
          <p:nvPr/>
        </p:nvSpPr>
        <p:spPr>
          <a:xfrm>
            <a:off x="777240" y="2971800"/>
            <a:ext cx="1920240" cy="36576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minutes end to end</a:t>
            </a:r>
            <a:endParaRPr lang="en-US" sz="1200" dirty="0"/>
          </a:p>
        </p:txBody>
      </p:sp>
      <p:sp>
        <p:nvSpPr>
          <p:cNvPr id="8" name="Text 6"/>
          <p:cNvSpPr/>
          <p:nvPr/>
        </p:nvSpPr>
        <p:spPr>
          <a:xfrm>
            <a:off x="777240" y="3474720"/>
            <a:ext cx="1920240" cy="777240"/>
          </a:xfrm>
          <a:prstGeom prst="rect">
            <a:avLst/>
          </a:prstGeom>
          <a:noFill/>
          <a:ln/>
        </p:spPr>
        <p:txBody>
          <a:bodyPr wrap="square" lIns="0" tIns="0" rIns="0" bIns="0" rtlCol="0" anchor="ctr"/>
          <a:lstStyle/>
          <a:p>
            <a:pPr indent="0" marL="0">
              <a:lnSpc>
                <a:spcPct val="130000"/>
              </a:lnSpc>
              <a:buNone/>
            </a:pPr>
            <a:r>
              <a:rPr lang="en-US" sz="1100" i="1" dirty="0">
                <a:solidFill>
                  <a:srgbClr val="5B6072"/>
                </a:solidFill>
                <a:latin typeface="Calibri Light" pitchFamily="34" charset="0"/>
                <a:ea typeface="Calibri Light" pitchFamily="34" charset="-122"/>
                <a:cs typeface="Calibri Light" pitchFamily="34" charset="-120"/>
              </a:rPr>
              <a:t>A 3D plane built, opened in a browser, spun, and checked for real rendering.</a:t>
            </a:r>
            <a:endParaRPr lang="en-US" sz="1100" dirty="0"/>
          </a:p>
        </p:txBody>
      </p:sp>
      <p:sp>
        <p:nvSpPr>
          <p:cNvPr id="9" name="Text 7"/>
          <p:cNvSpPr/>
          <p:nvPr/>
        </p:nvSpPr>
        <p:spPr>
          <a:xfrm>
            <a:off x="3291840" y="1691640"/>
            <a:ext cx="5303520" cy="237744"/>
          </a:xfrm>
          <a:prstGeom prst="rect">
            <a:avLst/>
          </a:prstGeom>
          <a:noFill/>
          <a:ln/>
        </p:spPr>
        <p:txBody>
          <a:bodyPr wrap="square" lIns="0" tIns="0" rIns="0" bIns="0" rtlCol="0" anchor="ctr"/>
          <a:lstStyle/>
          <a:p>
            <a:pPr indent="0" marL="0">
              <a:buNone/>
            </a:pPr>
            <a:r>
              <a:rPr lang="en-US" sz="1050" b="1" spc="100" kern="0" dirty="0">
                <a:solidFill>
                  <a:srgbClr val="1E6B3E"/>
                </a:solidFill>
                <a:latin typeface="Calibri" pitchFamily="34" charset="0"/>
                <a:ea typeface="Calibri" pitchFamily="34" charset="-122"/>
                <a:cs typeface="Calibri" pitchFamily="34" charset="-120"/>
              </a:rPr>
              <a:t>GOAL</a:t>
            </a:r>
            <a:endParaRPr lang="en-US" sz="1050" dirty="0"/>
          </a:p>
        </p:txBody>
      </p:sp>
      <p:sp>
        <p:nvSpPr>
          <p:cNvPr id="10" name="Text 8"/>
          <p:cNvSpPr/>
          <p:nvPr/>
        </p:nvSpPr>
        <p:spPr>
          <a:xfrm>
            <a:off x="3291840" y="1947672"/>
            <a:ext cx="5303520" cy="201168"/>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Build a 3D plane, then open a browser, spin it, and check that it actually renders.</a:t>
            </a:r>
            <a:endParaRPr lang="en-US" sz="1200" dirty="0"/>
          </a:p>
        </p:txBody>
      </p:sp>
      <p:sp>
        <p:nvSpPr>
          <p:cNvPr id="11" name="Shape 9"/>
          <p:cNvSpPr/>
          <p:nvPr/>
        </p:nvSpPr>
        <p:spPr>
          <a:xfrm>
            <a:off x="3291840" y="2167128"/>
            <a:ext cx="5303520" cy="0"/>
          </a:xfrm>
          <a:prstGeom prst="line">
            <a:avLst/>
          </a:prstGeom>
          <a:noFill/>
          <a:ln w="9525">
            <a:solidFill>
              <a:srgbClr val="D9DCE6"/>
            </a:solidFill>
            <a:prstDash val="solid"/>
          </a:ln>
        </p:spPr>
      </p:sp>
      <p:sp>
        <p:nvSpPr>
          <p:cNvPr id="12" name="Text 10"/>
          <p:cNvSpPr/>
          <p:nvPr/>
        </p:nvSpPr>
        <p:spPr>
          <a:xfrm>
            <a:off x="3291840" y="2258568"/>
            <a:ext cx="5303520" cy="237744"/>
          </a:xfrm>
          <a:prstGeom prst="rect">
            <a:avLst/>
          </a:prstGeom>
          <a:noFill/>
          <a:ln/>
        </p:spPr>
        <p:txBody>
          <a:bodyPr wrap="square" lIns="0" tIns="0" rIns="0" bIns="0" rtlCol="0" anchor="ctr"/>
          <a:lstStyle/>
          <a:p>
            <a:pPr indent="0" marL="0">
              <a:buNone/>
            </a:pPr>
            <a:r>
              <a:rPr lang="en-US" sz="1050" b="1" spc="100" kern="0" dirty="0">
                <a:solidFill>
                  <a:srgbClr val="1E6B3E"/>
                </a:solidFill>
                <a:latin typeface="Calibri" pitchFamily="34" charset="0"/>
                <a:ea typeface="Calibri" pitchFamily="34" charset="-122"/>
                <a:cs typeface="Calibri" pitchFamily="34" charset="-120"/>
              </a:rPr>
              <a:t>STOP CONDITION</a:t>
            </a:r>
            <a:endParaRPr lang="en-US" sz="1050" dirty="0"/>
          </a:p>
        </p:txBody>
      </p:sp>
      <p:sp>
        <p:nvSpPr>
          <p:cNvPr id="13" name="Text 11"/>
          <p:cNvSpPr/>
          <p:nvPr/>
        </p:nvSpPr>
        <p:spPr>
          <a:xfrm>
            <a:off x="3291840" y="2514600"/>
            <a:ext cx="5303520" cy="201168"/>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Visual check in-browser: the plane renders and spins as expected.</a:t>
            </a:r>
            <a:endParaRPr lang="en-US" sz="1200" dirty="0"/>
          </a:p>
        </p:txBody>
      </p:sp>
      <p:sp>
        <p:nvSpPr>
          <p:cNvPr id="14" name="Shape 12"/>
          <p:cNvSpPr/>
          <p:nvPr/>
        </p:nvSpPr>
        <p:spPr>
          <a:xfrm>
            <a:off x="3291840" y="2734056"/>
            <a:ext cx="5303520" cy="0"/>
          </a:xfrm>
          <a:prstGeom prst="line">
            <a:avLst/>
          </a:prstGeom>
          <a:noFill/>
          <a:ln w="9525">
            <a:solidFill>
              <a:srgbClr val="D9DCE6"/>
            </a:solidFill>
            <a:prstDash val="solid"/>
          </a:ln>
        </p:spPr>
      </p:sp>
      <p:sp>
        <p:nvSpPr>
          <p:cNvPr id="15" name="Text 13"/>
          <p:cNvSpPr/>
          <p:nvPr/>
        </p:nvSpPr>
        <p:spPr>
          <a:xfrm>
            <a:off x="3291840" y="2825496"/>
            <a:ext cx="5303520" cy="237744"/>
          </a:xfrm>
          <a:prstGeom prst="rect">
            <a:avLst/>
          </a:prstGeom>
          <a:noFill/>
          <a:ln/>
        </p:spPr>
        <p:txBody>
          <a:bodyPr wrap="square" lIns="0" tIns="0" rIns="0" bIns="0" rtlCol="0" anchor="ctr"/>
          <a:lstStyle/>
          <a:p>
            <a:pPr indent="0" marL="0">
              <a:buNone/>
            </a:pPr>
            <a:r>
              <a:rPr lang="en-US" sz="1050" b="1" spc="100" kern="0" dirty="0">
                <a:solidFill>
                  <a:srgbClr val="1E6B3E"/>
                </a:solidFill>
                <a:latin typeface="Calibri" pitchFamily="34" charset="0"/>
                <a:ea typeface="Calibri" pitchFamily="34" charset="-122"/>
                <a:cs typeface="Calibri" pitchFamily="34" charset="-120"/>
              </a:rPr>
              <a:t>WHAT HAPPENED</a:t>
            </a:r>
            <a:endParaRPr lang="en-US" sz="1050" dirty="0"/>
          </a:p>
        </p:txBody>
      </p:sp>
      <p:sp>
        <p:nvSpPr>
          <p:cNvPr id="16" name="Text 14"/>
          <p:cNvSpPr/>
          <p:nvPr/>
        </p:nvSpPr>
        <p:spPr>
          <a:xfrm>
            <a:off x="3291840" y="3081528"/>
            <a:ext cx="5303520" cy="411480"/>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Visual plus functional verification — not just “does the code compile” — got it much closer on the first try.</a:t>
            </a:r>
            <a:endParaRPr lang="en-US" sz="1200" dirty="0"/>
          </a:p>
        </p:txBody>
      </p:sp>
      <p:sp>
        <p:nvSpPr>
          <p:cNvPr id="17" name="Shape 15"/>
          <p:cNvSpPr/>
          <p:nvPr/>
        </p:nvSpPr>
        <p:spPr>
          <a:xfrm>
            <a:off x="3291840" y="3511296"/>
            <a:ext cx="5303520" cy="0"/>
          </a:xfrm>
          <a:prstGeom prst="line">
            <a:avLst/>
          </a:prstGeom>
          <a:noFill/>
          <a:ln w="9525">
            <a:solidFill>
              <a:srgbClr val="D9DCE6"/>
            </a:solidFill>
            <a:prstDash val="solid"/>
          </a:ln>
        </p:spPr>
      </p:sp>
      <p:sp>
        <p:nvSpPr>
          <p:cNvPr id="18" name="Text 16"/>
          <p:cNvSpPr/>
          <p:nvPr/>
        </p:nvSpPr>
        <p:spPr>
          <a:xfrm>
            <a:off x="3291840" y="3602736"/>
            <a:ext cx="5303520" cy="237744"/>
          </a:xfrm>
          <a:prstGeom prst="rect">
            <a:avLst/>
          </a:prstGeom>
          <a:noFill/>
          <a:ln/>
        </p:spPr>
        <p:txBody>
          <a:bodyPr wrap="square" lIns="0" tIns="0" rIns="0" bIns="0" rtlCol="0" anchor="ctr"/>
          <a:lstStyle/>
          <a:p>
            <a:pPr indent="0" marL="0">
              <a:buNone/>
            </a:pPr>
            <a:r>
              <a:rPr lang="en-US" sz="1050" b="1" spc="100" kern="0" dirty="0">
                <a:solidFill>
                  <a:srgbClr val="1E6B3E"/>
                </a:solidFill>
                <a:latin typeface="Calibri" pitchFamily="34" charset="0"/>
                <a:ea typeface="Calibri" pitchFamily="34" charset="-122"/>
                <a:cs typeface="Calibri" pitchFamily="34" charset="-120"/>
              </a:rPr>
              <a:t>LESSON</a:t>
            </a:r>
            <a:endParaRPr lang="en-US" sz="1050" dirty="0"/>
          </a:p>
        </p:txBody>
      </p:sp>
      <p:sp>
        <p:nvSpPr>
          <p:cNvPr id="19" name="Text 17"/>
          <p:cNvSpPr/>
          <p:nvPr/>
        </p:nvSpPr>
        <p:spPr>
          <a:xfrm>
            <a:off x="3291840" y="3858768"/>
            <a:ext cx="5303520" cy="466344"/>
          </a:xfrm>
          <a:prstGeom prst="rect">
            <a:avLst/>
          </a:prstGeom>
          <a:noFill/>
          <a:ln/>
        </p:spPr>
        <p:txBody>
          <a:bodyPr wrap="square" lIns="0" tIns="0" rIns="0" bIns="0" rtlCol="0" anchor="ctr"/>
          <a:lstStyle/>
          <a:p>
            <a:pPr indent="0" marL="0">
              <a:lnSpc>
                <a:spcPct val="125000"/>
              </a:lnSpc>
              <a:buNone/>
            </a:pPr>
            <a:r>
              <a:rPr lang="en-US" sz="1200" dirty="0">
                <a:solidFill>
                  <a:srgbClr val="1A1D26"/>
                </a:solidFill>
                <a:latin typeface="Calibri" pitchFamily="34" charset="0"/>
                <a:ea typeface="Calibri" pitchFamily="34" charset="-122"/>
                <a:cs typeface="Calibri" pitchFamily="34" charset="-120"/>
              </a:rPr>
              <a:t>Not perfect, but far ahead of a single prompt: checking the actual rendered output catches what reading code alone misses.</a:t>
            </a:r>
            <a:endParaRPr lang="en-US" sz="1200" dirty="0"/>
          </a:p>
        </p:txBody>
      </p:sp>
      <p:sp>
        <p:nvSpPr>
          <p:cNvPr id="20" name="Text 18"/>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REAL RUN — DEMO 3 OF 3</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800" b="1" dirty="0">
                <a:solidFill>
                  <a:srgbClr val="1A1D26"/>
                </a:solidFill>
                <a:latin typeface="Calibri" pitchFamily="34" charset="0"/>
                <a:ea typeface="Calibri" pitchFamily="34" charset="-122"/>
                <a:cs typeface="Calibri" pitchFamily="34" charset="-120"/>
              </a:rPr>
              <a:t>Abbey Road recreation loop</a:t>
            </a:r>
            <a:endParaRPr lang="en-US" sz="2800" dirty="0"/>
          </a:p>
        </p:txBody>
      </p:sp>
      <p:sp>
        <p:nvSpPr>
          <p:cNvPr id="4" name="Shape 2"/>
          <p:cNvSpPr/>
          <p:nvPr/>
        </p:nvSpPr>
        <p:spPr>
          <a:xfrm>
            <a:off x="548640" y="1600200"/>
            <a:ext cx="2377440" cy="2743200"/>
          </a:xfrm>
          <a:prstGeom prst="rect">
            <a:avLst/>
          </a:prstGeom>
          <a:solidFill>
            <a:srgbClr val="F3E4E7"/>
          </a:solidFill>
          <a:ln/>
        </p:spPr>
      </p:sp>
      <p:sp>
        <p:nvSpPr>
          <p:cNvPr id="5" name="Shape 3"/>
          <p:cNvSpPr/>
          <p:nvPr/>
        </p:nvSpPr>
        <p:spPr>
          <a:xfrm>
            <a:off x="548640" y="1600200"/>
            <a:ext cx="2377440" cy="73152"/>
          </a:xfrm>
          <a:prstGeom prst="rect">
            <a:avLst/>
          </a:prstGeom>
          <a:solidFill>
            <a:srgbClr val="B23A48"/>
          </a:solidFill>
          <a:ln/>
        </p:spPr>
      </p:sp>
      <p:sp>
        <p:nvSpPr>
          <p:cNvPr id="6" name="Text 4"/>
          <p:cNvSpPr/>
          <p:nvPr/>
        </p:nvSpPr>
        <p:spPr>
          <a:xfrm>
            <a:off x="777240" y="2057400"/>
            <a:ext cx="1920240" cy="914400"/>
          </a:xfrm>
          <a:prstGeom prst="rect">
            <a:avLst/>
          </a:prstGeom>
          <a:noFill/>
          <a:ln/>
        </p:spPr>
        <p:txBody>
          <a:bodyPr wrap="square" lIns="0" tIns="0" rIns="0" bIns="0" rtlCol="0" anchor="ctr"/>
          <a:lstStyle/>
          <a:p>
            <a:pPr indent="0" marL="0">
              <a:buNone/>
            </a:pPr>
            <a:r>
              <a:rPr lang="en-US" sz="6400" b="1" dirty="0">
                <a:solidFill>
                  <a:srgbClr val="B23A48"/>
                </a:solidFill>
                <a:latin typeface="Calibri" pitchFamily="34" charset="0"/>
                <a:ea typeface="Calibri" pitchFamily="34" charset="-122"/>
                <a:cs typeface="Calibri" pitchFamily="34" charset="-120"/>
              </a:rPr>
              <a:t>7</a:t>
            </a:r>
            <a:endParaRPr lang="en-US" sz="6400" dirty="0"/>
          </a:p>
        </p:txBody>
      </p:sp>
      <p:sp>
        <p:nvSpPr>
          <p:cNvPr id="7" name="Text 5"/>
          <p:cNvSpPr/>
          <p:nvPr/>
        </p:nvSpPr>
        <p:spPr>
          <a:xfrm>
            <a:off x="777240" y="2971800"/>
            <a:ext cx="1920240" cy="365760"/>
          </a:xfrm>
          <a:prstGeom prst="rect">
            <a:avLst/>
          </a:prstGeom>
          <a:noFill/>
          <a:ln/>
        </p:spPr>
        <p:txBody>
          <a:bodyPr wrap="square" lIns="0" tIns="0" rIns="0" bIns="0" rtlCol="0" anchor="ctr"/>
          <a:lstStyle/>
          <a:p>
            <a:pPr indent="0" marL="0">
              <a:buNone/>
            </a:pPr>
            <a:r>
              <a:rPr lang="en-US" sz="1200" dirty="0">
                <a:solidFill>
                  <a:srgbClr val="5B6072"/>
                </a:solidFill>
                <a:latin typeface="Calibri" pitchFamily="34" charset="0"/>
                <a:ea typeface="Calibri" pitchFamily="34" charset="-122"/>
                <a:cs typeface="Calibri" pitchFamily="34" charset="-120"/>
              </a:rPr>
              <a:t>versions, hard cap at 8</a:t>
            </a:r>
            <a:endParaRPr lang="en-US" sz="1200" dirty="0"/>
          </a:p>
        </p:txBody>
      </p:sp>
      <p:sp>
        <p:nvSpPr>
          <p:cNvPr id="8" name="Text 6"/>
          <p:cNvSpPr/>
          <p:nvPr/>
        </p:nvSpPr>
        <p:spPr>
          <a:xfrm>
            <a:off x="777240" y="3474720"/>
            <a:ext cx="1920240" cy="777240"/>
          </a:xfrm>
          <a:prstGeom prst="rect">
            <a:avLst/>
          </a:prstGeom>
          <a:noFill/>
          <a:ln/>
        </p:spPr>
        <p:txBody>
          <a:bodyPr wrap="square" lIns="0" tIns="0" rIns="0" bIns="0" rtlCol="0" anchor="ctr"/>
          <a:lstStyle/>
          <a:p>
            <a:pPr indent="0" marL="0">
              <a:lnSpc>
                <a:spcPct val="130000"/>
              </a:lnSpc>
              <a:buNone/>
            </a:pPr>
            <a:r>
              <a:rPr lang="en-US" sz="1100" i="1" dirty="0">
                <a:solidFill>
                  <a:srgbClr val="5B6072"/>
                </a:solidFill>
                <a:latin typeface="Calibri Light" pitchFamily="34" charset="0"/>
                <a:ea typeface="Calibri Light" pitchFamily="34" charset="-122"/>
                <a:cs typeface="Calibri Light" pitchFamily="34" charset="-120"/>
              </a:rPr>
              <a:t>The famous photo rebuilt in pure HTML/CSS, screenshotted, and compared each pass.</a:t>
            </a:r>
            <a:endParaRPr lang="en-US" sz="1100" dirty="0"/>
          </a:p>
        </p:txBody>
      </p:sp>
      <p:sp>
        <p:nvSpPr>
          <p:cNvPr id="9" name="Text 7"/>
          <p:cNvSpPr/>
          <p:nvPr/>
        </p:nvSpPr>
        <p:spPr>
          <a:xfrm>
            <a:off x="3291840" y="1691640"/>
            <a:ext cx="5303520" cy="237744"/>
          </a:xfrm>
          <a:prstGeom prst="rect">
            <a:avLst/>
          </a:prstGeom>
          <a:noFill/>
          <a:ln/>
        </p:spPr>
        <p:txBody>
          <a:bodyPr wrap="square" lIns="0" tIns="0" rIns="0" bIns="0" rtlCol="0" anchor="ctr"/>
          <a:lstStyle/>
          <a:p>
            <a:pPr indent="0" marL="0">
              <a:buNone/>
            </a:pPr>
            <a:r>
              <a:rPr lang="en-US" sz="1050" b="1" spc="100" kern="0" dirty="0">
                <a:solidFill>
                  <a:srgbClr val="B23A48"/>
                </a:solidFill>
                <a:latin typeface="Calibri" pitchFamily="34" charset="0"/>
                <a:ea typeface="Calibri" pitchFamily="34" charset="-122"/>
                <a:cs typeface="Calibri" pitchFamily="34" charset="-120"/>
              </a:rPr>
              <a:t>GOAL</a:t>
            </a:r>
            <a:endParaRPr lang="en-US" sz="1050" dirty="0"/>
          </a:p>
        </p:txBody>
      </p:sp>
      <p:sp>
        <p:nvSpPr>
          <p:cNvPr id="10" name="Text 8"/>
          <p:cNvSpPr/>
          <p:nvPr/>
        </p:nvSpPr>
        <p:spPr>
          <a:xfrm>
            <a:off x="3291840" y="1947672"/>
            <a:ext cx="5303520" cy="411480"/>
          </a:xfrm>
          <a:prstGeom prst="rect">
            <a:avLst/>
          </a:prstGeom>
          <a:noFill/>
          <a:ln/>
        </p:spPr>
        <p:txBody>
          <a:bodyPr wrap="square" lIns="0" tIns="0" rIns="0" bIns="0" rtlCol="0" anchor="ctr"/>
          <a:lstStyle/>
          <a:p>
            <a:pPr indent="0" marL="0">
              <a:lnSpc>
                <a:spcPct val="120000"/>
              </a:lnSpc>
              <a:buNone/>
            </a:pPr>
            <a:r>
              <a:rPr lang="en-US" sz="1150" dirty="0">
                <a:solidFill>
                  <a:srgbClr val="1A1D26"/>
                </a:solidFill>
                <a:latin typeface="Calibri" pitchFamily="34" charset="0"/>
                <a:ea typeface="Calibri" pitchFamily="34" charset="-122"/>
                <a:cs typeface="Calibri" pitchFamily="34" charset="-120"/>
              </a:rPr>
              <a:t>Rebuild the famous Abbey Road photo in pure HTML/CSS, screenshot each version, and compare.</a:t>
            </a:r>
            <a:endParaRPr lang="en-US" sz="1150" dirty="0"/>
          </a:p>
        </p:txBody>
      </p:sp>
      <p:sp>
        <p:nvSpPr>
          <p:cNvPr id="11" name="Shape 9"/>
          <p:cNvSpPr/>
          <p:nvPr/>
        </p:nvSpPr>
        <p:spPr>
          <a:xfrm>
            <a:off x="3291840" y="2377440"/>
            <a:ext cx="5303520" cy="0"/>
          </a:xfrm>
          <a:prstGeom prst="line">
            <a:avLst/>
          </a:prstGeom>
          <a:noFill/>
          <a:ln w="9525">
            <a:solidFill>
              <a:srgbClr val="D9DCE6"/>
            </a:solidFill>
            <a:prstDash val="solid"/>
          </a:ln>
        </p:spPr>
      </p:sp>
      <p:sp>
        <p:nvSpPr>
          <p:cNvPr id="12" name="Text 10"/>
          <p:cNvSpPr/>
          <p:nvPr/>
        </p:nvSpPr>
        <p:spPr>
          <a:xfrm>
            <a:off x="3291840" y="2468880"/>
            <a:ext cx="5303520" cy="237744"/>
          </a:xfrm>
          <a:prstGeom prst="rect">
            <a:avLst/>
          </a:prstGeom>
          <a:noFill/>
          <a:ln/>
        </p:spPr>
        <p:txBody>
          <a:bodyPr wrap="square" lIns="0" tIns="0" rIns="0" bIns="0" rtlCol="0" anchor="ctr"/>
          <a:lstStyle/>
          <a:p>
            <a:pPr indent="0" marL="0">
              <a:buNone/>
            </a:pPr>
            <a:r>
              <a:rPr lang="en-US" sz="1050" b="1" spc="100" kern="0" dirty="0">
                <a:solidFill>
                  <a:srgbClr val="B23A48"/>
                </a:solidFill>
                <a:latin typeface="Calibri" pitchFamily="34" charset="0"/>
                <a:ea typeface="Calibri" pitchFamily="34" charset="-122"/>
                <a:cs typeface="Calibri" pitchFamily="34" charset="-120"/>
              </a:rPr>
              <a:t>STOP CONDITION</a:t>
            </a:r>
            <a:endParaRPr lang="en-US" sz="1050" dirty="0"/>
          </a:p>
        </p:txBody>
      </p:sp>
      <p:sp>
        <p:nvSpPr>
          <p:cNvPr id="13" name="Text 11"/>
          <p:cNvSpPr/>
          <p:nvPr/>
        </p:nvSpPr>
        <p:spPr>
          <a:xfrm>
            <a:off x="3291840" y="2724912"/>
            <a:ext cx="5303520" cy="292608"/>
          </a:xfrm>
          <a:prstGeom prst="rect">
            <a:avLst/>
          </a:prstGeom>
          <a:noFill/>
          <a:ln/>
        </p:spPr>
        <p:txBody>
          <a:bodyPr wrap="square" lIns="0" tIns="0" rIns="0" bIns="0" rtlCol="0" anchor="ctr"/>
          <a:lstStyle/>
          <a:p>
            <a:pPr indent="0" marL="0">
              <a:lnSpc>
                <a:spcPct val="120000"/>
              </a:lnSpc>
              <a:buNone/>
            </a:pPr>
            <a:r>
              <a:rPr lang="en-US" sz="1150" dirty="0">
                <a:solidFill>
                  <a:srgbClr val="1A1D26"/>
                </a:solidFill>
                <a:latin typeface="Calibri" pitchFamily="34" charset="0"/>
                <a:ea typeface="Calibri" pitchFamily="34" charset="-122"/>
                <a:cs typeface="Calibri" pitchFamily="34" charset="-120"/>
              </a:rPr>
              <a:t>Explicit rule: average similarity score ≥ 9, with a hard cap at 8 passes either way.</a:t>
            </a:r>
            <a:endParaRPr lang="en-US" sz="1150" dirty="0"/>
          </a:p>
        </p:txBody>
      </p:sp>
      <p:sp>
        <p:nvSpPr>
          <p:cNvPr id="14" name="Shape 12"/>
          <p:cNvSpPr/>
          <p:nvPr/>
        </p:nvSpPr>
        <p:spPr>
          <a:xfrm>
            <a:off x="3291840" y="3035808"/>
            <a:ext cx="5303520" cy="0"/>
          </a:xfrm>
          <a:prstGeom prst="line">
            <a:avLst/>
          </a:prstGeom>
          <a:noFill/>
          <a:ln w="9525">
            <a:solidFill>
              <a:srgbClr val="D9DCE6"/>
            </a:solidFill>
            <a:prstDash val="solid"/>
          </a:ln>
        </p:spPr>
      </p:sp>
      <p:sp>
        <p:nvSpPr>
          <p:cNvPr id="15" name="Text 13"/>
          <p:cNvSpPr/>
          <p:nvPr/>
        </p:nvSpPr>
        <p:spPr>
          <a:xfrm>
            <a:off x="3291840" y="3127248"/>
            <a:ext cx="5303520" cy="237744"/>
          </a:xfrm>
          <a:prstGeom prst="rect">
            <a:avLst/>
          </a:prstGeom>
          <a:noFill/>
          <a:ln/>
        </p:spPr>
        <p:txBody>
          <a:bodyPr wrap="square" lIns="0" tIns="0" rIns="0" bIns="0" rtlCol="0" anchor="ctr"/>
          <a:lstStyle/>
          <a:p>
            <a:pPr indent="0" marL="0">
              <a:buNone/>
            </a:pPr>
            <a:r>
              <a:rPr lang="en-US" sz="1050" b="1" spc="100" kern="0" dirty="0">
                <a:solidFill>
                  <a:srgbClr val="B23A48"/>
                </a:solidFill>
                <a:latin typeface="Calibri" pitchFamily="34" charset="0"/>
                <a:ea typeface="Calibri" pitchFamily="34" charset="-122"/>
                <a:cs typeface="Calibri" pitchFamily="34" charset="-120"/>
              </a:rPr>
              <a:t>WHAT HAPPENED</a:t>
            </a:r>
            <a:endParaRPr lang="en-US" sz="1050" dirty="0"/>
          </a:p>
        </p:txBody>
      </p:sp>
      <p:sp>
        <p:nvSpPr>
          <p:cNvPr id="16" name="Text 14"/>
          <p:cNvSpPr/>
          <p:nvPr/>
        </p:nvSpPr>
        <p:spPr>
          <a:xfrm>
            <a:off x="3291840" y="3383280"/>
            <a:ext cx="5303520" cy="411480"/>
          </a:xfrm>
          <a:prstGeom prst="rect">
            <a:avLst/>
          </a:prstGeom>
          <a:noFill/>
          <a:ln/>
        </p:spPr>
        <p:txBody>
          <a:bodyPr wrap="square" lIns="0" tIns="0" rIns="0" bIns="0" rtlCol="0" anchor="ctr"/>
          <a:lstStyle/>
          <a:p>
            <a:pPr indent="0" marL="0">
              <a:lnSpc>
                <a:spcPct val="120000"/>
              </a:lnSpc>
              <a:buNone/>
            </a:pPr>
            <a:r>
              <a:rPr lang="en-US" sz="1150" dirty="0">
                <a:solidFill>
                  <a:srgbClr val="1A1D26"/>
                </a:solidFill>
                <a:latin typeface="Calibri" pitchFamily="34" charset="0"/>
                <a:ea typeface="Calibri" pitchFamily="34" charset="-122"/>
                <a:cs typeface="Calibri" pitchFamily="34" charset="-120"/>
              </a:rPr>
              <a:t>The loop ran its full 7 passes and stopped on the cap — the result still didn’t match the source photo.</a:t>
            </a:r>
            <a:endParaRPr lang="en-US" sz="1150" dirty="0"/>
          </a:p>
        </p:txBody>
      </p:sp>
      <p:sp>
        <p:nvSpPr>
          <p:cNvPr id="17" name="Shape 15"/>
          <p:cNvSpPr/>
          <p:nvPr/>
        </p:nvSpPr>
        <p:spPr>
          <a:xfrm>
            <a:off x="3291840" y="3813048"/>
            <a:ext cx="5303520" cy="0"/>
          </a:xfrm>
          <a:prstGeom prst="line">
            <a:avLst/>
          </a:prstGeom>
          <a:noFill/>
          <a:ln w="9525">
            <a:solidFill>
              <a:srgbClr val="D9DCE6"/>
            </a:solidFill>
            <a:prstDash val="solid"/>
          </a:ln>
        </p:spPr>
      </p:sp>
      <p:sp>
        <p:nvSpPr>
          <p:cNvPr id="18" name="Text 16"/>
          <p:cNvSpPr/>
          <p:nvPr/>
        </p:nvSpPr>
        <p:spPr>
          <a:xfrm>
            <a:off x="3291840" y="3904488"/>
            <a:ext cx="5303520" cy="237744"/>
          </a:xfrm>
          <a:prstGeom prst="rect">
            <a:avLst/>
          </a:prstGeom>
          <a:noFill/>
          <a:ln/>
        </p:spPr>
        <p:txBody>
          <a:bodyPr wrap="square" lIns="0" tIns="0" rIns="0" bIns="0" rtlCol="0" anchor="ctr"/>
          <a:lstStyle/>
          <a:p>
            <a:pPr indent="0" marL="0">
              <a:buNone/>
            </a:pPr>
            <a:r>
              <a:rPr lang="en-US" sz="1050" b="1" spc="100" kern="0" dirty="0">
                <a:solidFill>
                  <a:srgbClr val="B23A48"/>
                </a:solidFill>
                <a:latin typeface="Calibri" pitchFamily="34" charset="0"/>
                <a:ea typeface="Calibri" pitchFamily="34" charset="-122"/>
                <a:cs typeface="Calibri" pitchFamily="34" charset="-120"/>
              </a:rPr>
              <a:t>LESSON</a:t>
            </a:r>
            <a:endParaRPr lang="en-US" sz="1050" dirty="0"/>
          </a:p>
        </p:txBody>
      </p:sp>
      <p:sp>
        <p:nvSpPr>
          <p:cNvPr id="19" name="Text 17"/>
          <p:cNvSpPr/>
          <p:nvPr/>
        </p:nvSpPr>
        <p:spPr>
          <a:xfrm>
            <a:off x="3291840" y="4160520"/>
            <a:ext cx="5303520" cy="402336"/>
          </a:xfrm>
          <a:prstGeom prst="rect">
            <a:avLst/>
          </a:prstGeom>
          <a:noFill/>
          <a:ln/>
        </p:spPr>
        <p:txBody>
          <a:bodyPr wrap="square" lIns="0" tIns="0" rIns="0" bIns="0" rtlCol="0" anchor="ctr"/>
          <a:lstStyle/>
          <a:p>
            <a:pPr indent="0" marL="0">
              <a:lnSpc>
                <a:spcPct val="120000"/>
              </a:lnSpc>
              <a:buNone/>
            </a:pPr>
            <a:r>
              <a:rPr lang="en-US" sz="1150" dirty="0">
                <a:solidFill>
                  <a:srgbClr val="1A1D26"/>
                </a:solidFill>
                <a:latin typeface="Calibri" pitchFamily="34" charset="0"/>
                <a:ea typeface="Calibri" pitchFamily="34" charset="-122"/>
                <a:cs typeface="Calibri" pitchFamily="34" charset="-120"/>
              </a:rPr>
              <a:t>Proof a loop is only as good as its check: a hard cap prevents runaway cost, but doesn’t fix a verification step that can’t truly judge the result.</a:t>
            </a:r>
            <a:endParaRPr lang="en-US" sz="1150" dirty="0"/>
          </a:p>
        </p:txBody>
      </p:sp>
      <p:sp>
        <p:nvSpPr>
          <p:cNvPr id="20" name="Text 18"/>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WHAT MAKES A LOOP WORK</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600" b="1" dirty="0">
                <a:solidFill>
                  <a:srgbClr val="1A1D26"/>
                </a:solidFill>
                <a:latin typeface="Calibri" pitchFamily="34" charset="0"/>
                <a:ea typeface="Calibri" pitchFamily="34" charset="-122"/>
                <a:cs typeface="Calibri" pitchFamily="34" charset="-120"/>
              </a:rPr>
              <a:t>Eight things every reliable loop needs</a:t>
            </a:r>
            <a:endParaRPr lang="en-US" sz="2600" dirty="0"/>
          </a:p>
        </p:txBody>
      </p:sp>
      <p:sp>
        <p:nvSpPr>
          <p:cNvPr id="4" name="Shape 2"/>
          <p:cNvSpPr/>
          <p:nvPr/>
        </p:nvSpPr>
        <p:spPr>
          <a:xfrm>
            <a:off x="548640" y="1417320"/>
            <a:ext cx="3840480" cy="548640"/>
          </a:xfrm>
          <a:prstGeom prst="rect">
            <a:avLst/>
          </a:prstGeom>
          <a:solidFill>
            <a:srgbClr val="F7F8FB"/>
          </a:solidFill>
          <a:ln/>
        </p:spPr>
      </p:sp>
      <p:sp>
        <p:nvSpPr>
          <p:cNvPr id="5" name="Shape 3"/>
          <p:cNvSpPr/>
          <p:nvPr/>
        </p:nvSpPr>
        <p:spPr>
          <a:xfrm>
            <a:off x="731520" y="1581912"/>
            <a:ext cx="219456" cy="219456"/>
          </a:xfrm>
          <a:prstGeom prst="ellipse">
            <a:avLst/>
          </a:prstGeom>
          <a:solidFill>
            <a:srgbClr val="2F5FDE"/>
          </a:solidFill>
          <a:ln/>
        </p:spPr>
      </p:sp>
      <p:sp>
        <p:nvSpPr>
          <p:cNvPr id="6" name="Text 4"/>
          <p:cNvSpPr/>
          <p:nvPr/>
        </p:nvSpPr>
        <p:spPr>
          <a:xfrm>
            <a:off x="731520" y="1581912"/>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1078992" y="1417320"/>
            <a:ext cx="3154680" cy="5486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Checkable goal</a:t>
            </a:r>
            <a:endParaRPr lang="en-US" sz="1350" dirty="0"/>
          </a:p>
        </p:txBody>
      </p:sp>
      <p:sp>
        <p:nvSpPr>
          <p:cNvPr id="8" name="Shape 6"/>
          <p:cNvSpPr/>
          <p:nvPr/>
        </p:nvSpPr>
        <p:spPr>
          <a:xfrm>
            <a:off x="4754880" y="1417320"/>
            <a:ext cx="3840480" cy="548640"/>
          </a:xfrm>
          <a:prstGeom prst="rect">
            <a:avLst/>
          </a:prstGeom>
          <a:solidFill>
            <a:srgbClr val="F7F8FB"/>
          </a:solidFill>
          <a:ln/>
        </p:spPr>
      </p:sp>
      <p:sp>
        <p:nvSpPr>
          <p:cNvPr id="9" name="Shape 7"/>
          <p:cNvSpPr/>
          <p:nvPr/>
        </p:nvSpPr>
        <p:spPr>
          <a:xfrm>
            <a:off x="4937760" y="1581912"/>
            <a:ext cx="219456" cy="219456"/>
          </a:xfrm>
          <a:prstGeom prst="ellipse">
            <a:avLst/>
          </a:prstGeom>
          <a:solidFill>
            <a:srgbClr val="2F5FDE"/>
          </a:solidFill>
          <a:ln/>
        </p:spPr>
      </p:sp>
      <p:sp>
        <p:nvSpPr>
          <p:cNvPr id="10" name="Text 8"/>
          <p:cNvSpPr/>
          <p:nvPr/>
        </p:nvSpPr>
        <p:spPr>
          <a:xfrm>
            <a:off x="4937760" y="1581912"/>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5285232" y="1417320"/>
            <a:ext cx="3154680" cy="5486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Hard stop / stop condition</a:t>
            </a:r>
            <a:endParaRPr lang="en-US" sz="1350" dirty="0"/>
          </a:p>
        </p:txBody>
      </p:sp>
      <p:sp>
        <p:nvSpPr>
          <p:cNvPr id="12" name="Shape 10"/>
          <p:cNvSpPr/>
          <p:nvPr/>
        </p:nvSpPr>
        <p:spPr>
          <a:xfrm>
            <a:off x="548640" y="2093976"/>
            <a:ext cx="3840480" cy="548640"/>
          </a:xfrm>
          <a:prstGeom prst="rect">
            <a:avLst/>
          </a:prstGeom>
          <a:solidFill>
            <a:srgbClr val="F7F8FB"/>
          </a:solidFill>
          <a:ln/>
        </p:spPr>
      </p:sp>
      <p:sp>
        <p:nvSpPr>
          <p:cNvPr id="13" name="Shape 11"/>
          <p:cNvSpPr/>
          <p:nvPr/>
        </p:nvSpPr>
        <p:spPr>
          <a:xfrm>
            <a:off x="731520" y="2258568"/>
            <a:ext cx="219456" cy="219456"/>
          </a:xfrm>
          <a:prstGeom prst="ellipse">
            <a:avLst/>
          </a:prstGeom>
          <a:solidFill>
            <a:srgbClr val="2F5FDE"/>
          </a:solidFill>
          <a:ln/>
        </p:spPr>
      </p:sp>
      <p:sp>
        <p:nvSpPr>
          <p:cNvPr id="14" name="Text 12"/>
          <p:cNvSpPr/>
          <p:nvPr/>
        </p:nvSpPr>
        <p:spPr>
          <a:xfrm>
            <a:off x="731520" y="2258568"/>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1078992" y="2093976"/>
            <a:ext cx="3154680" cy="5486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Good verification tools</a:t>
            </a:r>
            <a:endParaRPr lang="en-US" sz="1350" dirty="0"/>
          </a:p>
        </p:txBody>
      </p:sp>
      <p:sp>
        <p:nvSpPr>
          <p:cNvPr id="16" name="Shape 14"/>
          <p:cNvSpPr/>
          <p:nvPr/>
        </p:nvSpPr>
        <p:spPr>
          <a:xfrm>
            <a:off x="4754880" y="2093976"/>
            <a:ext cx="3840480" cy="548640"/>
          </a:xfrm>
          <a:prstGeom prst="rect">
            <a:avLst/>
          </a:prstGeom>
          <a:solidFill>
            <a:srgbClr val="F7F8FB"/>
          </a:solidFill>
          <a:ln/>
        </p:spPr>
      </p:sp>
      <p:sp>
        <p:nvSpPr>
          <p:cNvPr id="17" name="Shape 15"/>
          <p:cNvSpPr/>
          <p:nvPr/>
        </p:nvSpPr>
        <p:spPr>
          <a:xfrm>
            <a:off x="4937760" y="2258568"/>
            <a:ext cx="219456" cy="219456"/>
          </a:xfrm>
          <a:prstGeom prst="ellipse">
            <a:avLst/>
          </a:prstGeom>
          <a:solidFill>
            <a:srgbClr val="2F5FDE"/>
          </a:solidFill>
          <a:ln/>
        </p:spPr>
      </p:sp>
      <p:sp>
        <p:nvSpPr>
          <p:cNvPr id="18" name="Text 16"/>
          <p:cNvSpPr/>
          <p:nvPr/>
        </p:nvSpPr>
        <p:spPr>
          <a:xfrm>
            <a:off x="4937760" y="2258568"/>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5285232" y="2093976"/>
            <a:ext cx="3154680" cy="5486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Memory across iterations</a:t>
            </a:r>
            <a:endParaRPr lang="en-US" sz="1350" dirty="0"/>
          </a:p>
        </p:txBody>
      </p:sp>
      <p:sp>
        <p:nvSpPr>
          <p:cNvPr id="20" name="Shape 18"/>
          <p:cNvSpPr/>
          <p:nvPr/>
        </p:nvSpPr>
        <p:spPr>
          <a:xfrm>
            <a:off x="548640" y="2770632"/>
            <a:ext cx="3840480" cy="548640"/>
          </a:xfrm>
          <a:prstGeom prst="rect">
            <a:avLst/>
          </a:prstGeom>
          <a:solidFill>
            <a:srgbClr val="F7F8FB"/>
          </a:solidFill>
          <a:ln/>
        </p:spPr>
      </p:sp>
      <p:sp>
        <p:nvSpPr>
          <p:cNvPr id="21" name="Shape 19"/>
          <p:cNvSpPr/>
          <p:nvPr/>
        </p:nvSpPr>
        <p:spPr>
          <a:xfrm>
            <a:off x="731520" y="2935224"/>
            <a:ext cx="219456" cy="219456"/>
          </a:xfrm>
          <a:prstGeom prst="ellipse">
            <a:avLst/>
          </a:prstGeom>
          <a:solidFill>
            <a:srgbClr val="2F5FDE"/>
          </a:solidFill>
          <a:ln/>
        </p:spPr>
      </p:sp>
      <p:sp>
        <p:nvSpPr>
          <p:cNvPr id="22" name="Text 20"/>
          <p:cNvSpPr/>
          <p:nvPr/>
        </p:nvSpPr>
        <p:spPr>
          <a:xfrm>
            <a:off x="731520" y="2935224"/>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1078992" y="2770632"/>
            <a:ext cx="3154680" cy="5486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A separate checker</a:t>
            </a:r>
            <a:endParaRPr lang="en-US" sz="1350" dirty="0"/>
          </a:p>
        </p:txBody>
      </p:sp>
      <p:sp>
        <p:nvSpPr>
          <p:cNvPr id="24" name="Shape 22"/>
          <p:cNvSpPr/>
          <p:nvPr/>
        </p:nvSpPr>
        <p:spPr>
          <a:xfrm>
            <a:off x="4754880" y="2770632"/>
            <a:ext cx="3840480" cy="548640"/>
          </a:xfrm>
          <a:prstGeom prst="rect">
            <a:avLst/>
          </a:prstGeom>
          <a:solidFill>
            <a:srgbClr val="F7F8FB"/>
          </a:solidFill>
          <a:ln/>
        </p:spPr>
      </p:sp>
      <p:sp>
        <p:nvSpPr>
          <p:cNvPr id="25" name="Shape 23"/>
          <p:cNvSpPr/>
          <p:nvPr/>
        </p:nvSpPr>
        <p:spPr>
          <a:xfrm>
            <a:off x="4937760" y="2935224"/>
            <a:ext cx="219456" cy="219456"/>
          </a:xfrm>
          <a:prstGeom prst="ellipse">
            <a:avLst/>
          </a:prstGeom>
          <a:solidFill>
            <a:srgbClr val="2F5FDE"/>
          </a:solidFill>
          <a:ln/>
        </p:spPr>
      </p:sp>
      <p:sp>
        <p:nvSpPr>
          <p:cNvPr id="26" name="Text 24"/>
          <p:cNvSpPr/>
          <p:nvPr/>
        </p:nvSpPr>
        <p:spPr>
          <a:xfrm>
            <a:off x="4937760" y="2935224"/>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p:nvPr/>
        </p:nvSpPr>
        <p:spPr>
          <a:xfrm>
            <a:off x="5285232" y="2770632"/>
            <a:ext cx="3154680" cy="5486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Planning before acting</a:t>
            </a:r>
            <a:endParaRPr lang="en-US" sz="1350" dirty="0"/>
          </a:p>
        </p:txBody>
      </p:sp>
      <p:sp>
        <p:nvSpPr>
          <p:cNvPr id="28" name="Shape 26"/>
          <p:cNvSpPr/>
          <p:nvPr/>
        </p:nvSpPr>
        <p:spPr>
          <a:xfrm>
            <a:off x="548640" y="3447288"/>
            <a:ext cx="3840480" cy="548640"/>
          </a:xfrm>
          <a:prstGeom prst="rect">
            <a:avLst/>
          </a:prstGeom>
          <a:solidFill>
            <a:srgbClr val="F7F8FB"/>
          </a:solidFill>
          <a:ln/>
        </p:spPr>
      </p:sp>
      <p:sp>
        <p:nvSpPr>
          <p:cNvPr id="29" name="Shape 27"/>
          <p:cNvSpPr/>
          <p:nvPr/>
        </p:nvSpPr>
        <p:spPr>
          <a:xfrm>
            <a:off x="731520" y="3611880"/>
            <a:ext cx="219456" cy="219456"/>
          </a:xfrm>
          <a:prstGeom prst="ellipse">
            <a:avLst/>
          </a:prstGeom>
          <a:solidFill>
            <a:srgbClr val="2F5FDE"/>
          </a:solidFill>
          <a:ln/>
        </p:spPr>
      </p:sp>
      <p:sp>
        <p:nvSpPr>
          <p:cNvPr id="30" name="Text 28"/>
          <p:cNvSpPr/>
          <p:nvPr/>
        </p:nvSpPr>
        <p:spPr>
          <a:xfrm>
            <a:off x="731520" y="361188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1" name="Text 29"/>
          <p:cNvSpPr/>
          <p:nvPr/>
        </p:nvSpPr>
        <p:spPr>
          <a:xfrm>
            <a:off x="1078992" y="3447288"/>
            <a:ext cx="3154680" cy="5486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Logging every pass</a:t>
            </a:r>
            <a:endParaRPr lang="en-US" sz="1350" dirty="0"/>
          </a:p>
        </p:txBody>
      </p:sp>
      <p:sp>
        <p:nvSpPr>
          <p:cNvPr id="32" name="Shape 30"/>
          <p:cNvSpPr/>
          <p:nvPr/>
        </p:nvSpPr>
        <p:spPr>
          <a:xfrm>
            <a:off x="4754880" y="3447288"/>
            <a:ext cx="3840480" cy="548640"/>
          </a:xfrm>
          <a:prstGeom prst="rect">
            <a:avLst/>
          </a:prstGeom>
          <a:solidFill>
            <a:srgbClr val="F7F8FB"/>
          </a:solidFill>
          <a:ln/>
        </p:spPr>
      </p:sp>
      <p:sp>
        <p:nvSpPr>
          <p:cNvPr id="33" name="Shape 31"/>
          <p:cNvSpPr/>
          <p:nvPr/>
        </p:nvSpPr>
        <p:spPr>
          <a:xfrm>
            <a:off x="4937760" y="3611880"/>
            <a:ext cx="219456" cy="219456"/>
          </a:xfrm>
          <a:prstGeom prst="ellipse">
            <a:avLst/>
          </a:prstGeom>
          <a:solidFill>
            <a:srgbClr val="2F5FDE"/>
          </a:solidFill>
          <a:ln/>
        </p:spPr>
      </p:sp>
      <p:sp>
        <p:nvSpPr>
          <p:cNvPr id="34" name="Text 32"/>
          <p:cNvSpPr/>
          <p:nvPr/>
        </p:nvSpPr>
        <p:spPr>
          <a:xfrm>
            <a:off x="4937760" y="361188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5" name="Text 33"/>
          <p:cNvSpPr/>
          <p:nvPr/>
        </p:nvSpPr>
        <p:spPr>
          <a:xfrm>
            <a:off x="5285232" y="3447288"/>
            <a:ext cx="3154680" cy="5486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Cost and time awareness</a:t>
            </a:r>
            <a:endParaRPr lang="en-US" sz="1350" dirty="0"/>
          </a:p>
        </p:txBody>
      </p:sp>
      <p:sp>
        <p:nvSpPr>
          <p:cNvPr id="36" name="Text 34"/>
          <p:cNvSpPr/>
          <p:nvPr/>
        </p:nvSpPr>
        <p:spPr>
          <a:xfrm>
            <a:off x="548640" y="4315968"/>
            <a:ext cx="8046720" cy="457200"/>
          </a:xfrm>
          <a:prstGeom prst="rect">
            <a:avLst/>
          </a:prstGeom>
          <a:noFill/>
          <a:ln/>
        </p:spPr>
        <p:txBody>
          <a:bodyPr wrap="square" lIns="0" tIns="0" rIns="0" bIns="0" rtlCol="0" anchor="ctr"/>
          <a:lstStyle/>
          <a:p>
            <a:pPr indent="0" marL="0">
              <a:lnSpc>
                <a:spcPct val="120000"/>
              </a:lnSpc>
              <a:buNone/>
            </a:pPr>
            <a:r>
              <a:rPr lang="en-US" sz="1150" i="1" dirty="0">
                <a:solidFill>
                  <a:srgbClr val="5B6072"/>
                </a:solidFill>
                <a:latin typeface="Calibri Light" pitchFamily="34" charset="0"/>
                <a:ea typeface="Calibri Light" pitchFamily="34" charset="-122"/>
                <a:cs typeface="Calibri Light" pitchFamily="34" charset="-120"/>
              </a:rPr>
              <a:t>Skip too many of these, and a loop can run for hours without converging — some runs go 12+ hours with nothing usable to show for it. Most useful loops finish in 35 minutes to a few hours.</a:t>
            </a:r>
            <a:endParaRPr lang="en-US" sz="1150" dirty="0"/>
          </a:p>
        </p:txBody>
      </p:sp>
      <p:sp>
        <p:nvSpPr>
          <p:cNvPr id="37" name="Text 35"/>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indent="0" marL="0">
              <a:buNone/>
            </a:pPr>
            <a:r>
              <a:rPr lang="en-US" sz="1200" b="1" spc="250" kern="0" dirty="0">
                <a:solidFill>
                  <a:srgbClr val="2F5FDE"/>
                </a:solidFill>
                <a:latin typeface="Calibri" pitchFamily="34" charset="0"/>
                <a:ea typeface="Calibri" pitchFamily="34" charset="-122"/>
                <a:cs typeface="Calibri" pitchFamily="34" charset="-120"/>
              </a:rPr>
              <a:t>CHEAT SHEET</a:t>
            </a:r>
            <a:endParaRPr lang="en-US" sz="1200" dirty="0"/>
          </a:p>
        </p:txBody>
      </p:sp>
      <p:sp>
        <p:nvSpPr>
          <p:cNvPr id="3" name="Text 1"/>
          <p:cNvSpPr/>
          <p:nvPr/>
        </p:nvSpPr>
        <p:spPr>
          <a:xfrm>
            <a:off x="548640" y="731520"/>
            <a:ext cx="8046720" cy="548640"/>
          </a:xfrm>
          <a:prstGeom prst="rect">
            <a:avLst/>
          </a:prstGeom>
          <a:noFill/>
          <a:ln/>
        </p:spPr>
        <p:txBody>
          <a:bodyPr wrap="square" lIns="0" tIns="0" rIns="0" bIns="0" rtlCol="0" anchor="ctr"/>
          <a:lstStyle/>
          <a:p>
            <a:pPr indent="0" marL="0">
              <a:buNone/>
            </a:pPr>
            <a:r>
              <a:rPr lang="en-US" sz="2600" b="1" dirty="0">
                <a:solidFill>
                  <a:srgbClr val="1A1D26"/>
                </a:solidFill>
                <a:latin typeface="Calibri" pitchFamily="34" charset="0"/>
                <a:ea typeface="Calibri" pitchFamily="34" charset="-122"/>
                <a:cs typeface="Calibri" pitchFamily="34" charset="-120"/>
              </a:rPr>
              <a:t>Quick tips to make loops run leaner</a:t>
            </a:r>
            <a:endParaRPr lang="en-US" sz="2600" dirty="0"/>
          </a:p>
        </p:txBody>
      </p:sp>
      <p:sp>
        <p:nvSpPr>
          <p:cNvPr id="4" name="Text 2"/>
          <p:cNvSpPr/>
          <p:nvPr/>
        </p:nvSpPr>
        <p:spPr>
          <a:xfrm>
            <a:off x="548640" y="1298448"/>
            <a:ext cx="8046720" cy="365760"/>
          </a:xfrm>
          <a:prstGeom prst="rect">
            <a:avLst/>
          </a:prstGeom>
          <a:noFill/>
          <a:ln/>
        </p:spPr>
        <p:txBody>
          <a:bodyPr wrap="square" lIns="0" tIns="0" rIns="0" bIns="0" rtlCol="0" anchor="ctr"/>
          <a:lstStyle/>
          <a:p>
            <a:pPr indent="0" marL="0">
              <a:buNone/>
            </a:pPr>
            <a:r>
              <a:rPr lang="en-US" sz="1300" dirty="0">
                <a:solidFill>
                  <a:srgbClr val="5B6072"/>
                </a:solidFill>
                <a:latin typeface="Calibri" pitchFamily="34" charset="0"/>
                <a:ea typeface="Calibri" pitchFamily="34" charset="-122"/>
                <a:cs typeface="Calibri" pitchFamily="34" charset="-120"/>
              </a:rPr>
              <a:t>Three places most loops leak time and money — and the fastest fixes for each.</a:t>
            </a:r>
            <a:endParaRPr lang="en-US" sz="1300" dirty="0"/>
          </a:p>
        </p:txBody>
      </p:sp>
      <p:sp>
        <p:nvSpPr>
          <p:cNvPr id="5" name="Shape 3"/>
          <p:cNvSpPr/>
          <p:nvPr/>
        </p:nvSpPr>
        <p:spPr>
          <a:xfrm>
            <a:off x="548640" y="1828800"/>
            <a:ext cx="2511582" cy="2606040"/>
          </a:xfrm>
          <a:prstGeom prst="rect">
            <a:avLst/>
          </a:prstGeom>
          <a:solidFill>
            <a:srgbClr val="E8EEFC"/>
          </a:solidFill>
          <a:ln/>
        </p:spPr>
      </p:sp>
      <p:sp>
        <p:nvSpPr>
          <p:cNvPr id="6" name="Shape 4"/>
          <p:cNvSpPr/>
          <p:nvPr/>
        </p:nvSpPr>
        <p:spPr>
          <a:xfrm>
            <a:off x="548640" y="1828800"/>
            <a:ext cx="2511582" cy="54864"/>
          </a:xfrm>
          <a:prstGeom prst="rect">
            <a:avLst/>
          </a:prstGeom>
          <a:solidFill>
            <a:srgbClr val="2F5FDE"/>
          </a:solidFill>
          <a:ln/>
        </p:spPr>
      </p:sp>
      <p:sp>
        <p:nvSpPr>
          <p:cNvPr id="7" name="Text 5"/>
          <p:cNvSpPr/>
          <p:nvPr/>
        </p:nvSpPr>
        <p:spPr>
          <a:xfrm>
            <a:off x="749808" y="2029968"/>
            <a:ext cx="2109246" cy="274320"/>
          </a:xfrm>
          <a:prstGeom prst="rect">
            <a:avLst/>
          </a:prstGeom>
          <a:noFill/>
          <a:ln/>
        </p:spPr>
        <p:txBody>
          <a:bodyPr wrap="square" lIns="0" tIns="0" rIns="0" bIns="0" rtlCol="0" anchor="ctr"/>
          <a:lstStyle/>
          <a:p>
            <a:pPr indent="0" marL="0">
              <a:buNone/>
            </a:pPr>
            <a:r>
              <a:rPr lang="en-US" sz="1150" b="1" spc="100" kern="0" dirty="0">
                <a:solidFill>
                  <a:srgbClr val="2F5FDE"/>
                </a:solidFill>
                <a:latin typeface="Calibri" pitchFamily="34" charset="0"/>
                <a:ea typeface="Calibri" pitchFamily="34" charset="-122"/>
                <a:cs typeface="Calibri" pitchFamily="34" charset="-120"/>
              </a:rPr>
              <a:t>TOKEN USAGE</a:t>
            </a:r>
            <a:endParaRPr lang="en-US" sz="1150" dirty="0"/>
          </a:p>
        </p:txBody>
      </p:sp>
      <p:sp>
        <p:nvSpPr>
          <p:cNvPr id="8" name="Text 6"/>
          <p:cNvSpPr/>
          <p:nvPr/>
        </p:nvSpPr>
        <p:spPr>
          <a:xfrm>
            <a:off x="749808" y="23957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Summarize old context instead of resending full history each pass.</a:t>
            </a:r>
            <a:endParaRPr lang="en-US" sz="1050" dirty="0"/>
          </a:p>
        </p:txBody>
      </p:sp>
      <p:sp>
        <p:nvSpPr>
          <p:cNvPr id="9" name="Text 7"/>
          <p:cNvSpPr/>
          <p:nvPr/>
        </p:nvSpPr>
        <p:spPr>
          <a:xfrm>
            <a:off x="749808" y="30815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Trim tool outputs to what the next step needs, not the raw dump.</a:t>
            </a:r>
            <a:endParaRPr lang="en-US" sz="1050" dirty="0"/>
          </a:p>
        </p:txBody>
      </p:sp>
      <p:sp>
        <p:nvSpPr>
          <p:cNvPr id="10" name="Text 8"/>
          <p:cNvSpPr/>
          <p:nvPr/>
        </p:nvSpPr>
        <p:spPr>
          <a:xfrm>
            <a:off x="749808" y="37673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Cache stable context (system prompt, schemas) instead of rebuilding it.</a:t>
            </a:r>
            <a:endParaRPr lang="en-US" sz="1050" dirty="0"/>
          </a:p>
        </p:txBody>
      </p:sp>
      <p:sp>
        <p:nvSpPr>
          <p:cNvPr id="11" name="Shape 9"/>
          <p:cNvSpPr/>
          <p:nvPr/>
        </p:nvSpPr>
        <p:spPr>
          <a:xfrm>
            <a:off x="3316254" y="1828800"/>
            <a:ext cx="2511582" cy="2606040"/>
          </a:xfrm>
          <a:prstGeom prst="rect">
            <a:avLst/>
          </a:prstGeom>
          <a:solidFill>
            <a:srgbClr val="E3F3E8"/>
          </a:solidFill>
          <a:ln/>
        </p:spPr>
      </p:sp>
      <p:sp>
        <p:nvSpPr>
          <p:cNvPr id="12" name="Shape 10"/>
          <p:cNvSpPr/>
          <p:nvPr/>
        </p:nvSpPr>
        <p:spPr>
          <a:xfrm>
            <a:off x="3316254" y="1828800"/>
            <a:ext cx="2511582" cy="54864"/>
          </a:xfrm>
          <a:prstGeom prst="rect">
            <a:avLst/>
          </a:prstGeom>
          <a:solidFill>
            <a:srgbClr val="2F9E5B"/>
          </a:solidFill>
          <a:ln/>
        </p:spPr>
      </p:sp>
      <p:sp>
        <p:nvSpPr>
          <p:cNvPr id="13" name="Text 11"/>
          <p:cNvSpPr/>
          <p:nvPr/>
        </p:nvSpPr>
        <p:spPr>
          <a:xfrm>
            <a:off x="3517422" y="2029968"/>
            <a:ext cx="2109246" cy="274320"/>
          </a:xfrm>
          <a:prstGeom prst="rect">
            <a:avLst/>
          </a:prstGeom>
          <a:noFill/>
          <a:ln/>
        </p:spPr>
        <p:txBody>
          <a:bodyPr wrap="square" lIns="0" tIns="0" rIns="0" bIns="0" rtlCol="0" anchor="ctr"/>
          <a:lstStyle/>
          <a:p>
            <a:pPr indent="0" marL="0">
              <a:buNone/>
            </a:pPr>
            <a:r>
              <a:rPr lang="en-US" sz="1150" b="1" spc="100" kern="0" dirty="0">
                <a:solidFill>
                  <a:srgbClr val="2F9E5B"/>
                </a:solidFill>
                <a:latin typeface="Calibri" pitchFamily="34" charset="0"/>
                <a:ea typeface="Calibri" pitchFamily="34" charset="-122"/>
                <a:cs typeface="Calibri" pitchFamily="34" charset="-120"/>
              </a:rPr>
              <a:t>MEMORY</a:t>
            </a:r>
            <a:endParaRPr lang="en-US" sz="1150" dirty="0"/>
          </a:p>
        </p:txBody>
      </p:sp>
      <p:sp>
        <p:nvSpPr>
          <p:cNvPr id="14" name="Text 12"/>
          <p:cNvSpPr/>
          <p:nvPr/>
        </p:nvSpPr>
        <p:spPr>
          <a:xfrm>
            <a:off x="3517422" y="23957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Write a short-term scratchpad, not a growing transcript.</a:t>
            </a:r>
            <a:endParaRPr lang="en-US" sz="1050" dirty="0"/>
          </a:p>
        </p:txBody>
      </p:sp>
      <p:sp>
        <p:nvSpPr>
          <p:cNvPr id="15" name="Text 13"/>
          <p:cNvSpPr/>
          <p:nvPr/>
        </p:nvSpPr>
        <p:spPr>
          <a:xfrm>
            <a:off x="3517422" y="30815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Promote only durable facts to long-term memory — not every intermediate step.</a:t>
            </a:r>
            <a:endParaRPr lang="en-US" sz="1050" dirty="0"/>
          </a:p>
        </p:txBody>
      </p:sp>
      <p:sp>
        <p:nvSpPr>
          <p:cNvPr id="16" name="Text 14"/>
          <p:cNvSpPr/>
          <p:nvPr/>
        </p:nvSpPr>
        <p:spPr>
          <a:xfrm>
            <a:off x="3517422" y="37673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Give each loop its own namespace so memories don’t bleed across runs.</a:t>
            </a:r>
            <a:endParaRPr lang="en-US" sz="1050" dirty="0"/>
          </a:p>
        </p:txBody>
      </p:sp>
      <p:sp>
        <p:nvSpPr>
          <p:cNvPr id="17" name="Shape 15"/>
          <p:cNvSpPr/>
          <p:nvPr/>
        </p:nvSpPr>
        <p:spPr>
          <a:xfrm>
            <a:off x="6083869" y="1828800"/>
            <a:ext cx="2511582" cy="2606040"/>
          </a:xfrm>
          <a:prstGeom prst="rect">
            <a:avLst/>
          </a:prstGeom>
          <a:solidFill>
            <a:srgbClr val="FBF0DD"/>
          </a:solidFill>
          <a:ln/>
        </p:spPr>
      </p:sp>
      <p:sp>
        <p:nvSpPr>
          <p:cNvPr id="18" name="Shape 16"/>
          <p:cNvSpPr/>
          <p:nvPr/>
        </p:nvSpPr>
        <p:spPr>
          <a:xfrm>
            <a:off x="6083869" y="1828800"/>
            <a:ext cx="2511582" cy="54864"/>
          </a:xfrm>
          <a:prstGeom prst="rect">
            <a:avLst/>
          </a:prstGeom>
          <a:solidFill>
            <a:srgbClr val="C98A1B"/>
          </a:solidFill>
          <a:ln/>
        </p:spPr>
      </p:sp>
      <p:sp>
        <p:nvSpPr>
          <p:cNvPr id="19" name="Text 17"/>
          <p:cNvSpPr/>
          <p:nvPr/>
        </p:nvSpPr>
        <p:spPr>
          <a:xfrm>
            <a:off x="6285037" y="2029968"/>
            <a:ext cx="2109246" cy="274320"/>
          </a:xfrm>
          <a:prstGeom prst="rect">
            <a:avLst/>
          </a:prstGeom>
          <a:noFill/>
          <a:ln/>
        </p:spPr>
        <p:txBody>
          <a:bodyPr wrap="square" lIns="0" tIns="0" rIns="0" bIns="0" rtlCol="0" anchor="ctr"/>
          <a:lstStyle/>
          <a:p>
            <a:pPr indent="0" marL="0">
              <a:buNone/>
            </a:pPr>
            <a:r>
              <a:rPr lang="en-US" sz="1150" b="1" spc="100" kern="0" dirty="0">
                <a:solidFill>
                  <a:srgbClr val="C98A1B"/>
                </a:solidFill>
                <a:latin typeface="Calibri" pitchFamily="34" charset="0"/>
                <a:ea typeface="Calibri" pitchFamily="34" charset="-122"/>
                <a:cs typeface="Calibri" pitchFamily="34" charset="-120"/>
              </a:rPr>
              <a:t>AGENT HANDOFF</a:t>
            </a:r>
            <a:endParaRPr lang="en-US" sz="1150" dirty="0"/>
          </a:p>
        </p:txBody>
      </p:sp>
      <p:sp>
        <p:nvSpPr>
          <p:cNvPr id="20" name="Text 18"/>
          <p:cNvSpPr/>
          <p:nvPr/>
        </p:nvSpPr>
        <p:spPr>
          <a:xfrm>
            <a:off x="6285037" y="23957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Pass a structured result (goal, output, status) — not a raw chat log.</a:t>
            </a:r>
            <a:endParaRPr lang="en-US" sz="1050" dirty="0"/>
          </a:p>
        </p:txBody>
      </p:sp>
      <p:sp>
        <p:nvSpPr>
          <p:cNvPr id="21" name="Text 19"/>
          <p:cNvSpPr/>
          <p:nvPr/>
        </p:nvSpPr>
        <p:spPr>
          <a:xfrm>
            <a:off x="6285037" y="30815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Name the stop condition explicitly so the next agent knows what “done” means.</a:t>
            </a:r>
            <a:endParaRPr lang="en-US" sz="1050" dirty="0"/>
          </a:p>
        </p:txBody>
      </p:sp>
      <p:sp>
        <p:nvSpPr>
          <p:cNvPr id="22" name="Text 20"/>
          <p:cNvSpPr/>
          <p:nvPr/>
        </p:nvSpPr>
        <p:spPr>
          <a:xfrm>
            <a:off x="6285037" y="3767328"/>
            <a:ext cx="2109246" cy="658368"/>
          </a:xfrm>
          <a:prstGeom prst="rect">
            <a:avLst/>
          </a:prstGeom>
          <a:noFill/>
          <a:ln/>
        </p:spPr>
        <p:txBody>
          <a:bodyPr wrap="square" lIns="0" tIns="0" rIns="0" bIns="0" rtlCol="0" anchor="ctr"/>
          <a:lstStyle/>
          <a:p>
            <a:pPr marL="152400" indent="-152400">
              <a:lnSpc>
                <a:spcPct val="122000"/>
              </a:lnSpc>
              <a:buSzPct val="100000"/>
              <a:buChar char="•"/>
            </a:pPr>
            <a:r>
              <a:rPr lang="en-US" sz="1050" dirty="0">
                <a:solidFill>
                  <a:srgbClr val="1A1D26"/>
                </a:solidFill>
                <a:latin typeface="Calibri" pitchFamily="34" charset="0"/>
                <a:ea typeface="Calibri" pitchFamily="34" charset="-122"/>
                <a:cs typeface="Calibri" pitchFamily="34" charset="-120"/>
              </a:rPr>
              <a:t>Log every handoff so a stuck chain is easy to trace and resume.</a:t>
            </a:r>
            <a:endParaRPr lang="en-US" sz="1050" dirty="0"/>
          </a:p>
        </p:txBody>
      </p:sp>
      <p:sp>
        <p:nvSpPr>
          <p:cNvPr id="23" name="Text 21"/>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A6ABBD"/>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57"/>
        </a:solidFill>
      </p:bgPr>
    </p:bg>
    <p:spTree>
      <p:nvGrpSpPr>
        <p:cNvPr id="1" name=""/>
        <p:cNvGrpSpPr/>
        <p:nvPr/>
      </p:nvGrpSpPr>
      <p:grpSpPr>
        <a:xfrm>
          <a:off x="0" y="0"/>
          <a:ext cx="0" cy="0"/>
          <a:chOff x="0" y="0"/>
          <a:chExt cx="0" cy="0"/>
        </a:xfrm>
      </p:grpSpPr>
      <p:sp>
        <p:nvSpPr>
          <p:cNvPr id="2" name="Text 0"/>
          <p:cNvSpPr/>
          <p:nvPr/>
        </p:nvSpPr>
        <p:spPr>
          <a:xfrm>
            <a:off x="548640" y="1371600"/>
            <a:ext cx="7863840" cy="320040"/>
          </a:xfrm>
          <a:prstGeom prst="rect">
            <a:avLst/>
          </a:prstGeom>
          <a:noFill/>
          <a:ln/>
        </p:spPr>
        <p:txBody>
          <a:bodyPr wrap="square" lIns="0" tIns="0" rIns="0" bIns="0" rtlCol="0" anchor="ctr"/>
          <a:lstStyle/>
          <a:p>
            <a:pPr indent="0" marL="0">
              <a:buNone/>
            </a:pPr>
            <a:r>
              <a:rPr lang="en-US" sz="1300" b="1" spc="300" kern="0" dirty="0">
                <a:solidFill>
                  <a:srgbClr val="8FA8F0"/>
                </a:solidFill>
                <a:latin typeface="Calibri" pitchFamily="34" charset="0"/>
                <a:ea typeface="Calibri" pitchFamily="34" charset="-122"/>
                <a:cs typeface="Calibri" pitchFamily="34" charset="-120"/>
              </a:rPr>
              <a:t>THE TAKEAWAY</a:t>
            </a:r>
            <a:endParaRPr lang="en-US" sz="1300" dirty="0"/>
          </a:p>
        </p:txBody>
      </p:sp>
      <p:sp>
        <p:nvSpPr>
          <p:cNvPr id="3" name="Text 1"/>
          <p:cNvSpPr/>
          <p:nvPr/>
        </p:nvSpPr>
        <p:spPr>
          <a:xfrm>
            <a:off x="548640" y="1737360"/>
            <a:ext cx="8046720" cy="1371600"/>
          </a:xfrm>
          <a:prstGeom prst="rect">
            <a:avLst/>
          </a:prstGeom>
          <a:noFill/>
          <a:ln/>
        </p:spPr>
        <p:txBody>
          <a:bodyPr wrap="square" lIns="0" tIns="0" rIns="0" bIns="0" rtlCol="0" anchor="ctr"/>
          <a:lstStyle/>
          <a:p>
            <a:pPr indent="0" marL="0">
              <a:lnSpc>
                <a:spcPct val="112000"/>
              </a:lnSpc>
              <a:buNone/>
            </a:pPr>
            <a:r>
              <a:rPr lang="en-US" sz="3000" b="1" dirty="0">
                <a:solidFill>
                  <a:srgbClr val="FFFFFF"/>
                </a:solidFill>
                <a:latin typeface="Calibri" pitchFamily="34" charset="0"/>
                <a:ea typeface="Calibri" pitchFamily="34" charset="-122"/>
                <a:cs typeface="Calibri" pitchFamily="34" charset="-120"/>
              </a:rPr>
              <a:t>Adopt loops selectively —</a:t>
            </a:r>
            <a:endParaRPr lang="en-US" sz="3000" dirty="0"/>
          </a:p>
          <a:p>
            <a:pPr indent="0" marL="0">
              <a:lnSpc>
                <a:spcPct val="112000"/>
              </a:lnSpc>
              <a:buNone/>
            </a:pPr>
            <a:r>
              <a:rPr lang="en-US" sz="3000" b="1" dirty="0">
                <a:solidFill>
                  <a:srgbClr val="FFFFFF"/>
                </a:solidFill>
                <a:latin typeface="Calibri" pitchFamily="34" charset="0"/>
                <a:ea typeface="Calibri" pitchFamily="34" charset="-122"/>
                <a:cs typeface="Calibri" pitchFamily="34" charset="-120"/>
              </a:rPr>
              <a:t>not because someone else runs five.</a:t>
            </a:r>
            <a:endParaRPr lang="en-US" sz="3000" dirty="0"/>
          </a:p>
        </p:txBody>
      </p:sp>
      <p:sp>
        <p:nvSpPr>
          <p:cNvPr id="4" name="Text 2"/>
          <p:cNvSpPr/>
          <p:nvPr/>
        </p:nvSpPr>
        <p:spPr>
          <a:xfrm>
            <a:off x="548640" y="3200400"/>
            <a:ext cx="7498080" cy="777240"/>
          </a:xfrm>
          <a:prstGeom prst="rect">
            <a:avLst/>
          </a:prstGeom>
          <a:noFill/>
          <a:ln/>
        </p:spPr>
        <p:txBody>
          <a:bodyPr wrap="square" lIns="0" tIns="0" rIns="0" bIns="0" rtlCol="0" anchor="ctr"/>
          <a:lstStyle/>
          <a:p>
            <a:pPr indent="0" marL="0">
              <a:lnSpc>
                <a:spcPct val="135000"/>
              </a:lnSpc>
              <a:buNone/>
            </a:pPr>
            <a:r>
              <a:rPr lang="en-US" sz="1400" dirty="0">
                <a:solidFill>
                  <a:srgbClr val="C7D1F0"/>
                </a:solidFill>
                <a:latin typeface="Calibri Light" pitchFamily="34" charset="0"/>
                <a:ea typeface="Calibri Light" pitchFamily="34" charset="-122"/>
                <a:cs typeface="Calibri Light" pitchFamily="34" charset="-120"/>
              </a:rPr>
              <a:t>The engineers running fleets of agents 24/7 are usually solving a different problem than you are. Most work benefits more from one well-verified loop than from five unverified ones — match the shape to the task, not the hype.</a:t>
            </a:r>
            <a:endParaRPr lang="en-US" sz="1400" dirty="0"/>
          </a:p>
        </p:txBody>
      </p:sp>
      <p:sp>
        <p:nvSpPr>
          <p:cNvPr id="5" name="Text 3"/>
          <p:cNvSpPr/>
          <p:nvPr/>
        </p:nvSpPr>
        <p:spPr>
          <a:xfrm>
            <a:off x="8549640" y="4828032"/>
            <a:ext cx="365760" cy="256032"/>
          </a:xfrm>
          <a:prstGeom prst="rect">
            <a:avLst/>
          </a:prstGeom>
          <a:noFill/>
          <a:ln/>
        </p:spPr>
        <p:txBody>
          <a:bodyPr wrap="square" lIns="0" tIns="0" rIns="0" bIns="0" rtlCol="0" anchor="ctr"/>
          <a:lstStyle/>
          <a:p>
            <a:pPr algn="r" indent="0" marL="0">
              <a:buNone/>
            </a:pPr>
            <a:r>
              <a:rPr lang="en-US" sz="1000" dirty="0">
                <a:solidFill>
                  <a:srgbClr val="8590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2026-07-14T16:07:15Z</dcterms:created>
  <dcterms:modified xsi:type="dcterms:W3CDTF">2026-07-14T16:07:15Z</dcterms:modified>
</cp:coreProperties>
</file>